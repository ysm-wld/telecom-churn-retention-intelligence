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Churn Rate (%)</c:v>
                </c:pt>
              </c:strCache>
            </c:strRef>
          </c:tx>
          <c:spPr>
            <a:solidFill>
              <a:srgbClr val="1C7293"/>
            </a:solidFill>
            <a:effectLst/>
          </c:spPr>
          <c:invertIfNegative val="0"/>
          <c:dLbls>
            <c:numFmt formatCode="#,##0" sourceLinked="0"/>
            <c:txPr>
              <a:bodyPr/>
              <a:lstStyle/>
              <a:p>
                <a:pPr>
                  <a:defRPr b="1" i="0" strike="noStrike" sz="1100" u="none">
                    <a:solidFill>
                      <a:srgbClr val="FFFFFF"/>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1C7293"/>
              </a:solidFill>
              <a:effectLst/>
            </c:spPr>
          </c:dPt>
          <c:dPt>
            <c:idx val="2"/>
            <c:invertIfNegative val="0"/>
            <c:bubble3D val="0"/>
            <c:spPr>
              <a:solidFill>
                <a:srgbClr val="E84444"/>
              </a:solidFill>
              <a:effectLst/>
            </c:spPr>
          </c:dPt>
          <c:dPt>
            <c:idx val="3"/>
            <c:invertIfNegative val="0"/>
            <c:bubble3D val="0"/>
            <c:spPr>
              <a:solidFill>
                <a:srgbClr val="C0392B"/>
              </a:solidFill>
              <a:effectLst/>
            </c:spPr>
          </c:dPt>
          <c:cat>
            <c:multiLvlStrRef>
              <c:f>Sheet1!$A$2:$A$5</c:f>
              <c:multiLvlStrCache>
                <c:ptCount val="4"/>
                <c:lvl>
                  <c:pt idx="0">
                    <c:v>&lt;180 Days</c:v>
                  </c:pt>
                  <c:pt idx="1">
                    <c:v>180–365 Days</c:v>
                  </c:pt>
                  <c:pt idx="2">
                    <c:v>365–730 Days</c:v>
                  </c:pt>
                  <c:pt idx="3">
                    <c:v>730+ Days</c:v>
                  </c:pt>
                </c:lvl>
              </c:multiLvlStrCache>
            </c:multiLvlStrRef>
          </c:cat>
          <c:val>
            <c:numRef>
              <c:f>Sheet1!$B$2:$B$5</c:f>
              <c:numCache>
                <c:formatCode>General</c:formatCode>
                <c:ptCount val="4"/>
                <c:pt idx="0">
                  <c:v>8.2</c:v>
                </c:pt>
                <c:pt idx="1">
                  <c:v>14.6</c:v>
                </c:pt>
                <c:pt idx="2">
                  <c:v>28.9</c:v>
                </c:pt>
                <c:pt idx="3">
                  <c:v>41.3</c:v>
                </c:pt>
              </c:numCache>
            </c:numRef>
          </c:val>
        </c:ser>
        <c:dLbls>
          <c:numFmt formatCode="#,##0" sourceLinked="0"/>
          <c:txPr>
            <a:bodyPr/>
            <a:lstStyle/>
            <a:p>
              <a:pPr>
                <a:defRPr b="1" i="0" strike="noStrike" sz="11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Relative Importance (%)</c:v>
                </c:pt>
              </c:strCache>
            </c:strRef>
          </c:tx>
          <c:spPr>
            <a:solidFill>
              <a:srgbClr val="065A82"/>
            </a:solidFill>
            <a:effectLst/>
          </c:spPr>
          <c:invertIfNegative val="0"/>
          <c:dLbls>
            <c:numFmt formatCode="#,##0" sourceLinked="0"/>
            <c:txPr>
              <a:bodyPr/>
              <a:lstStyle/>
              <a:p>
                <a:pPr>
                  <a:defRPr b="0" i="0" strike="noStrike" sz="900" u="none">
                    <a:solidFill>
                      <a:srgbClr val="FFFFFF"/>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065A82"/>
              </a:solidFill>
              <a:effectLst/>
            </c:spPr>
          </c:dPt>
          <c:dPt>
            <c:idx val="1"/>
            <c:invertIfNegative val="0"/>
            <c:bubble3D val="0"/>
            <c:spPr>
              <a:solidFill>
                <a:srgbClr val="0891B2"/>
              </a:solidFill>
              <a:effectLst/>
            </c:spPr>
          </c:dPt>
          <c:dPt>
            <c:idx val="2"/>
            <c:invertIfNegative val="0"/>
            <c:bubble3D val="0"/>
            <c:spPr>
              <a:solidFill>
                <a:srgbClr val="0891B2"/>
              </a:solidFill>
              <a:effectLst/>
            </c:spPr>
          </c:dPt>
          <c:dPt>
            <c:idx val="3"/>
            <c:invertIfNegative val="0"/>
            <c:bubble3D val="0"/>
            <c:spPr>
              <a:solidFill>
                <a:srgbClr val="1C7293"/>
              </a:solidFill>
              <a:effectLst/>
            </c:spPr>
          </c:dPt>
          <c:dPt>
            <c:idx val="4"/>
            <c:invertIfNegative val="0"/>
            <c:bubble3D val="0"/>
            <c:spPr>
              <a:solidFill>
                <a:srgbClr val="22A7C1"/>
              </a:solidFill>
              <a:effectLst/>
            </c:spPr>
          </c:dPt>
          <c:dPt>
            <c:idx val="5"/>
            <c:invertIfNegative val="0"/>
            <c:bubble3D val="0"/>
            <c:spPr>
              <a:solidFill>
                <a:srgbClr val="22A7C1"/>
              </a:solidFill>
              <a:effectLst/>
            </c:spPr>
          </c:dPt>
          <c:dPt>
            <c:idx val="6"/>
            <c:invertIfNegative val="0"/>
            <c:bubble3D val="0"/>
            <c:spPr>
              <a:solidFill>
                <a:srgbClr val="68C9E0"/>
              </a:solidFill>
              <a:effectLst/>
            </c:spPr>
          </c:dPt>
          <c:dPt>
            <c:idx val="7"/>
            <c:invertIfNegative val="0"/>
            <c:bubble3D val="0"/>
            <c:spPr>
              <a:solidFill>
                <a:srgbClr val="68C9E0"/>
              </a:solidFill>
              <a:effectLst/>
            </c:spPr>
          </c:dPt>
          <c:dPt>
            <c:idx val="8"/>
            <c:invertIfNegative val="0"/>
            <c:bubble3D val="0"/>
            <c:spPr>
              <a:solidFill>
                <a:srgbClr val="B8E3F0"/>
              </a:solidFill>
              <a:effectLst/>
            </c:spPr>
          </c:dPt>
          <c:dPt>
            <c:idx val="9"/>
            <c:invertIfNegative val="0"/>
            <c:bubble3D val="0"/>
            <c:spPr>
              <a:solidFill>
                <a:srgbClr val="B8E3F0"/>
              </a:solidFill>
              <a:effectLst/>
            </c:spPr>
          </c:dPt>
          <c:cat>
            <c:multiLvlStrRef>
              <c:f>Sheet1!$A$2:$A$11</c:f>
              <c:multiLvlStrCache>
                <c:ptCount val="10"/>
                <c:lvl>
                  <c:pt idx="0">
                    <c:v>Equipment Age (eqpdays)</c:v>
                  </c:pt>
                  <c:pt idx="1">
                    <c:v>Cust. Care Intensity</c:v>
                  </c:pt>
                  <c:pt idx="2">
                    <c:v>CLV Proxy (Rev×Tenure)</c:v>
                  </c:pt>
                  <c:pt idx="3">
                    <c:v>Device Age Band</c:v>
                  </c:pt>
                  <c:pt idx="4">
                    <c:v>Rev per Minute of Use</c:v>
                  </c:pt>
                  <c:pt idx="5">
                    <c:v>Total Monthly Revenue</c:v>
                  </c:pt>
                  <c:pt idx="6">
                    <c:v>Overage Intensity</c:v>
                  </c:pt>
                  <c:pt idx="7">
                    <c:v>Months of Tenure</c:v>
                  </c:pt>
                  <c:pt idx="8">
                    <c:v>Credit Class</c:v>
                  </c:pt>
                  <c:pt idx="9">
                    <c:v>Multi-Line Flag</c:v>
                  </c:pt>
                </c:lvl>
              </c:multiLvlStrCache>
            </c:multiLvlStrRef>
          </c:cat>
          <c:val>
            <c:numRef>
              <c:f>Sheet1!$B$2:$B$11</c:f>
              <c:numCache>
                <c:formatCode>General</c:formatCode>
                <c:ptCount val="10"/>
                <c:pt idx="0">
                  <c:v>26.4</c:v>
                </c:pt>
                <c:pt idx="1">
                  <c:v>18.7</c:v>
                </c:pt>
                <c:pt idx="2">
                  <c:v>14.2</c:v>
                </c:pt>
                <c:pt idx="3">
                  <c:v>11.5</c:v>
                </c:pt>
                <c:pt idx="4">
                  <c:v>8.3</c:v>
                </c:pt>
                <c:pt idx="5">
                  <c:v>6.1</c:v>
                </c:pt>
                <c:pt idx="6">
                  <c:v>5.2</c:v>
                </c:pt>
                <c:pt idx="7">
                  <c:v>4.8</c:v>
                </c:pt>
                <c:pt idx="8">
                  <c:v>3.4</c:v>
                </c:pt>
                <c:pt idx="9">
                  <c:v>1.4</c:v>
                </c:pt>
              </c:numCache>
            </c:numRef>
          </c:val>
        </c:ser>
        <c:dLbls>
          <c:numFmt formatCode="#,##0" sourceLinked="0"/>
          <c:txPr>
            <a:bodyPr/>
            <a:lstStyle/>
            <a:p>
              <a:pPr>
                <a:defRPr b="0" i="0" strike="noStrike" sz="9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Opening: 'Good [morning/afternoon]. What I am about to show you is not a technology presentation. It is a financial recovery plan wrapped in a machine learning system. Company A currently loses revenue it cannot see leaving — not to competitor pricing, but to competitor devices. Today we present a system that identifies those customers before they walk out, and gives us a 30-second window to keep them. Let me show you how.'
Pause after 'financial recovery plan' — let it land. Keep energy high but measured. This deck runs 25–30 minutes. Questions at end or held per host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EXECUTIVE SUMMARY
This slide is your leave-behind in a single frame. Walk through each column left-to-right.
PROBLEM: 'We are losing customers not because of price, but because their phones are old and we aren't offering them a reason to stay.'
ENGINE: 'We tested five machine learning algorithms. Our final system catches 9 out of every 10 customers who would have churned.'
ACTION: 'Project Horizon is the operational deployment — an automated trigger at day 350 of device age.'
RETURN: 'The financial case is clear — for every dollar spent on the campaign, we return $2.57.'
Anticipated question: 'How confident are you in the ROI figure?' — Answer: 'This is the conservative base case. The numbers are built bottom-up from individual customer revenue data, not industry averages.'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MARKET CONTEXT
Set the macro stage before presenting the internal problem.
'The telecom market in 2026 is a zero-sum game. Every customer we lose walks directly to a competitor. Acquiring them back costs $350 to $500 — and that assumes they come back at all.
The arbitrage opportunity is stark: a $200 device subsidy attached to an 18-month contract renewal generates $1,170 in secured future revenue. That is a 485% return on the subsidy alone — before we account for cross-sell, upsell, and the avoided CAC of replacing that subscriber.
The strategic imperative isn't about being nice to customers. It is about defending the most capital-efficient growth lever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CORE PROBLEM
This is the 'burning platform' slide. Make the executives feel the urgency.
'There are four things happening simultaneously in our subscriber base right now:
1. Devices are ageing past the point where customers can tell the difference between a bad phone and a bad network.
2. Usage is declining — but we aren't acting on it.
3. Our most valuable customers — the top 20% — are the most likely to jump because they can afford a competitor's promotional device deal.
4. By the time they call us to cancel, we have already lost them psychologically.
The four numbers on the right are the financial consequence of doing nothing. $500 to acquire, $1,170 to retain with a targeted upgrade, and our model catches 91% of the at-risk customers. The question isn't whether to act — it's how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THE HIDDEN DRIVER (HERO CHART)
This is the most important chart in the deck. Spend time here.
'Let me show you something that fundamentally changes how we think about churn.
On the left are four groups of customers, segmented by how old their handset is.
Customers with a phone less than six months old? They churn at 8%. Normal attrition.
Customers with a phone older than two years? They churn at 41%. That is 1 in 2 customers.
But here is what makes this actionable: the inflection point is at the 365-day mark. That is the cliff edge. And our model can identify every customer approaching that cliff — 14 days before they reach it.
Day 350 is not a marketing date. It is a strategic retention window that we currently leave unopened.'
If anyone asks about statistical significance: 'Yes, we validated this with a Kolmogorov-Smirnov test. The distribution of device age between churners and non-churners is statistically distinct at p &lt; 0.001.'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DATA ARCHITECTURE
'Before we talk about the model, let me briefly show you the data foundation it stands on.
We combined two data sources — account records and behavioural records — into a single view of 51,000 customers. One row. One customer. Every dimension of their relationship with us.
Critically, we removed the Customer ID field immediately after the merge. This prevents the model from learning ID patterns that wouldn't exist in new data — a common error called data leakage that makes models look good in testing but fail in production.
The four quality checkmarks at the bottom are the data science equivalent of an auditor signing off. Every result in this presentation flows from this reproducible, leakage-free foundation.'
Keep this slide brief — 90 seconds max. Technical foundation, not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FEATURE ENGINEERING
This slide shows executives that we did not just 'run the data through an algorithm.'
'Raw data tells you what happened. Engineered features tell you why.
Three categories of insight:
Device Lifecycle features capture when a customer is entering the danger zone.
Revenue Intelligence features tell us which at-risk customers are worth fighting for — and which ones are high-cost, low-value relationships.
Friction &amp; Experience features measure the accumulated pain a customer has experienced with us — which compounds the device obsolescence problem.
The most important single feature? Equipment days — device age in raw days. It outranks demographics, credit class, geography, and tenure in predictive power. A customer's relationship with their handset is more predictive of their future behaviour than almost anything else in our data.'
Spend 90 seconds here — enough to show rigour, not overwhelm.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ML APPROACH
'We ran a competition. Five machine learning algorithms were tested under identical conditions.
We started with Logistic Regression as a baseline — the simplest possible model — and worked up to an ensemble of three algorithms working together. The champion isn't a single algorithm: it is a blended system that combines 80% of the Optuna-optimised LightGBM, 15% of a base LightGBM, and 5% of CatBoost.
Why PR-AUC as the primary metric? In churn prediction, the minority class — churners — is what matters. PR-AUC measures specifically how well we identify actual churners versus accidentally flagging loyal customers as risks. It is the right metric for this business problem.
The 50 Optuna trials represent automated machine learning — the system explored 50 different combinations of parameters to find the optimal configuration. This is not manual tuning — it is algorithmic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MODEL PERFORMANCE
This is the mandatory technical validation slide. Be confident, be brief.
'Four numbers tell this story:
PR-AUC of 0.685 — this is the headline metric. It measures how accurately we rank customers from highest to lowest churn risk.
Recall of 91.1% — we catch 9 in every 10 customers who will churn. That is the coverage metric for the campaign.
Precision of 55% — just over half the customers we target are genuine risks. This means 45% are false positives — people who would have stayed anyway. That sounds high, but remember: even those false positives receive a valuable upgrade offer, creating goodwill and extending tenure.
+0.41% improvement over the prior baseline — small in percentage terms, but meaningful in a mature model space where each fraction of a percent translates to hundreds of retained customers.'
If challenged on 55% precision: 'In healthcare, we accept a 90% false positive rate to catch every cancer. In retention, even a false positive gets a subsidised upgrade — which generates goodwill and locks in a renewal. The asymmetry favours generous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WHAT DRIVES CHURN
'This slide answers the question every executive should be asking: what actually causes our customers to leave?
The answer from our AI is clear:
Number one: device age. One feature. 26% of all predictive power in the model.
Number two: accumulated friction — customer care calls over time.
Number three: customer value — the model correctly identifies that our most profitable customers are also our most at-risk.
Notice what is NOT at the top: demographics, credit score, geography. These factors matter — but they are background noise compared to how old someone's phone is.
The strategic implication: we should build our retention programme around device lifecycle management, not around demographic profiling. A customer service improvement programme is secondary. A handset upgrade programme is primary.'
If asked about SHAP values: 'These are derived from LightGBM feature gain — the model's internal measure of how much each variable reduces prediction error. SHAP individual-level explainability is available for call centre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PROJECT HORIZON PROPOSAL
'Project Horizon is not a machine learning project. It is a revenue recovery programme. The AI is the engine under the hood — what marketing and operations see is a prioritised, personalised customer list with a recommended action.
The four-quadrant matrix on the right is the campaign targeting guide:
Top right — high-value, high-risk customers — receive an immediate proactive outbound call from a retention specialist with a premium upgrade offer. These are our most important customers.
Bottom right — moderate-value, high-risk — receive a self-serve digital offer via SMS or app push.
Critically: the model threshold of 0.341 means we are calibrated to flag broadly. The CLV overlay then filters the response intensity — ensuring we spend our premium intervention budget where it counts.
Project Horizon is operational with existing technology. It requires no new systems — just a data feed from the model to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INTERVENTION STRATEGY
'The beauty of this system is that once it is deployed, it runs itself.
Every night, the model scores every active subscriber. By 7am, the CRM has a fresh list of flagged customers sorted by priority.
Tier 1 customers — the high-CLV, high-risk segment — trigger an automatic outbound call task for a retention specialist. The agent receives the customer's name, their device age, their CLV score, and the pre-approved upgrade offer. The conversation is scripted. The outcome is measured.
Tier 2 customers receive a digital message — no agent cost, fully automated.
Critically, Step 6 is the flywheel: every acceptance or rejection is fed back to the model as new training data. The system gets smarter every month.
Implementation timeline: 6 weeks to production deployment. Existing CRM. No new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FINANCIAL IMPACT
This is typically where decision makers lean forward. Own it.
'These numbers are built bottom-up. Not from industry averages. From our customer data.
We used the model's predictions on our holdout test set — customers the model had never seen. We applied a $65 average monthly revenue, an 18-month contract renewal, a $200 device subsidy, a $15 outreach cost, and a 30% acceptance rate from industry benchmarks.
Our recommendation is the Base Case: 5,000 customers, $590,000 net benefit, 157% ROI.
To contextualise: the alternative to this campaign is to acquire 825 new subscribers at $350 to $500 each — that is $289,000 to $412,000 in CAC alone, plus a 2-3 month revenue gap. Project Horizon is not just better — it is significantly cheaper than the status quo.
Anticipated pushback: 'What if acceptance rate is lower?' — 'If acceptance drops to 20%, the base case still generates $300,000 in net benefit at a 80% 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RISKS &amp; MITIGATION
Proactively address risks before the board raises them — this builds credibility.
'Any serious investment carries risk. We have identified four and designed mitigations into the programme:
R1 — False positives: Even when we flag a loyal customer by mistake, they receive an upgrade offer. That deepens loyalty, not damages it. The subsidy is capped to Tier 1 customers only.
R2 — Cannibalization: We are only triggering offers for customers with 335+ days of device age. If a customer was going to upgrade at full price anyway, they would have done so by now.
R3 — Model drift: We monitor accuracy weekly. The model retrains monthly. If performance degrades below our threshold, we alert before damage occurs.
R4 — Execution: We phase the rollout. Manual first. Automated after validation. The fallback is a simple spreadsheet to the call centre.'
Key message: 'This is a low-risk, high-reward programme with built-in safeguards at every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15: CLOSE
Close with conviction and a clear ask.
'Let me close with three points:
First: the opportunity. We have identified a predictable, preventable revenue leak worth $590,000 in the base case — and significantly more in the aggressive scenario. Our model catches 91% of the customers who would leave.
Second: the programme. Project Horizon is not experimental. It is an automated, data-driven upgrade campaign that integrates with existing CRM infrastructure in 6 weeks.
Third: the ask. We are requesting approval to proceed to the manual pilot phase — 500 Tier 1 customers, outbound call programme, validation of the 30% acceptance rate assumption.
The window to retain today's highest-value customers opens at device day 335. Project Horizon ensures we are already there when it does.
Thank you. I am happy to take questions.'
ANTICIPATED QUESTIONS:
Q: 'Why 30% acceptance rate?' — 'This is an industry conservative benchmark. Our own data from prior campaigns may adjust this upward or downward.'
Q: 'What happens if it doesn't work?' — 'The pilot costs less than $30K in labour and offers. The downside is bounded. The upside is a $590K annual programme.'
Q: 'How do we know the model is right?' — 'We withheld 20% of the data from training. The 0.685 PR-AUC is measured on customers the model has never seen. It is a true out-of-sample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7132320" y="-1097280"/>
            <a:ext cx="3840480" cy="3840480"/>
          </a:xfrm>
          <a:prstGeom prst="ellipse">
            <a:avLst/>
          </a:prstGeom>
          <a:solidFill>
            <a:srgbClr val="0D5F82">
              <a:alpha val="45000"/>
            </a:srgbClr>
          </a:solidFill>
          <a:ln w="12700">
            <a:solidFill>
              <a:srgbClr val="0D5F82"/>
            </a:solidFill>
            <a:prstDash val="solid"/>
          </a:ln>
        </p:spPr>
      </p:sp>
      <p:sp>
        <p:nvSpPr>
          <p:cNvPr id="3" name="Shape 1"/>
          <p:cNvSpPr/>
          <p:nvPr/>
        </p:nvSpPr>
        <p:spPr>
          <a:xfrm>
            <a:off x="7863840" y="-457200"/>
            <a:ext cx="2286000" cy="2286000"/>
          </a:xfrm>
          <a:prstGeom prst="ellipse">
            <a:avLst/>
          </a:prstGeom>
          <a:solidFill>
            <a:srgbClr val="0891B2">
              <a:alpha val="35000"/>
            </a:srgbClr>
          </a:solidFill>
          <a:ln w="12700">
            <a:solidFill>
              <a:srgbClr val="0891B2"/>
            </a:solidFill>
            <a:prstDash val="solid"/>
          </a:ln>
        </p:spPr>
      </p:sp>
      <p:sp>
        <p:nvSpPr>
          <p:cNvPr id="4" name="Text 2"/>
          <p:cNvSpPr/>
          <p:nvPr/>
        </p:nvSpPr>
        <p:spPr>
          <a:xfrm>
            <a:off x="457200" y="256032"/>
            <a:ext cx="8229600" cy="256032"/>
          </a:xfrm>
          <a:prstGeom prst="rect">
            <a:avLst/>
          </a:prstGeom>
          <a:noFill/>
          <a:ln/>
        </p:spPr>
        <p:txBody>
          <a:bodyPr wrap="square" lIns="0" tIns="0" rIns="0" bIns="0" rtlCol="0" anchor="ctr"/>
          <a:lstStyle/>
          <a:p>
            <a:pPr algn="l" indent="0" marL="0">
              <a:buNone/>
            </a:pPr>
            <a:r>
              <a:rPr lang="en-US" sz="950" spc="250" kern="0" dirty="0">
                <a:solidFill>
                  <a:srgbClr val="22D3EE"/>
                </a:solidFill>
                <a:latin typeface="Calibri" pitchFamily="34" charset="0"/>
                <a:ea typeface="Calibri" pitchFamily="34" charset="-122"/>
                <a:cs typeface="Calibri" pitchFamily="34" charset="-120"/>
              </a:rPr>
              <a:t>COMPANY A  ·  CONFIDENTIAL  ·  GCI WORLD 2026</a:t>
            </a:r>
            <a:endParaRPr lang="en-US" sz="950" dirty="0"/>
          </a:p>
        </p:txBody>
      </p:sp>
      <p:sp>
        <p:nvSpPr>
          <p:cNvPr id="5" name="Text 3"/>
          <p:cNvSpPr/>
          <p:nvPr/>
        </p:nvSpPr>
        <p:spPr>
          <a:xfrm>
            <a:off x="457200" y="1005840"/>
            <a:ext cx="7772400" cy="178308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The Device Lifecycle</a:t>
            </a:r>
            <a:endParaRPr lang="en-US" sz="4400" dirty="0"/>
          </a:p>
          <a:p>
            <a:pPr algn="l" indent="0" marL="0">
              <a:buNone/>
            </a:pPr>
            <a:r>
              <a:rPr lang="en-US" sz="4400" b="1" dirty="0">
                <a:solidFill>
                  <a:srgbClr val="FFFFFF"/>
                </a:solidFill>
                <a:latin typeface="Cambria" pitchFamily="34" charset="0"/>
                <a:ea typeface="Cambria" pitchFamily="34" charset="-122"/>
                <a:cs typeface="Cambria" pitchFamily="34" charset="-120"/>
              </a:rPr>
              <a:t>Intelligence System</a:t>
            </a:r>
            <a:endParaRPr lang="en-US" sz="4400" dirty="0"/>
          </a:p>
        </p:txBody>
      </p:sp>
      <p:sp>
        <p:nvSpPr>
          <p:cNvPr id="6" name="Text 4"/>
          <p:cNvSpPr/>
          <p:nvPr/>
        </p:nvSpPr>
        <p:spPr>
          <a:xfrm>
            <a:off x="457200" y="2880360"/>
            <a:ext cx="7315200" cy="411480"/>
          </a:xfrm>
          <a:prstGeom prst="rect">
            <a:avLst/>
          </a:prstGeom>
          <a:noFill/>
          <a:ln/>
        </p:spPr>
        <p:txBody>
          <a:bodyPr wrap="square" lIns="0" tIns="0" rIns="0" bIns="0" rtlCol="0" anchor="ctr"/>
          <a:lstStyle/>
          <a:p>
            <a:pPr algn="l" indent="0" marL="0">
              <a:buNone/>
            </a:pPr>
            <a:r>
              <a:rPr lang="en-US" sz="1800" dirty="0">
                <a:solidFill>
                  <a:srgbClr val="22D3EE"/>
                </a:solidFill>
                <a:latin typeface="Calibri" pitchFamily="34" charset="0"/>
                <a:ea typeface="Calibri" pitchFamily="34" charset="-122"/>
                <a:cs typeface="Calibri" pitchFamily="34" charset="-120"/>
              </a:rPr>
              <a:t>Transforming Churn Risk into Contract Renewal</a:t>
            </a:r>
            <a:endParaRPr lang="en-US" sz="1800" dirty="0"/>
          </a:p>
        </p:txBody>
      </p:sp>
      <p:sp>
        <p:nvSpPr>
          <p:cNvPr id="7" name="Text 5"/>
          <p:cNvSpPr/>
          <p:nvPr/>
        </p:nvSpPr>
        <p:spPr>
          <a:xfrm>
            <a:off x="457200" y="4617720"/>
            <a:ext cx="822960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Project Horizon  ·  Phase 4B  ·  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0A2342"/>
                </a:solidFill>
                <a:latin typeface="Cambria" pitchFamily="34" charset="0"/>
                <a:ea typeface="Cambria" pitchFamily="34" charset="-122"/>
                <a:cs typeface="Cambria" pitchFamily="34" charset="-120"/>
              </a:rPr>
              <a:t>Executive Summary</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0891B2"/>
                </a:solidFill>
                <a:latin typeface="Calibri" pitchFamily="34" charset="0"/>
                <a:ea typeface="Calibri" pitchFamily="34" charset="-122"/>
                <a:cs typeface="Calibri" pitchFamily="34" charset="-120"/>
              </a:rPr>
              <a:t>The Problem · The Engine · The Return</a:t>
            </a:r>
            <a:endParaRPr lang="en-US" sz="1300" dirty="0"/>
          </a:p>
        </p:txBody>
      </p:sp>
      <p:sp>
        <p:nvSpPr>
          <p:cNvPr id="4" name="Shape 2"/>
          <p:cNvSpPr/>
          <p:nvPr/>
        </p:nvSpPr>
        <p:spPr>
          <a:xfrm>
            <a:off x="274320" y="1115568"/>
            <a:ext cx="2057400" cy="3566160"/>
          </a:xfrm>
          <a:prstGeom prst="roundRect">
            <a:avLst>
              <a:gd name="adj" fmla="val 4444"/>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274320" y="1115568"/>
            <a:ext cx="2057400" cy="658368"/>
          </a:xfrm>
          <a:prstGeom prst="roundRect">
            <a:avLst>
              <a:gd name="adj" fmla="val 13889"/>
            </a:avLst>
          </a:prstGeom>
          <a:solidFill>
            <a:srgbClr val="EF4444"/>
          </a:solidFill>
          <a:ln/>
        </p:spPr>
      </p:sp>
      <p:sp>
        <p:nvSpPr>
          <p:cNvPr id="6" name="Shape 4"/>
          <p:cNvSpPr/>
          <p:nvPr/>
        </p:nvSpPr>
        <p:spPr>
          <a:xfrm>
            <a:off x="274320" y="1481328"/>
            <a:ext cx="2057400" cy="292608"/>
          </a:xfrm>
          <a:prstGeom prst="rect">
            <a:avLst/>
          </a:prstGeom>
          <a:solidFill>
            <a:srgbClr val="EF4444"/>
          </a:solidFill>
          <a:ln/>
        </p:spPr>
      </p:sp>
      <p:sp>
        <p:nvSpPr>
          <p:cNvPr id="7" name="Text 5"/>
          <p:cNvSpPr/>
          <p:nvPr/>
        </p:nvSpPr>
        <p:spPr>
          <a:xfrm>
            <a:off x="384048" y="1152144"/>
            <a:ext cx="1837944"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THE PROBLEM</a:t>
            </a:r>
            <a:endParaRPr lang="en-US" sz="1050" dirty="0"/>
          </a:p>
        </p:txBody>
      </p:sp>
      <p:sp>
        <p:nvSpPr>
          <p:cNvPr id="8" name="Text 6"/>
          <p:cNvSpPr/>
          <p:nvPr/>
        </p:nvSpPr>
        <p:spPr>
          <a:xfrm>
            <a:off x="384048" y="1901952"/>
            <a:ext cx="1837944" cy="2606040"/>
          </a:xfrm>
          <a:prstGeom prst="rect">
            <a:avLst/>
          </a:prstGeom>
          <a:noFill/>
          <a:ln/>
        </p:spPr>
        <p:txBody>
          <a:bodyPr wrap="square" lIns="0" tIns="0" rIns="0" bIns="0" rtlCol="0" anchor="t"/>
          <a:lstStyle/>
          <a:p>
            <a:pPr algn="l" indent="0" marL="0">
              <a:buNone/>
            </a:pPr>
            <a:r>
              <a:rPr lang="en-US" sz="1100" dirty="0">
                <a:solidFill>
                  <a:srgbClr val="334155"/>
                </a:solidFill>
                <a:latin typeface="Calibri" pitchFamily="34" charset="0"/>
                <a:ea typeface="Calibri" pitchFamily="34" charset="-122"/>
                <a:cs typeface="Calibri" pitchFamily="34" charset="-120"/>
              </a:rPr>
              <a:t>Customer attrition driven by device age is quietly eroding our highest-value subscribers — invisibly, predictably, and preventably.</a:t>
            </a:r>
            <a:endParaRPr lang="en-US" sz="1100" dirty="0"/>
          </a:p>
        </p:txBody>
      </p:sp>
      <p:sp>
        <p:nvSpPr>
          <p:cNvPr id="9" name="Shape 7"/>
          <p:cNvSpPr/>
          <p:nvPr/>
        </p:nvSpPr>
        <p:spPr>
          <a:xfrm>
            <a:off x="2487168" y="1115568"/>
            <a:ext cx="2057400" cy="3566160"/>
          </a:xfrm>
          <a:prstGeom prst="roundRect">
            <a:avLst>
              <a:gd name="adj" fmla="val 4444"/>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2487168" y="1115568"/>
            <a:ext cx="2057400" cy="658368"/>
          </a:xfrm>
          <a:prstGeom prst="roundRect">
            <a:avLst>
              <a:gd name="adj" fmla="val 13889"/>
            </a:avLst>
          </a:prstGeom>
          <a:solidFill>
            <a:srgbClr val="0891B2"/>
          </a:solidFill>
          <a:ln/>
        </p:spPr>
      </p:sp>
      <p:sp>
        <p:nvSpPr>
          <p:cNvPr id="11" name="Shape 9"/>
          <p:cNvSpPr/>
          <p:nvPr/>
        </p:nvSpPr>
        <p:spPr>
          <a:xfrm>
            <a:off x="2487168" y="1481328"/>
            <a:ext cx="2057400" cy="292608"/>
          </a:xfrm>
          <a:prstGeom prst="rect">
            <a:avLst/>
          </a:prstGeom>
          <a:solidFill>
            <a:srgbClr val="0891B2"/>
          </a:solidFill>
          <a:ln/>
        </p:spPr>
      </p:sp>
      <p:sp>
        <p:nvSpPr>
          <p:cNvPr id="12" name="Text 10"/>
          <p:cNvSpPr/>
          <p:nvPr/>
        </p:nvSpPr>
        <p:spPr>
          <a:xfrm>
            <a:off x="2596896" y="1152144"/>
            <a:ext cx="1837944"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THE ENGINE</a:t>
            </a:r>
            <a:endParaRPr lang="en-US" sz="1050" dirty="0"/>
          </a:p>
        </p:txBody>
      </p:sp>
      <p:sp>
        <p:nvSpPr>
          <p:cNvPr id="13" name="Text 11"/>
          <p:cNvSpPr/>
          <p:nvPr/>
        </p:nvSpPr>
        <p:spPr>
          <a:xfrm>
            <a:off x="2596896" y="1901952"/>
            <a:ext cx="1837944" cy="2606040"/>
          </a:xfrm>
          <a:prstGeom prst="rect">
            <a:avLst/>
          </a:prstGeom>
          <a:noFill/>
          <a:ln/>
        </p:spPr>
        <p:txBody>
          <a:bodyPr wrap="square" lIns="0" tIns="0" rIns="0" bIns="0" rtlCol="0" anchor="t"/>
          <a:lstStyle/>
          <a:p>
            <a:pPr algn="l" indent="0" marL="0">
              <a:buNone/>
            </a:pPr>
            <a:r>
              <a:rPr lang="en-US" sz="1100" dirty="0">
                <a:solidFill>
                  <a:srgbClr val="334155"/>
                </a:solidFill>
                <a:latin typeface="Calibri" pitchFamily="34" charset="0"/>
                <a:ea typeface="Calibri" pitchFamily="34" charset="-122"/>
                <a:cs typeface="Calibri" pitchFamily="34" charset="-120"/>
              </a:rPr>
              <a:t>A Validation-Weighted Ensemble (LightGBM + CatBoost) achieves PR-AUC 0.685 and 91% recall — catching 9-in-10 churners before they leave.</a:t>
            </a:r>
            <a:endParaRPr lang="en-US" sz="1100" dirty="0"/>
          </a:p>
        </p:txBody>
      </p:sp>
      <p:sp>
        <p:nvSpPr>
          <p:cNvPr id="14" name="Shape 12"/>
          <p:cNvSpPr/>
          <p:nvPr/>
        </p:nvSpPr>
        <p:spPr>
          <a:xfrm>
            <a:off x="4700016" y="1115568"/>
            <a:ext cx="2057400" cy="3566160"/>
          </a:xfrm>
          <a:prstGeom prst="roundRect">
            <a:avLst>
              <a:gd name="adj" fmla="val 4444"/>
            </a:avLst>
          </a:prstGeom>
          <a:solidFill>
            <a:srgbClr val="FFFFFF"/>
          </a:solidFill>
          <a:ln/>
          <a:effectLst>
            <a:outerShdw sx="100000" sy="100000" kx="0" ky="0" algn="bl" rotWithShape="0" blurRad="101600" dist="38100" dir="2700000">
              <a:srgbClr val="000000">
                <a:alpha val="12000"/>
              </a:srgbClr>
            </a:outerShdw>
          </a:effectLst>
        </p:spPr>
      </p:sp>
      <p:sp>
        <p:nvSpPr>
          <p:cNvPr id="15" name="Shape 13"/>
          <p:cNvSpPr/>
          <p:nvPr/>
        </p:nvSpPr>
        <p:spPr>
          <a:xfrm>
            <a:off x="4700016" y="1115568"/>
            <a:ext cx="2057400" cy="658368"/>
          </a:xfrm>
          <a:prstGeom prst="roundRect">
            <a:avLst>
              <a:gd name="adj" fmla="val 13889"/>
            </a:avLst>
          </a:prstGeom>
          <a:solidFill>
            <a:srgbClr val="0D3B6B"/>
          </a:solidFill>
          <a:ln/>
        </p:spPr>
      </p:sp>
      <p:sp>
        <p:nvSpPr>
          <p:cNvPr id="16" name="Shape 14"/>
          <p:cNvSpPr/>
          <p:nvPr/>
        </p:nvSpPr>
        <p:spPr>
          <a:xfrm>
            <a:off x="4700016" y="1481328"/>
            <a:ext cx="2057400" cy="292608"/>
          </a:xfrm>
          <a:prstGeom prst="rect">
            <a:avLst/>
          </a:prstGeom>
          <a:solidFill>
            <a:srgbClr val="0D3B6B"/>
          </a:solidFill>
          <a:ln/>
        </p:spPr>
      </p:sp>
      <p:sp>
        <p:nvSpPr>
          <p:cNvPr id="17" name="Text 15"/>
          <p:cNvSpPr/>
          <p:nvPr/>
        </p:nvSpPr>
        <p:spPr>
          <a:xfrm>
            <a:off x="4809744" y="1152144"/>
            <a:ext cx="1837944"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THE ACTION</a:t>
            </a:r>
            <a:endParaRPr lang="en-US" sz="1050" dirty="0"/>
          </a:p>
        </p:txBody>
      </p:sp>
      <p:sp>
        <p:nvSpPr>
          <p:cNvPr id="18" name="Text 16"/>
          <p:cNvSpPr/>
          <p:nvPr/>
        </p:nvSpPr>
        <p:spPr>
          <a:xfrm>
            <a:off x="4809744" y="1901952"/>
            <a:ext cx="1837944" cy="2606040"/>
          </a:xfrm>
          <a:prstGeom prst="rect">
            <a:avLst/>
          </a:prstGeom>
          <a:noFill/>
          <a:ln/>
        </p:spPr>
        <p:txBody>
          <a:bodyPr wrap="square" lIns="0" tIns="0" rIns="0" bIns="0" rtlCol="0" anchor="t"/>
          <a:lstStyle/>
          <a:p>
            <a:pPr algn="l" indent="0" marL="0">
              <a:buNone/>
            </a:pPr>
            <a:r>
              <a:rPr lang="en-US" sz="1100" dirty="0">
                <a:solidFill>
                  <a:srgbClr val="334155"/>
                </a:solidFill>
                <a:latin typeface="Calibri" pitchFamily="34" charset="0"/>
                <a:ea typeface="Calibri" pitchFamily="34" charset="-122"/>
                <a:cs typeface="Calibri" pitchFamily="34" charset="-120"/>
              </a:rPr>
              <a:t>Project Horizon: automated device-upgrade offers triggered at day 350 of the customer's handset lifecycle, converting churn risk into 18-month renewals.</a:t>
            </a:r>
            <a:endParaRPr lang="en-US" sz="1100" dirty="0"/>
          </a:p>
        </p:txBody>
      </p:sp>
      <p:sp>
        <p:nvSpPr>
          <p:cNvPr id="19" name="Shape 17"/>
          <p:cNvSpPr/>
          <p:nvPr/>
        </p:nvSpPr>
        <p:spPr>
          <a:xfrm>
            <a:off x="6912864" y="1115568"/>
            <a:ext cx="2057400" cy="3566160"/>
          </a:xfrm>
          <a:prstGeom prst="roundRect">
            <a:avLst>
              <a:gd name="adj" fmla="val 4444"/>
            </a:avLst>
          </a:prstGeom>
          <a:solidFill>
            <a:srgbClr val="FFFFFF"/>
          </a:solidFill>
          <a:ln/>
          <a:effectLst>
            <a:outerShdw sx="100000" sy="100000" kx="0" ky="0" algn="bl" rotWithShape="0" blurRad="101600" dist="38100" dir="2700000">
              <a:srgbClr val="000000">
                <a:alpha val="12000"/>
              </a:srgbClr>
            </a:outerShdw>
          </a:effectLst>
        </p:spPr>
      </p:sp>
      <p:sp>
        <p:nvSpPr>
          <p:cNvPr id="20" name="Shape 18"/>
          <p:cNvSpPr/>
          <p:nvPr/>
        </p:nvSpPr>
        <p:spPr>
          <a:xfrm>
            <a:off x="6912864" y="1115568"/>
            <a:ext cx="2057400" cy="658368"/>
          </a:xfrm>
          <a:prstGeom prst="roundRect">
            <a:avLst>
              <a:gd name="adj" fmla="val 13889"/>
            </a:avLst>
          </a:prstGeom>
          <a:solidFill>
            <a:srgbClr val="10B981"/>
          </a:solidFill>
          <a:ln/>
        </p:spPr>
      </p:sp>
      <p:sp>
        <p:nvSpPr>
          <p:cNvPr id="21" name="Shape 19"/>
          <p:cNvSpPr/>
          <p:nvPr/>
        </p:nvSpPr>
        <p:spPr>
          <a:xfrm>
            <a:off x="6912864" y="1481328"/>
            <a:ext cx="2057400" cy="292608"/>
          </a:xfrm>
          <a:prstGeom prst="rect">
            <a:avLst/>
          </a:prstGeom>
          <a:solidFill>
            <a:srgbClr val="10B981"/>
          </a:solidFill>
          <a:ln/>
        </p:spPr>
      </p:sp>
      <p:sp>
        <p:nvSpPr>
          <p:cNvPr id="22" name="Text 20"/>
          <p:cNvSpPr/>
          <p:nvPr/>
        </p:nvSpPr>
        <p:spPr>
          <a:xfrm>
            <a:off x="7022592" y="1152144"/>
            <a:ext cx="1837944"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THE RETURN</a:t>
            </a:r>
            <a:endParaRPr lang="en-US" sz="1050" dirty="0"/>
          </a:p>
        </p:txBody>
      </p:sp>
      <p:sp>
        <p:nvSpPr>
          <p:cNvPr id="23" name="Text 21"/>
          <p:cNvSpPr/>
          <p:nvPr/>
        </p:nvSpPr>
        <p:spPr>
          <a:xfrm>
            <a:off x="7022592" y="1901952"/>
            <a:ext cx="1837944" cy="2606040"/>
          </a:xfrm>
          <a:prstGeom prst="rect">
            <a:avLst/>
          </a:prstGeom>
          <a:noFill/>
          <a:ln/>
        </p:spPr>
        <p:txBody>
          <a:bodyPr wrap="square" lIns="0" tIns="0" rIns="0" bIns="0" rtlCol="0" anchor="t"/>
          <a:lstStyle/>
          <a:p>
            <a:pPr algn="l" indent="0" marL="0">
              <a:buNone/>
            </a:pPr>
            <a:r>
              <a:rPr lang="en-US" sz="1100" dirty="0">
                <a:solidFill>
                  <a:srgbClr val="334155"/>
                </a:solidFill>
                <a:latin typeface="Calibri" pitchFamily="34" charset="0"/>
                <a:ea typeface="Calibri" pitchFamily="34" charset="-122"/>
                <a:cs typeface="Calibri" pitchFamily="34" charset="-120"/>
              </a:rPr>
              <a:t>Base-case campaign of 5,000 customers preserves $965K in revenue at a cost of $375K — a 157% ROI versus the cost of losing and re-acquiring.</a:t>
            </a:r>
            <a:endParaRPr lang="en-US" sz="1100" dirty="0"/>
          </a:p>
        </p:txBody>
      </p:sp>
      <p:sp>
        <p:nvSpPr>
          <p:cNvPr id="24" name="Text 22"/>
          <p:cNvSpPr/>
          <p:nvPr/>
        </p:nvSpPr>
        <p:spPr>
          <a:xfrm>
            <a:off x="274320" y="4773168"/>
            <a:ext cx="8595360" cy="228600"/>
          </a:xfrm>
          <a:prstGeom prst="rect">
            <a:avLst/>
          </a:prstGeom>
          <a:noFill/>
          <a:ln/>
        </p:spPr>
        <p:txBody>
          <a:bodyPr wrap="square" lIns="0" tIns="0" rIns="0" bIns="0" rtlCol="0" anchor="ctr"/>
          <a:lstStyle/>
          <a:p>
            <a:pPr algn="ctr" indent="0" marL="0">
              <a:buNone/>
            </a:pPr>
            <a:r>
              <a:rPr lang="en-US" sz="900" spc="50" kern="0" dirty="0">
                <a:solidFill>
                  <a:srgbClr val="94A3B8"/>
                </a:solidFill>
                <a:latin typeface="Calibri" pitchFamily="34" charset="0"/>
                <a:ea typeface="Calibri" pitchFamily="34" charset="-122"/>
                <a:cs typeface="Calibri" pitchFamily="34" charset="-120"/>
              </a:rPr>
              <a:t>MODEL: ValidationWeightedEnsemble   |   PR-AUC: 0.685   |   RECALL: 91.1%   |   OPTUNA TRIALS: 50   |   ROI: 157%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342"/>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The 2026 Telecom Market: Retention Is the Only Growth Lever</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22D3EE"/>
                </a:solidFill>
                <a:latin typeface="Calibri" pitchFamily="34" charset="0"/>
                <a:ea typeface="Calibri" pitchFamily="34" charset="-122"/>
                <a:cs typeface="Calibri" pitchFamily="34" charset="-120"/>
              </a:rPr>
              <a:t>Why acquisition economics are broken — and retention has never been more valuable</a:t>
            </a:r>
            <a:endParaRPr lang="en-US" sz="1300" dirty="0"/>
          </a:p>
        </p:txBody>
      </p:sp>
      <p:sp>
        <p:nvSpPr>
          <p:cNvPr id="4" name="Shape 2"/>
          <p:cNvSpPr/>
          <p:nvPr/>
        </p:nvSpPr>
        <p:spPr>
          <a:xfrm>
            <a:off x="365760" y="1143000"/>
            <a:ext cx="1965960" cy="1874520"/>
          </a:xfrm>
          <a:prstGeom prst="roundRect">
            <a:avLst>
              <a:gd name="adj" fmla="val 4878"/>
            </a:avLst>
          </a:prstGeom>
          <a:solidFill>
            <a:srgbClr val="132D4B"/>
          </a:solidFill>
          <a:ln/>
          <a:effectLst>
            <a:outerShdw sx="100000" sy="100000" kx="0" ky="0" algn="bl" rotWithShape="0" blurRad="101600" dist="38100" dir="2700000">
              <a:srgbClr val="000000">
                <a:alpha val="12000"/>
              </a:srgbClr>
            </a:outerShdw>
          </a:effectLst>
        </p:spPr>
      </p:sp>
      <p:sp>
        <p:nvSpPr>
          <p:cNvPr id="5" name="Text 3"/>
          <p:cNvSpPr/>
          <p:nvPr/>
        </p:nvSpPr>
        <p:spPr>
          <a:xfrm>
            <a:off x="457200" y="1207008"/>
            <a:ext cx="1783080" cy="804672"/>
          </a:xfrm>
          <a:prstGeom prst="rect">
            <a:avLst/>
          </a:prstGeom>
          <a:noFill/>
          <a:ln/>
        </p:spPr>
        <p:txBody>
          <a:bodyPr wrap="square" lIns="0" tIns="0" rIns="0" bIns="0" rtlCol="0" anchor="ctr"/>
          <a:lstStyle/>
          <a:p>
            <a:pPr algn="ctr" indent="0" marL="0">
              <a:buNone/>
            </a:pPr>
            <a:r>
              <a:rPr lang="en-US" sz="3000" b="1" dirty="0">
                <a:solidFill>
                  <a:srgbClr val="EF4444"/>
                </a:solidFill>
                <a:latin typeface="Cambria" pitchFamily="34" charset="0"/>
                <a:ea typeface="Cambria" pitchFamily="34" charset="-122"/>
                <a:cs typeface="Cambria" pitchFamily="34" charset="-120"/>
              </a:rPr>
              <a:t>$350–$500</a:t>
            </a:r>
            <a:endParaRPr lang="en-US" sz="3000" dirty="0"/>
          </a:p>
        </p:txBody>
      </p:sp>
      <p:sp>
        <p:nvSpPr>
          <p:cNvPr id="6" name="Text 4"/>
          <p:cNvSpPr/>
          <p:nvPr/>
        </p:nvSpPr>
        <p:spPr>
          <a:xfrm>
            <a:off x="457200" y="2029968"/>
            <a:ext cx="1783080" cy="868680"/>
          </a:xfrm>
          <a:prstGeom prst="rect">
            <a:avLst/>
          </a:prstGeom>
          <a:noFill/>
          <a:ln/>
        </p:spPr>
        <p:txBody>
          <a:bodyPr wrap="square" lIns="0" tIns="0" rIns="0" bIns="0" rtlCol="0" anchor="t"/>
          <a:lstStyle/>
          <a:p>
            <a:pPr algn="ctr" indent="0" marL="0">
              <a:buNone/>
            </a:pPr>
            <a:r>
              <a:rPr lang="en-US" sz="1050" dirty="0">
                <a:solidFill>
                  <a:srgbClr val="94A3B8"/>
                </a:solidFill>
                <a:latin typeface="Calibri" pitchFamily="34" charset="0"/>
                <a:ea typeface="Calibri" pitchFamily="34" charset="-122"/>
                <a:cs typeface="Calibri" pitchFamily="34" charset="-120"/>
              </a:rPr>
              <a:t>Customer Acquisition</a:t>
            </a:r>
            <a:endParaRPr lang="en-US" sz="1050" dirty="0"/>
          </a:p>
          <a:p>
            <a:pPr algn="ctr" indent="0" marL="0">
              <a:buNone/>
            </a:pPr>
            <a:r>
              <a:rPr lang="en-US" sz="1050" dirty="0">
                <a:solidFill>
                  <a:srgbClr val="94A3B8"/>
                </a:solidFill>
                <a:latin typeface="Calibri" pitchFamily="34" charset="0"/>
                <a:ea typeface="Calibri" pitchFamily="34" charset="-122"/>
                <a:cs typeface="Calibri" pitchFamily="34" charset="-120"/>
              </a:rPr>
              <a:t>Cost (CAC) per net add</a:t>
            </a:r>
            <a:endParaRPr lang="en-US" sz="1050" dirty="0"/>
          </a:p>
        </p:txBody>
      </p:sp>
      <p:sp>
        <p:nvSpPr>
          <p:cNvPr id="7" name="Shape 5"/>
          <p:cNvSpPr/>
          <p:nvPr/>
        </p:nvSpPr>
        <p:spPr>
          <a:xfrm>
            <a:off x="2487168" y="1143000"/>
            <a:ext cx="1965960" cy="1874520"/>
          </a:xfrm>
          <a:prstGeom prst="roundRect">
            <a:avLst>
              <a:gd name="adj" fmla="val 4878"/>
            </a:avLst>
          </a:prstGeom>
          <a:solidFill>
            <a:srgbClr val="132D4B"/>
          </a:solidFill>
          <a:ln/>
          <a:effectLst>
            <a:outerShdw sx="100000" sy="100000" kx="0" ky="0" algn="bl" rotWithShape="0" blurRad="101600" dist="38100" dir="2700000">
              <a:srgbClr val="000000">
                <a:alpha val="12000"/>
              </a:srgbClr>
            </a:outerShdw>
          </a:effectLst>
        </p:spPr>
      </p:sp>
      <p:sp>
        <p:nvSpPr>
          <p:cNvPr id="8" name="Text 6"/>
          <p:cNvSpPr/>
          <p:nvPr/>
        </p:nvSpPr>
        <p:spPr>
          <a:xfrm>
            <a:off x="2578608" y="1207008"/>
            <a:ext cx="1783080" cy="804672"/>
          </a:xfrm>
          <a:prstGeom prst="rect">
            <a:avLst/>
          </a:prstGeom>
          <a:noFill/>
          <a:ln/>
        </p:spPr>
        <p:txBody>
          <a:bodyPr wrap="square" lIns="0" tIns="0" rIns="0" bIns="0" rtlCol="0" anchor="ctr"/>
          <a:lstStyle/>
          <a:p>
            <a:pPr algn="ctr" indent="0" marL="0">
              <a:buNone/>
            </a:pPr>
            <a:r>
              <a:rPr lang="en-US" sz="3000" b="1" dirty="0">
                <a:solidFill>
                  <a:srgbClr val="F59E0B"/>
                </a:solidFill>
                <a:latin typeface="Cambria" pitchFamily="34" charset="0"/>
                <a:ea typeface="Cambria" pitchFamily="34" charset="-122"/>
                <a:cs typeface="Cambria" pitchFamily="34" charset="-120"/>
              </a:rPr>
              <a:t>97%</a:t>
            </a:r>
            <a:endParaRPr lang="en-US" sz="3000" dirty="0"/>
          </a:p>
        </p:txBody>
      </p:sp>
      <p:sp>
        <p:nvSpPr>
          <p:cNvPr id="9" name="Text 7"/>
          <p:cNvSpPr/>
          <p:nvPr/>
        </p:nvSpPr>
        <p:spPr>
          <a:xfrm>
            <a:off x="2578608" y="2029968"/>
            <a:ext cx="1783080" cy="868680"/>
          </a:xfrm>
          <a:prstGeom prst="rect">
            <a:avLst/>
          </a:prstGeom>
          <a:noFill/>
          <a:ln/>
        </p:spPr>
        <p:txBody>
          <a:bodyPr wrap="square" lIns="0" tIns="0" rIns="0" bIns="0" rtlCol="0" anchor="t"/>
          <a:lstStyle/>
          <a:p>
            <a:pPr algn="ctr" indent="0" marL="0">
              <a:buNone/>
            </a:pPr>
            <a:r>
              <a:rPr lang="en-US" sz="1050" dirty="0">
                <a:solidFill>
                  <a:srgbClr val="94A3B8"/>
                </a:solidFill>
                <a:latin typeface="Calibri" pitchFamily="34" charset="0"/>
                <a:ea typeface="Calibri" pitchFamily="34" charset="-122"/>
                <a:cs typeface="Calibri" pitchFamily="34" charset="-120"/>
              </a:rPr>
              <a:t>Market penetration —</a:t>
            </a:r>
            <a:endParaRPr lang="en-US" sz="1050" dirty="0"/>
          </a:p>
          <a:p>
            <a:pPr algn="ctr" indent="0" marL="0">
              <a:buNone/>
            </a:pPr>
            <a:r>
              <a:rPr lang="en-US" sz="1050" dirty="0">
                <a:solidFill>
                  <a:srgbClr val="94A3B8"/>
                </a:solidFill>
                <a:latin typeface="Calibri" pitchFamily="34" charset="0"/>
                <a:ea typeface="Calibri" pitchFamily="34" charset="-122"/>
                <a:cs typeface="Calibri" pitchFamily="34" charset="-120"/>
              </a:rPr>
              <a:t>near-zero organic growth</a:t>
            </a:r>
            <a:endParaRPr lang="en-US" sz="1050" dirty="0"/>
          </a:p>
        </p:txBody>
      </p:sp>
      <p:sp>
        <p:nvSpPr>
          <p:cNvPr id="10" name="Shape 8"/>
          <p:cNvSpPr/>
          <p:nvPr/>
        </p:nvSpPr>
        <p:spPr>
          <a:xfrm>
            <a:off x="4608576" y="1143000"/>
            <a:ext cx="1965960" cy="1874520"/>
          </a:xfrm>
          <a:prstGeom prst="roundRect">
            <a:avLst>
              <a:gd name="adj" fmla="val 4878"/>
            </a:avLst>
          </a:prstGeom>
          <a:solidFill>
            <a:srgbClr val="132D4B"/>
          </a:solidFill>
          <a:ln/>
          <a:effectLst>
            <a:outerShdw sx="100000" sy="100000" kx="0" ky="0" algn="bl" rotWithShape="0" blurRad="101600" dist="38100" dir="2700000">
              <a:srgbClr val="000000">
                <a:alpha val="12000"/>
              </a:srgbClr>
            </a:outerShdw>
          </a:effectLst>
        </p:spPr>
      </p:sp>
      <p:sp>
        <p:nvSpPr>
          <p:cNvPr id="11" name="Text 9"/>
          <p:cNvSpPr/>
          <p:nvPr/>
        </p:nvSpPr>
        <p:spPr>
          <a:xfrm>
            <a:off x="4700016" y="1207008"/>
            <a:ext cx="1783080" cy="804672"/>
          </a:xfrm>
          <a:prstGeom prst="rect">
            <a:avLst/>
          </a:prstGeom>
          <a:noFill/>
          <a:ln/>
        </p:spPr>
        <p:txBody>
          <a:bodyPr wrap="square" lIns="0" tIns="0" rIns="0" bIns="0" rtlCol="0" anchor="ctr"/>
          <a:lstStyle/>
          <a:p>
            <a:pPr algn="ctr" indent="0" marL="0">
              <a:buNone/>
            </a:pPr>
            <a:r>
              <a:rPr lang="en-US" sz="3000" b="1" dirty="0">
                <a:solidFill>
                  <a:srgbClr val="0891B2"/>
                </a:solidFill>
                <a:latin typeface="Cambria" pitchFamily="34" charset="0"/>
                <a:ea typeface="Cambria" pitchFamily="34" charset="-122"/>
                <a:cs typeface="Cambria" pitchFamily="34" charset="-120"/>
              </a:rPr>
              <a:t>60%</a:t>
            </a:r>
            <a:endParaRPr lang="en-US" sz="3000" dirty="0"/>
          </a:p>
        </p:txBody>
      </p:sp>
      <p:sp>
        <p:nvSpPr>
          <p:cNvPr id="12" name="Text 10"/>
          <p:cNvSpPr/>
          <p:nvPr/>
        </p:nvSpPr>
        <p:spPr>
          <a:xfrm>
            <a:off x="4700016" y="2029968"/>
            <a:ext cx="1783080" cy="868680"/>
          </a:xfrm>
          <a:prstGeom prst="rect">
            <a:avLst/>
          </a:prstGeom>
          <a:noFill/>
          <a:ln/>
        </p:spPr>
        <p:txBody>
          <a:bodyPr wrap="square" lIns="0" tIns="0" rIns="0" bIns="0" rtlCol="0" anchor="t"/>
          <a:lstStyle/>
          <a:p>
            <a:pPr algn="ctr" indent="0" marL="0">
              <a:buNone/>
            </a:pPr>
            <a:r>
              <a:rPr lang="en-US" sz="1050" dirty="0">
                <a:solidFill>
                  <a:srgbClr val="94A3B8"/>
                </a:solidFill>
                <a:latin typeface="Calibri" pitchFamily="34" charset="0"/>
                <a:ea typeface="Calibri" pitchFamily="34" charset="-122"/>
                <a:cs typeface="Calibri" pitchFamily="34" charset="-120"/>
              </a:rPr>
              <a:t>Higher cross-sell rate</a:t>
            </a:r>
            <a:endParaRPr lang="en-US" sz="1050" dirty="0"/>
          </a:p>
          <a:p>
            <a:pPr algn="ctr" indent="0" marL="0">
              <a:buNone/>
            </a:pPr>
            <a:r>
              <a:rPr lang="en-US" sz="1050" dirty="0">
                <a:solidFill>
                  <a:srgbClr val="94A3B8"/>
                </a:solidFill>
                <a:latin typeface="Calibri" pitchFamily="34" charset="0"/>
                <a:ea typeface="Calibri" pitchFamily="34" charset="-122"/>
                <a:cs typeface="Calibri" pitchFamily="34" charset="-120"/>
              </a:rPr>
              <a:t>for retained vs. new customers</a:t>
            </a:r>
            <a:endParaRPr lang="en-US" sz="1050" dirty="0"/>
          </a:p>
        </p:txBody>
      </p:sp>
      <p:sp>
        <p:nvSpPr>
          <p:cNvPr id="13" name="Shape 11"/>
          <p:cNvSpPr/>
          <p:nvPr/>
        </p:nvSpPr>
        <p:spPr>
          <a:xfrm>
            <a:off x="6729984" y="1143000"/>
            <a:ext cx="1965960" cy="1874520"/>
          </a:xfrm>
          <a:prstGeom prst="roundRect">
            <a:avLst>
              <a:gd name="adj" fmla="val 4878"/>
            </a:avLst>
          </a:prstGeom>
          <a:solidFill>
            <a:srgbClr val="132D4B"/>
          </a:solidFill>
          <a:ln/>
          <a:effectLst>
            <a:outerShdw sx="100000" sy="100000" kx="0" ky="0" algn="bl" rotWithShape="0" blurRad="101600" dist="38100" dir="2700000">
              <a:srgbClr val="000000">
                <a:alpha val="12000"/>
              </a:srgbClr>
            </a:outerShdw>
          </a:effectLst>
        </p:spPr>
      </p:sp>
      <p:sp>
        <p:nvSpPr>
          <p:cNvPr id="14" name="Text 12"/>
          <p:cNvSpPr/>
          <p:nvPr/>
        </p:nvSpPr>
        <p:spPr>
          <a:xfrm>
            <a:off x="6821424" y="1207008"/>
            <a:ext cx="1783080" cy="804672"/>
          </a:xfrm>
          <a:prstGeom prst="rect">
            <a:avLst/>
          </a:prstGeom>
          <a:noFill/>
          <a:ln/>
        </p:spPr>
        <p:txBody>
          <a:bodyPr wrap="square" lIns="0" tIns="0" rIns="0" bIns="0" rtlCol="0" anchor="ctr"/>
          <a:lstStyle/>
          <a:p>
            <a:pPr algn="ctr" indent="0" marL="0">
              <a:buNone/>
            </a:pPr>
            <a:r>
              <a:rPr lang="en-US" sz="3000" b="1" dirty="0">
                <a:solidFill>
                  <a:srgbClr val="10B981"/>
                </a:solidFill>
                <a:latin typeface="Cambria" pitchFamily="34" charset="0"/>
                <a:ea typeface="Cambria" pitchFamily="34" charset="-122"/>
                <a:cs typeface="Cambria" pitchFamily="34" charset="-120"/>
              </a:rPr>
              <a:t>5–7×</a:t>
            </a:r>
            <a:endParaRPr lang="en-US" sz="3000" dirty="0"/>
          </a:p>
        </p:txBody>
      </p:sp>
      <p:sp>
        <p:nvSpPr>
          <p:cNvPr id="15" name="Text 13"/>
          <p:cNvSpPr/>
          <p:nvPr/>
        </p:nvSpPr>
        <p:spPr>
          <a:xfrm>
            <a:off x="6821424" y="2029968"/>
            <a:ext cx="1783080" cy="868680"/>
          </a:xfrm>
          <a:prstGeom prst="rect">
            <a:avLst/>
          </a:prstGeom>
          <a:noFill/>
          <a:ln/>
        </p:spPr>
        <p:txBody>
          <a:bodyPr wrap="square" lIns="0" tIns="0" rIns="0" bIns="0" rtlCol="0" anchor="t"/>
          <a:lstStyle/>
          <a:p>
            <a:pPr algn="ctr" indent="0" marL="0">
              <a:buNone/>
            </a:pPr>
            <a:r>
              <a:rPr lang="en-US" sz="1050" dirty="0">
                <a:solidFill>
                  <a:srgbClr val="94A3B8"/>
                </a:solidFill>
                <a:latin typeface="Calibri" pitchFamily="34" charset="0"/>
                <a:ea typeface="Calibri" pitchFamily="34" charset="-122"/>
                <a:cs typeface="Calibri" pitchFamily="34" charset="-120"/>
              </a:rPr>
              <a:t>Cost ratio: acquiring</a:t>
            </a:r>
            <a:endParaRPr lang="en-US" sz="1050" dirty="0"/>
          </a:p>
          <a:p>
            <a:pPr algn="ctr" indent="0" marL="0">
              <a:buNone/>
            </a:pPr>
            <a:r>
              <a:rPr lang="en-US" sz="1050" dirty="0">
                <a:solidFill>
                  <a:srgbClr val="94A3B8"/>
                </a:solidFill>
                <a:latin typeface="Calibri" pitchFamily="34" charset="0"/>
                <a:ea typeface="Calibri" pitchFamily="34" charset="-122"/>
                <a:cs typeface="Calibri" pitchFamily="34" charset="-120"/>
              </a:rPr>
              <a:t>vs. retaining a customer</a:t>
            </a:r>
            <a:endParaRPr lang="en-US" sz="1050" dirty="0"/>
          </a:p>
        </p:txBody>
      </p:sp>
      <p:sp>
        <p:nvSpPr>
          <p:cNvPr id="16" name="Shape 14"/>
          <p:cNvSpPr/>
          <p:nvPr/>
        </p:nvSpPr>
        <p:spPr>
          <a:xfrm>
            <a:off x="365760" y="3200400"/>
            <a:ext cx="8412480" cy="1572768"/>
          </a:xfrm>
          <a:prstGeom prst="roundRect">
            <a:avLst>
              <a:gd name="adj" fmla="val 5814"/>
            </a:avLst>
          </a:prstGeom>
          <a:solidFill>
            <a:srgbClr val="0D3B6B"/>
          </a:solidFill>
          <a:ln/>
          <a:effectLst>
            <a:outerShdw sx="100000" sy="100000" kx="0" ky="0" algn="bl" rotWithShape="0" blurRad="101600" dist="38100" dir="2700000">
              <a:srgbClr val="000000">
                <a:alpha val="12000"/>
              </a:srgbClr>
            </a:outerShdw>
          </a:effectLst>
        </p:spPr>
      </p:sp>
      <p:sp>
        <p:nvSpPr>
          <p:cNvPr id="17" name="Text 15"/>
          <p:cNvSpPr/>
          <p:nvPr/>
        </p:nvSpPr>
        <p:spPr>
          <a:xfrm>
            <a:off x="548640" y="3310128"/>
            <a:ext cx="274320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Cambria" pitchFamily="34" charset="0"/>
                <a:ea typeface="Cambria" pitchFamily="34" charset="-122"/>
                <a:cs typeface="Cambria" pitchFamily="34" charset="-120"/>
              </a:rPr>
              <a:t>Strategic Implication</a:t>
            </a:r>
            <a:endParaRPr lang="en-US" sz="1100" dirty="0"/>
          </a:p>
        </p:txBody>
      </p:sp>
      <p:sp>
        <p:nvSpPr>
          <p:cNvPr id="18" name="Text 16"/>
          <p:cNvSpPr/>
          <p:nvPr/>
        </p:nvSpPr>
        <p:spPr>
          <a:xfrm>
            <a:off x="548640" y="3602736"/>
            <a:ext cx="8046720" cy="100584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In a saturated market, every churned subscriber is immediately replaced — by a competitor. Winning gross adds costs $350–$500 in marketing spend plus 2–3 months of revenue gap. Meanwhile, retaining an existing subscriber via a $200 device subsidy and an 18-month contract renewal generates $1,170 in secured revenue at a fraction of the acquisition cost. This is not a CRM initiative. It is an arbitrage opportunity.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0A2342"/>
                </a:solidFill>
                <a:latin typeface="Cambria" pitchFamily="34" charset="0"/>
                <a:ea typeface="Cambria" pitchFamily="34" charset="-122"/>
                <a:cs typeface="Cambria" pitchFamily="34" charset="-120"/>
              </a:rPr>
              <a:t>The Core Problem: Silent, Predictable, Preventable Revenue Erosion</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0891B2"/>
                </a:solidFill>
                <a:latin typeface="Calibri" pitchFamily="34" charset="0"/>
                <a:ea typeface="Calibri" pitchFamily="34" charset="-122"/>
                <a:cs typeface="Calibri" pitchFamily="34" charset="-120"/>
              </a:rPr>
              <a:t>Company A is losing high-value subscribers — not to pricing, but to device obsolescence</a:t>
            </a:r>
            <a:endParaRPr lang="en-US" sz="1300" dirty="0"/>
          </a:p>
        </p:txBody>
      </p:sp>
      <p:sp>
        <p:nvSpPr>
          <p:cNvPr id="4" name="Shape 2"/>
          <p:cNvSpPr/>
          <p:nvPr/>
        </p:nvSpPr>
        <p:spPr>
          <a:xfrm>
            <a:off x="320040" y="1115568"/>
            <a:ext cx="5120640" cy="804672"/>
          </a:xfrm>
          <a:prstGeom prst="roundRect">
            <a:avLst>
              <a:gd name="adj" fmla="val 9091"/>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502920" y="1170432"/>
            <a:ext cx="4754880" cy="237744"/>
          </a:xfrm>
          <a:prstGeom prst="rect">
            <a:avLst/>
          </a:prstGeom>
          <a:noFill/>
          <a:ln/>
        </p:spPr>
        <p:txBody>
          <a:bodyPr wrap="square" lIns="0" tIns="0" rIns="0" bIns="0" rtlCol="0" anchor="ctr"/>
          <a:lstStyle/>
          <a:p>
            <a:pPr algn="l" indent="0" marL="0">
              <a:buNone/>
            </a:pPr>
            <a:r>
              <a:rPr lang="en-US" sz="1200" b="1" dirty="0">
                <a:solidFill>
                  <a:srgbClr val="0D3B6B"/>
                </a:solidFill>
                <a:latin typeface="Cambria" pitchFamily="34" charset="0"/>
                <a:ea typeface="Cambria" pitchFamily="34" charset="-122"/>
                <a:cs typeface="Cambria" pitchFamily="34" charset="-120"/>
              </a:rPr>
              <a:t>📱  The Device Gap</a:t>
            </a:r>
            <a:endParaRPr lang="en-US" sz="1200" dirty="0"/>
          </a:p>
        </p:txBody>
      </p:sp>
      <p:sp>
        <p:nvSpPr>
          <p:cNvPr id="6" name="Text 4"/>
          <p:cNvSpPr/>
          <p:nvPr/>
        </p:nvSpPr>
        <p:spPr>
          <a:xfrm>
            <a:off x="502920" y="1435608"/>
            <a:ext cx="4754880" cy="420624"/>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Customers holding handsets over 365 days experience degraded 5G performance. They blame the carrier, not the device.</a:t>
            </a:r>
            <a:endParaRPr lang="en-US" sz="1050" dirty="0"/>
          </a:p>
        </p:txBody>
      </p:sp>
      <p:sp>
        <p:nvSpPr>
          <p:cNvPr id="7" name="Shape 5"/>
          <p:cNvSpPr/>
          <p:nvPr/>
        </p:nvSpPr>
        <p:spPr>
          <a:xfrm>
            <a:off x="320040" y="2048256"/>
            <a:ext cx="5120640" cy="804672"/>
          </a:xfrm>
          <a:prstGeom prst="roundRect">
            <a:avLst>
              <a:gd name="adj" fmla="val 9091"/>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2103120"/>
            <a:ext cx="4754880" cy="237744"/>
          </a:xfrm>
          <a:prstGeom prst="rect">
            <a:avLst/>
          </a:prstGeom>
          <a:noFill/>
          <a:ln/>
        </p:spPr>
        <p:txBody>
          <a:bodyPr wrap="square" lIns="0" tIns="0" rIns="0" bIns="0" rtlCol="0" anchor="ctr"/>
          <a:lstStyle/>
          <a:p>
            <a:pPr algn="l" indent="0" marL="0">
              <a:buNone/>
            </a:pPr>
            <a:r>
              <a:rPr lang="en-US" sz="1200" b="1" dirty="0">
                <a:solidFill>
                  <a:srgbClr val="0D3B6B"/>
                </a:solidFill>
                <a:latin typeface="Cambria" pitchFamily="34" charset="0"/>
                <a:ea typeface="Cambria" pitchFamily="34" charset="-122"/>
                <a:cs typeface="Cambria" pitchFamily="34" charset="-120"/>
              </a:rPr>
              <a:t>📉  Silent Disengagement</a:t>
            </a:r>
            <a:endParaRPr lang="en-US" sz="1200" dirty="0"/>
          </a:p>
        </p:txBody>
      </p:sp>
      <p:sp>
        <p:nvSpPr>
          <p:cNvPr id="9" name="Text 7"/>
          <p:cNvSpPr/>
          <p:nvPr/>
        </p:nvSpPr>
        <p:spPr>
          <a:xfrm>
            <a:off x="502920" y="2368296"/>
            <a:ext cx="4754880" cy="420624"/>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Usage (minutes of use) declines 3–4 months before cancellation. The signal is there — but no one is reading it.</a:t>
            </a:r>
            <a:endParaRPr lang="en-US" sz="1050" dirty="0"/>
          </a:p>
        </p:txBody>
      </p:sp>
      <p:sp>
        <p:nvSpPr>
          <p:cNvPr id="10" name="Shape 8"/>
          <p:cNvSpPr/>
          <p:nvPr/>
        </p:nvSpPr>
        <p:spPr>
          <a:xfrm>
            <a:off x="320040" y="2980944"/>
            <a:ext cx="5120640" cy="804672"/>
          </a:xfrm>
          <a:prstGeom prst="roundRect">
            <a:avLst>
              <a:gd name="adj" fmla="val 9091"/>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02920" y="3035808"/>
            <a:ext cx="4754880" cy="237744"/>
          </a:xfrm>
          <a:prstGeom prst="rect">
            <a:avLst/>
          </a:prstGeom>
          <a:noFill/>
          <a:ln/>
        </p:spPr>
        <p:txBody>
          <a:bodyPr wrap="square" lIns="0" tIns="0" rIns="0" bIns="0" rtlCol="0" anchor="ctr"/>
          <a:lstStyle/>
          <a:p>
            <a:pPr algn="l" indent="0" marL="0">
              <a:buNone/>
            </a:pPr>
            <a:r>
              <a:rPr lang="en-US" sz="1200" b="1" dirty="0">
                <a:solidFill>
                  <a:srgbClr val="0D3B6B"/>
                </a:solidFill>
                <a:latin typeface="Cambria" pitchFamily="34" charset="0"/>
                <a:ea typeface="Cambria" pitchFamily="34" charset="-122"/>
                <a:cs typeface="Cambria" pitchFamily="34" charset="-120"/>
              </a:rPr>
              <a:t>💸  Revenue Concentration</a:t>
            </a:r>
            <a:endParaRPr lang="en-US" sz="1200" dirty="0"/>
          </a:p>
        </p:txBody>
      </p:sp>
      <p:sp>
        <p:nvSpPr>
          <p:cNvPr id="12" name="Text 10"/>
          <p:cNvSpPr/>
          <p:nvPr/>
        </p:nvSpPr>
        <p:spPr>
          <a:xfrm>
            <a:off x="502920" y="3300984"/>
            <a:ext cx="4754880" cy="420624"/>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The top 20% of subscribers by ARPU generate 65% of total revenue. These are exactly who churns first when a competitor offers a new device.</a:t>
            </a:r>
            <a:endParaRPr lang="en-US" sz="1050" dirty="0"/>
          </a:p>
        </p:txBody>
      </p:sp>
      <p:sp>
        <p:nvSpPr>
          <p:cNvPr id="13" name="Shape 11"/>
          <p:cNvSpPr/>
          <p:nvPr/>
        </p:nvSpPr>
        <p:spPr>
          <a:xfrm>
            <a:off x="320040" y="3913632"/>
            <a:ext cx="5120640" cy="804672"/>
          </a:xfrm>
          <a:prstGeom prst="roundRect">
            <a:avLst>
              <a:gd name="adj" fmla="val 9091"/>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502920" y="3968496"/>
            <a:ext cx="4754880" cy="237744"/>
          </a:xfrm>
          <a:prstGeom prst="rect">
            <a:avLst/>
          </a:prstGeom>
          <a:noFill/>
          <a:ln/>
        </p:spPr>
        <p:txBody>
          <a:bodyPr wrap="square" lIns="0" tIns="0" rIns="0" bIns="0" rtlCol="0" anchor="ctr"/>
          <a:lstStyle/>
          <a:p>
            <a:pPr algn="l" indent="0" marL="0">
              <a:buNone/>
            </a:pPr>
            <a:r>
              <a:rPr lang="en-US" sz="1200" b="1" dirty="0">
                <a:solidFill>
                  <a:srgbClr val="0D3B6B"/>
                </a:solidFill>
                <a:latin typeface="Cambria" pitchFamily="34" charset="0"/>
                <a:ea typeface="Cambria" pitchFamily="34" charset="-122"/>
                <a:cs typeface="Cambria" pitchFamily="34" charset="-120"/>
              </a:rPr>
              <a:t>⏰  The Missed Window</a:t>
            </a:r>
            <a:endParaRPr lang="en-US" sz="1200" dirty="0"/>
          </a:p>
        </p:txBody>
      </p:sp>
      <p:sp>
        <p:nvSpPr>
          <p:cNvPr id="15" name="Text 13"/>
          <p:cNvSpPr/>
          <p:nvPr/>
        </p:nvSpPr>
        <p:spPr>
          <a:xfrm>
            <a:off x="502920" y="4233672"/>
            <a:ext cx="4754880" cy="420624"/>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By the time a subscriber calls to cancel, the retention window has already closed. The intervention must happen at month 11–12 of the device lifecycle.</a:t>
            </a:r>
            <a:endParaRPr lang="en-US" sz="1050" dirty="0"/>
          </a:p>
        </p:txBody>
      </p:sp>
      <p:sp>
        <p:nvSpPr>
          <p:cNvPr id="16" name="Shape 14"/>
          <p:cNvSpPr/>
          <p:nvPr/>
        </p:nvSpPr>
        <p:spPr>
          <a:xfrm>
            <a:off x="5669280" y="1115568"/>
            <a:ext cx="3154680" cy="3657600"/>
          </a:xfrm>
          <a:prstGeom prst="roundRect">
            <a:avLst>
              <a:gd name="adj" fmla="val 2899"/>
            </a:avLst>
          </a:prstGeom>
          <a:solidFill>
            <a:srgbClr val="0A2342"/>
          </a:solidFill>
          <a:ln/>
          <a:effectLst>
            <a:outerShdw sx="100000" sy="100000" kx="0" ky="0" algn="bl" rotWithShape="0" blurRad="101600" dist="38100" dir="2700000">
              <a:srgbClr val="000000">
                <a:alpha val="12000"/>
              </a:srgbClr>
            </a:outerShdw>
          </a:effectLst>
        </p:spPr>
      </p:sp>
      <p:sp>
        <p:nvSpPr>
          <p:cNvPr id="17" name="Text 15"/>
          <p:cNvSpPr/>
          <p:nvPr/>
        </p:nvSpPr>
        <p:spPr>
          <a:xfrm>
            <a:off x="5806440" y="1234440"/>
            <a:ext cx="2880360" cy="310896"/>
          </a:xfrm>
          <a:prstGeom prst="rect">
            <a:avLst/>
          </a:prstGeom>
          <a:noFill/>
          <a:ln/>
        </p:spPr>
        <p:txBody>
          <a:bodyPr wrap="square" lIns="0" tIns="0" rIns="0" bIns="0" rtlCol="0" anchor="ctr"/>
          <a:lstStyle/>
          <a:p>
            <a:pPr algn="ctr" indent="0" marL="0">
              <a:buNone/>
            </a:pPr>
            <a:r>
              <a:rPr lang="en-US" sz="1300" b="1" dirty="0">
                <a:solidFill>
                  <a:srgbClr val="22D3EE"/>
                </a:solidFill>
                <a:latin typeface="Cambria" pitchFamily="34" charset="0"/>
                <a:ea typeface="Cambria" pitchFamily="34" charset="-122"/>
                <a:cs typeface="Cambria" pitchFamily="34" charset="-120"/>
              </a:rPr>
              <a:t>Cost of Inaction</a:t>
            </a:r>
            <a:endParaRPr lang="en-US" sz="1300" dirty="0"/>
          </a:p>
        </p:txBody>
      </p:sp>
      <p:sp>
        <p:nvSpPr>
          <p:cNvPr id="18" name="Text 16"/>
          <p:cNvSpPr/>
          <p:nvPr/>
        </p:nvSpPr>
        <p:spPr>
          <a:xfrm>
            <a:off x="5806440" y="1737360"/>
            <a:ext cx="2880360" cy="347472"/>
          </a:xfrm>
          <a:prstGeom prst="rect">
            <a:avLst/>
          </a:prstGeom>
          <a:noFill/>
          <a:ln/>
        </p:spPr>
        <p:txBody>
          <a:bodyPr wrap="square" lIns="0" tIns="0" rIns="0" bIns="0" rtlCol="0" anchor="ctr"/>
          <a:lstStyle/>
          <a:p>
            <a:pPr algn="ctr" indent="0" marL="0">
              <a:buNone/>
            </a:pPr>
            <a:r>
              <a:rPr lang="en-US" sz="2200" b="1" dirty="0">
                <a:solidFill>
                  <a:srgbClr val="EF4444"/>
                </a:solidFill>
                <a:latin typeface="Cambria" pitchFamily="34" charset="0"/>
                <a:ea typeface="Cambria" pitchFamily="34" charset="-122"/>
                <a:cs typeface="Cambria" pitchFamily="34" charset="-120"/>
              </a:rPr>
              <a:t>$350–500</a:t>
            </a:r>
            <a:endParaRPr lang="en-US" sz="2200" dirty="0"/>
          </a:p>
        </p:txBody>
      </p:sp>
      <p:sp>
        <p:nvSpPr>
          <p:cNvPr id="19" name="Text 17"/>
          <p:cNvSpPr/>
          <p:nvPr/>
        </p:nvSpPr>
        <p:spPr>
          <a:xfrm>
            <a:off x="5806440" y="2084832"/>
            <a:ext cx="2880360" cy="329184"/>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CAC to replace</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one lost subscriber</a:t>
            </a:r>
            <a:endParaRPr lang="en-US" sz="1000" dirty="0"/>
          </a:p>
        </p:txBody>
      </p:sp>
      <p:sp>
        <p:nvSpPr>
          <p:cNvPr id="20" name="Text 18"/>
          <p:cNvSpPr/>
          <p:nvPr/>
        </p:nvSpPr>
        <p:spPr>
          <a:xfrm>
            <a:off x="5806440" y="2487168"/>
            <a:ext cx="2880360" cy="347472"/>
          </a:xfrm>
          <a:prstGeom prst="rect">
            <a:avLst/>
          </a:prstGeom>
          <a:noFill/>
          <a:ln/>
        </p:spPr>
        <p:txBody>
          <a:bodyPr wrap="square" lIns="0" tIns="0" rIns="0" bIns="0" rtlCol="0" anchor="ctr"/>
          <a:lstStyle/>
          <a:p>
            <a:pPr algn="ctr" indent="0" marL="0">
              <a:buNone/>
            </a:pPr>
            <a:r>
              <a:rPr lang="en-US" sz="2200" b="1" dirty="0">
                <a:solidFill>
                  <a:srgbClr val="EF4444"/>
                </a:solidFill>
                <a:latin typeface="Cambria" pitchFamily="34" charset="0"/>
                <a:ea typeface="Cambria" pitchFamily="34" charset="-122"/>
                <a:cs typeface="Cambria" pitchFamily="34" charset="-120"/>
              </a:rPr>
              <a:t>2–3 mo</a:t>
            </a:r>
            <a:endParaRPr lang="en-US" sz="2200" dirty="0"/>
          </a:p>
        </p:txBody>
      </p:sp>
      <p:sp>
        <p:nvSpPr>
          <p:cNvPr id="21" name="Text 19"/>
          <p:cNvSpPr/>
          <p:nvPr/>
        </p:nvSpPr>
        <p:spPr>
          <a:xfrm>
            <a:off x="5806440" y="2834640"/>
            <a:ext cx="2880360" cy="329184"/>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Revenue gap during</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subscriber transition</a:t>
            </a:r>
            <a:endParaRPr lang="en-US" sz="1000" dirty="0"/>
          </a:p>
        </p:txBody>
      </p:sp>
      <p:sp>
        <p:nvSpPr>
          <p:cNvPr id="22" name="Text 20"/>
          <p:cNvSpPr/>
          <p:nvPr/>
        </p:nvSpPr>
        <p:spPr>
          <a:xfrm>
            <a:off x="5806440" y="3236976"/>
            <a:ext cx="2880360" cy="347472"/>
          </a:xfrm>
          <a:prstGeom prst="rect">
            <a:avLst/>
          </a:prstGeom>
          <a:noFill/>
          <a:ln/>
        </p:spPr>
        <p:txBody>
          <a:bodyPr wrap="square" lIns="0" tIns="0" rIns="0" bIns="0" rtlCol="0" anchor="ctr"/>
          <a:lstStyle/>
          <a:p>
            <a:pPr algn="ctr" indent="0" marL="0">
              <a:buNone/>
            </a:pPr>
            <a:r>
              <a:rPr lang="en-US" sz="2200" b="1" dirty="0">
                <a:solidFill>
                  <a:srgbClr val="10B981"/>
                </a:solidFill>
                <a:latin typeface="Cambria" pitchFamily="34" charset="0"/>
                <a:ea typeface="Cambria" pitchFamily="34" charset="-122"/>
                <a:cs typeface="Cambria" pitchFamily="34" charset="-120"/>
              </a:rPr>
              <a:t>$1,170</a:t>
            </a:r>
            <a:endParaRPr lang="en-US" sz="2200" dirty="0"/>
          </a:p>
        </p:txBody>
      </p:sp>
      <p:sp>
        <p:nvSpPr>
          <p:cNvPr id="23" name="Text 21"/>
          <p:cNvSpPr/>
          <p:nvPr/>
        </p:nvSpPr>
        <p:spPr>
          <a:xfrm>
            <a:off x="5806440" y="3584448"/>
            <a:ext cx="2880360" cy="329184"/>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CLV secured by a</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$200 upgrade offer</a:t>
            </a:r>
            <a:endParaRPr lang="en-US" sz="1000" dirty="0"/>
          </a:p>
        </p:txBody>
      </p:sp>
      <p:sp>
        <p:nvSpPr>
          <p:cNvPr id="24" name="Text 22"/>
          <p:cNvSpPr/>
          <p:nvPr/>
        </p:nvSpPr>
        <p:spPr>
          <a:xfrm>
            <a:off x="5806440" y="3986784"/>
            <a:ext cx="2880360" cy="347472"/>
          </a:xfrm>
          <a:prstGeom prst="rect">
            <a:avLst/>
          </a:prstGeom>
          <a:noFill/>
          <a:ln/>
        </p:spPr>
        <p:txBody>
          <a:bodyPr wrap="square" lIns="0" tIns="0" rIns="0" bIns="0" rtlCol="0" anchor="ctr"/>
          <a:lstStyle/>
          <a:p>
            <a:pPr algn="ctr" indent="0" marL="0">
              <a:buNone/>
            </a:pPr>
            <a:r>
              <a:rPr lang="en-US" sz="2200" b="1" dirty="0">
                <a:solidFill>
                  <a:srgbClr val="10B981"/>
                </a:solidFill>
                <a:latin typeface="Cambria" pitchFamily="34" charset="0"/>
                <a:ea typeface="Cambria" pitchFamily="34" charset="-122"/>
                <a:cs typeface="Cambria" pitchFamily="34" charset="-120"/>
              </a:rPr>
              <a:t>91.1%</a:t>
            </a:r>
            <a:endParaRPr lang="en-US" sz="2200" dirty="0"/>
          </a:p>
        </p:txBody>
      </p:sp>
      <p:sp>
        <p:nvSpPr>
          <p:cNvPr id="25" name="Text 23"/>
          <p:cNvSpPr/>
          <p:nvPr/>
        </p:nvSpPr>
        <p:spPr>
          <a:xfrm>
            <a:off x="5806440" y="4334256"/>
            <a:ext cx="2880360" cy="329184"/>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Churners our model</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identifies in advance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0A2342"/>
                </a:solidFill>
                <a:latin typeface="Cambria" pitchFamily="34" charset="0"/>
                <a:ea typeface="Cambria" pitchFamily="34" charset="-122"/>
                <a:cs typeface="Cambria" pitchFamily="34" charset="-120"/>
              </a:rPr>
              <a:t>The Hidden Driver: Device Age is the #1 Churn Trigger</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0891B2"/>
                </a:solidFill>
                <a:latin typeface="Calibri" pitchFamily="34" charset="0"/>
                <a:ea typeface="Calibri" pitchFamily="34" charset="-122"/>
                <a:cs typeface="Calibri" pitchFamily="34" charset="-120"/>
              </a:rPr>
              <a:t>Churn rate increases non-linearly once a handset exceeds 12 months — this is the exploitable threshold</a:t>
            </a:r>
            <a:endParaRPr lang="en-US" sz="1300" dirty="0"/>
          </a:p>
        </p:txBody>
      </p:sp>
      <p:graphicFrame>
        <p:nvGraphicFramePr>
          <p:cNvPr id="4" name="Chart 0" descr=""/>
          <p:cNvGraphicFramePr/>
          <p:nvPr/>
        </p:nvGraphicFramePr>
        <p:xfrm>
          <a:off x="320040" y="1078992"/>
          <a:ext cx="530352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1078992"/>
            <a:ext cx="3063240" cy="1463040"/>
          </a:xfrm>
          <a:prstGeom prst="roundRect">
            <a:avLst>
              <a:gd name="adj" fmla="val 6250"/>
            </a:avLst>
          </a:prstGeom>
          <a:solidFill>
            <a:srgbClr val="FFF4E6"/>
          </a:solidFill>
          <a:ln/>
          <a:effectLst>
            <a:outerShdw sx="100000" sy="100000" kx="0" ky="0" algn="bl" rotWithShape="0" blurRad="101600" dist="38100" dir="2700000">
              <a:srgbClr val="000000">
                <a:alpha val="12000"/>
              </a:srgbClr>
            </a:outerShdw>
          </a:effectLst>
        </p:spPr>
      </p:sp>
      <p:sp>
        <p:nvSpPr>
          <p:cNvPr id="6" name="Text 3"/>
          <p:cNvSpPr/>
          <p:nvPr/>
        </p:nvSpPr>
        <p:spPr>
          <a:xfrm>
            <a:off x="5897880" y="1170432"/>
            <a:ext cx="2788920" cy="256032"/>
          </a:xfrm>
          <a:prstGeom prst="rect">
            <a:avLst/>
          </a:prstGeom>
          <a:noFill/>
          <a:ln/>
        </p:spPr>
        <p:txBody>
          <a:bodyPr wrap="square" lIns="0" tIns="0" rIns="0" bIns="0" rtlCol="0" anchor="ctr"/>
          <a:lstStyle/>
          <a:p>
            <a:pPr algn="l" indent="0" marL="0">
              <a:buNone/>
            </a:pPr>
            <a:r>
              <a:rPr lang="en-US" sz="1100" b="1" dirty="0">
                <a:solidFill>
                  <a:srgbClr val="C05621"/>
                </a:solidFill>
                <a:latin typeface="Cambria" pitchFamily="34" charset="0"/>
                <a:ea typeface="Cambria" pitchFamily="34" charset="-122"/>
                <a:cs typeface="Cambria" pitchFamily="34" charset="-120"/>
              </a:rPr>
              <a:t>⚠  Critical Threshold</a:t>
            </a:r>
            <a:endParaRPr lang="en-US" sz="1100" dirty="0"/>
          </a:p>
        </p:txBody>
      </p:sp>
      <p:sp>
        <p:nvSpPr>
          <p:cNvPr id="7" name="Text 4"/>
          <p:cNvSpPr/>
          <p:nvPr/>
        </p:nvSpPr>
        <p:spPr>
          <a:xfrm>
            <a:off x="5897880" y="1463040"/>
            <a:ext cx="2788920" cy="960120"/>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Churn probability almost TRIPLES once a device crosses the 365-day mark. This is not gradual — it is a cliff edge in subscriber behaviour.</a:t>
            </a:r>
            <a:endParaRPr lang="en-US" sz="1050" dirty="0"/>
          </a:p>
        </p:txBody>
      </p:sp>
      <p:sp>
        <p:nvSpPr>
          <p:cNvPr id="8" name="Shape 5"/>
          <p:cNvSpPr/>
          <p:nvPr/>
        </p:nvSpPr>
        <p:spPr>
          <a:xfrm>
            <a:off x="5760720" y="2743200"/>
            <a:ext cx="3063240" cy="658368"/>
          </a:xfrm>
          <a:prstGeom prst="roundRect">
            <a:avLst>
              <a:gd name="adj" fmla="val 11111"/>
            </a:avLst>
          </a:prstGeom>
          <a:solidFill>
            <a:srgbClr val="FFFFFF"/>
          </a:solidFill>
          <a:ln/>
          <a:effectLst>
            <a:outerShdw sx="100000" sy="100000" kx="0" ky="0" algn="bl" rotWithShape="0" blurRad="101600" dist="38100" dir="2700000">
              <a:srgbClr val="000000">
                <a:alpha val="12000"/>
              </a:srgbClr>
            </a:outerShdw>
          </a:effectLst>
        </p:spPr>
      </p:sp>
      <p:sp>
        <p:nvSpPr>
          <p:cNvPr id="9" name="Text 6"/>
          <p:cNvSpPr/>
          <p:nvPr/>
        </p:nvSpPr>
        <p:spPr>
          <a:xfrm>
            <a:off x="5897880" y="2798064"/>
            <a:ext cx="1005840" cy="530352"/>
          </a:xfrm>
          <a:prstGeom prst="rect">
            <a:avLst/>
          </a:prstGeom>
          <a:noFill/>
          <a:ln/>
        </p:spPr>
        <p:txBody>
          <a:bodyPr wrap="square" lIns="0" tIns="0" rIns="0" bIns="0" rtlCol="0" anchor="ctr"/>
          <a:lstStyle/>
          <a:p>
            <a:pPr algn="ctr" indent="0" marL="0">
              <a:buNone/>
            </a:pPr>
            <a:r>
              <a:rPr lang="en-US" sz="2000" b="1" dirty="0">
                <a:solidFill>
                  <a:srgbClr val="EF4444"/>
                </a:solidFill>
                <a:latin typeface="Cambria" pitchFamily="34" charset="0"/>
                <a:ea typeface="Cambria" pitchFamily="34" charset="-122"/>
                <a:cs typeface="Cambria" pitchFamily="34" charset="-120"/>
              </a:rPr>
              <a:t>3.5×</a:t>
            </a:r>
            <a:endParaRPr lang="en-US" sz="2000" dirty="0"/>
          </a:p>
        </p:txBody>
      </p:sp>
      <p:sp>
        <p:nvSpPr>
          <p:cNvPr id="10" name="Text 7"/>
          <p:cNvSpPr/>
          <p:nvPr/>
        </p:nvSpPr>
        <p:spPr>
          <a:xfrm>
            <a:off x="6949440" y="2798064"/>
            <a:ext cx="1755648" cy="530352"/>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Higher churn rate:</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365+ vs &lt;180 days</a:t>
            </a:r>
            <a:endParaRPr lang="en-US" sz="1050" dirty="0"/>
          </a:p>
        </p:txBody>
      </p:sp>
      <p:sp>
        <p:nvSpPr>
          <p:cNvPr id="11" name="Shape 8"/>
          <p:cNvSpPr/>
          <p:nvPr/>
        </p:nvSpPr>
        <p:spPr>
          <a:xfrm>
            <a:off x="5760720" y="3547872"/>
            <a:ext cx="3063240" cy="658368"/>
          </a:xfrm>
          <a:prstGeom prst="roundRect">
            <a:avLst>
              <a:gd name="adj" fmla="val 11111"/>
            </a:avLst>
          </a:prstGeom>
          <a:solidFill>
            <a:srgbClr val="FFFFFF"/>
          </a:solidFill>
          <a:ln/>
          <a:effectLst>
            <a:outerShdw sx="100000" sy="100000" kx="0" ky="0" algn="bl" rotWithShape="0" blurRad="101600" dist="38100" dir="2700000">
              <a:srgbClr val="000000">
                <a:alpha val="12000"/>
              </a:srgbClr>
            </a:outerShdw>
          </a:effectLst>
        </p:spPr>
      </p:sp>
      <p:sp>
        <p:nvSpPr>
          <p:cNvPr id="12" name="Text 9"/>
          <p:cNvSpPr/>
          <p:nvPr/>
        </p:nvSpPr>
        <p:spPr>
          <a:xfrm>
            <a:off x="5897880" y="3602736"/>
            <a:ext cx="1005840" cy="530352"/>
          </a:xfrm>
          <a:prstGeom prst="rect">
            <a:avLst/>
          </a:prstGeom>
          <a:noFill/>
          <a:ln/>
        </p:spPr>
        <p:txBody>
          <a:bodyPr wrap="square" lIns="0" tIns="0" rIns="0" bIns="0" rtlCol="0" anchor="ctr"/>
          <a:lstStyle/>
          <a:p>
            <a:pPr algn="ctr" indent="0" marL="0">
              <a:buNone/>
            </a:pPr>
            <a:r>
              <a:rPr lang="en-US" sz="2000" b="1" dirty="0">
                <a:solidFill>
                  <a:srgbClr val="0891B2"/>
                </a:solidFill>
                <a:latin typeface="Cambria" pitchFamily="34" charset="0"/>
                <a:ea typeface="Cambria" pitchFamily="34" charset="-122"/>
                <a:cs typeface="Cambria" pitchFamily="34" charset="-120"/>
              </a:rPr>
              <a:t>Day 350</a:t>
            </a:r>
            <a:endParaRPr lang="en-US" sz="2000" dirty="0"/>
          </a:p>
        </p:txBody>
      </p:sp>
      <p:sp>
        <p:nvSpPr>
          <p:cNvPr id="13" name="Text 10"/>
          <p:cNvSpPr/>
          <p:nvPr/>
        </p:nvSpPr>
        <p:spPr>
          <a:xfrm>
            <a:off x="6949440" y="3602736"/>
            <a:ext cx="1755648" cy="530352"/>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Optimal intervention</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window</a:t>
            </a:r>
            <a:endParaRPr lang="en-US" sz="1050" dirty="0"/>
          </a:p>
        </p:txBody>
      </p:sp>
      <p:sp>
        <p:nvSpPr>
          <p:cNvPr id="14" name="Shape 11"/>
          <p:cNvSpPr/>
          <p:nvPr/>
        </p:nvSpPr>
        <p:spPr>
          <a:xfrm>
            <a:off x="5760720" y="4352544"/>
            <a:ext cx="3063240" cy="658368"/>
          </a:xfrm>
          <a:prstGeom prst="roundRect">
            <a:avLst>
              <a:gd name="adj" fmla="val 11111"/>
            </a:avLst>
          </a:prstGeom>
          <a:solidFill>
            <a:srgbClr val="FFFFFF"/>
          </a:solidFill>
          <a:ln/>
          <a:effectLst>
            <a:outerShdw sx="100000" sy="100000" kx="0" ky="0" algn="bl" rotWithShape="0" blurRad="101600" dist="38100" dir="2700000">
              <a:srgbClr val="000000">
                <a:alpha val="12000"/>
              </a:srgbClr>
            </a:outerShdw>
          </a:effectLst>
        </p:spPr>
      </p:sp>
      <p:sp>
        <p:nvSpPr>
          <p:cNvPr id="15" name="Text 12"/>
          <p:cNvSpPr/>
          <p:nvPr/>
        </p:nvSpPr>
        <p:spPr>
          <a:xfrm>
            <a:off x="5897880" y="4407408"/>
            <a:ext cx="1005840" cy="530352"/>
          </a:xfrm>
          <a:prstGeom prst="rect">
            <a:avLst/>
          </a:prstGeom>
          <a:noFill/>
          <a:ln/>
        </p:spPr>
        <p:txBody>
          <a:bodyPr wrap="square" lIns="0" tIns="0" rIns="0" bIns="0" rtlCol="0" anchor="ctr"/>
          <a:lstStyle/>
          <a:p>
            <a:pPr algn="ctr" indent="0" marL="0">
              <a:buNone/>
            </a:pPr>
            <a:r>
              <a:rPr lang="en-US" sz="2000" b="1" dirty="0">
                <a:solidFill>
                  <a:srgbClr val="EF4444"/>
                </a:solidFill>
                <a:latin typeface="Cambria" pitchFamily="34" charset="0"/>
                <a:ea typeface="Cambria" pitchFamily="34" charset="-122"/>
                <a:cs typeface="Cambria" pitchFamily="34" charset="-120"/>
              </a:rPr>
              <a:t>41.3%</a:t>
            </a:r>
            <a:endParaRPr lang="en-US" sz="2000" dirty="0"/>
          </a:p>
        </p:txBody>
      </p:sp>
      <p:sp>
        <p:nvSpPr>
          <p:cNvPr id="16" name="Text 13"/>
          <p:cNvSpPr/>
          <p:nvPr/>
        </p:nvSpPr>
        <p:spPr>
          <a:xfrm>
            <a:off x="6949440" y="4407408"/>
            <a:ext cx="1755648" cy="530352"/>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Churn rate for</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730+ day devices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342"/>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Data Architecture: A Customer-Grain Intelligence Platform</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22D3EE"/>
                </a:solidFill>
                <a:latin typeface="Calibri" pitchFamily="34" charset="0"/>
                <a:ea typeface="Calibri" pitchFamily="34" charset="-122"/>
                <a:cs typeface="Calibri" pitchFamily="34" charset="-120"/>
              </a:rPr>
              <a:t>Merging behavioural and account data into a single, leakage-free modeling frame</a:t>
            </a:r>
            <a:endParaRPr lang="en-US" sz="1300" dirty="0"/>
          </a:p>
        </p:txBody>
      </p:sp>
      <p:sp>
        <p:nvSpPr>
          <p:cNvPr id="4" name="Shape 2"/>
          <p:cNvSpPr/>
          <p:nvPr/>
        </p:nvSpPr>
        <p:spPr>
          <a:xfrm>
            <a:off x="274320" y="1143000"/>
            <a:ext cx="1572768" cy="2560320"/>
          </a:xfrm>
          <a:prstGeom prst="roundRect">
            <a:avLst>
              <a:gd name="adj" fmla="val 5814"/>
            </a:avLst>
          </a:prstGeom>
          <a:solidFill>
            <a:srgbClr val="0D5F82"/>
          </a:solidFill>
          <a:ln/>
          <a:effectLst>
            <a:outerShdw sx="100000" sy="100000" kx="0" ky="0" algn="bl" rotWithShape="0" blurRad="101600" dist="38100" dir="2700000">
              <a:srgbClr val="000000">
                <a:alpha val="12000"/>
              </a:srgbClr>
            </a:outerShdw>
          </a:effectLst>
        </p:spPr>
      </p:sp>
      <p:sp>
        <p:nvSpPr>
          <p:cNvPr id="5" name="Text 3"/>
          <p:cNvSpPr/>
          <p:nvPr/>
        </p:nvSpPr>
        <p:spPr>
          <a:xfrm>
            <a:off x="329184" y="1207008"/>
            <a:ext cx="146304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CLIENT.CSV</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(Account Data)</a:t>
            </a:r>
            <a:endParaRPr lang="en-US" sz="1100" dirty="0"/>
          </a:p>
        </p:txBody>
      </p:sp>
      <p:sp>
        <p:nvSpPr>
          <p:cNvPr id="6" name="Shape 4"/>
          <p:cNvSpPr/>
          <p:nvPr/>
        </p:nvSpPr>
        <p:spPr>
          <a:xfrm>
            <a:off x="438912" y="1920240"/>
            <a:ext cx="1243584" cy="0"/>
          </a:xfrm>
          <a:prstGeom prst="line">
            <a:avLst/>
          </a:prstGeom>
          <a:noFill/>
          <a:ln w="6350">
            <a:solidFill>
              <a:srgbClr val="22D3EE">
                <a:alpha val="60000"/>
              </a:srgbClr>
            </a:solidFill>
            <a:prstDash val="solid"/>
          </a:ln>
        </p:spPr>
      </p:sp>
      <p:sp>
        <p:nvSpPr>
          <p:cNvPr id="7" name="Text 5"/>
          <p:cNvSpPr/>
          <p:nvPr/>
        </p:nvSpPr>
        <p:spPr>
          <a:xfrm>
            <a:off x="347472" y="1993392"/>
            <a:ext cx="1426464" cy="16002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Demographics,</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Device, Tenure,</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Plan Type</a:t>
            </a:r>
            <a:endParaRPr lang="en-US" sz="1000" dirty="0"/>
          </a:p>
        </p:txBody>
      </p:sp>
      <p:sp>
        <p:nvSpPr>
          <p:cNvPr id="8" name="Text 6"/>
          <p:cNvSpPr/>
          <p:nvPr/>
        </p:nvSpPr>
        <p:spPr>
          <a:xfrm>
            <a:off x="1901952" y="2194560"/>
            <a:ext cx="274320" cy="365760"/>
          </a:xfrm>
          <a:prstGeom prst="rect">
            <a:avLst/>
          </a:prstGeom>
          <a:noFill/>
          <a:ln/>
        </p:spPr>
        <p:txBody>
          <a:bodyPr wrap="square" lIns="0" tIns="0" rIns="0" bIns="0" rtlCol="0" anchor="ctr"/>
          <a:lstStyle/>
          <a:p>
            <a:pPr algn="ctr" indent="0" marL="0">
              <a:buNone/>
            </a:pPr>
            <a:r>
              <a:rPr lang="en-US" sz="1600" dirty="0">
                <a:solidFill>
                  <a:srgbClr val="0891B2"/>
                </a:solidFill>
              </a:rPr>
              <a:t>→</a:t>
            </a:r>
            <a:endParaRPr lang="en-US" sz="1600" dirty="0"/>
          </a:p>
        </p:txBody>
      </p:sp>
      <p:sp>
        <p:nvSpPr>
          <p:cNvPr id="9" name="Shape 7"/>
          <p:cNvSpPr/>
          <p:nvPr/>
        </p:nvSpPr>
        <p:spPr>
          <a:xfrm>
            <a:off x="2011680" y="1143000"/>
            <a:ext cx="1572768" cy="2560320"/>
          </a:xfrm>
          <a:prstGeom prst="roundRect">
            <a:avLst>
              <a:gd name="adj" fmla="val 5814"/>
            </a:avLst>
          </a:prstGeom>
          <a:solidFill>
            <a:srgbClr val="0D5F82"/>
          </a:solidFill>
          <a:ln/>
          <a:effectLst>
            <a:outerShdw sx="100000" sy="100000" kx="0" ky="0" algn="bl" rotWithShape="0" blurRad="101600" dist="38100" dir="2700000">
              <a:srgbClr val="000000">
                <a:alpha val="12000"/>
              </a:srgbClr>
            </a:outerShdw>
          </a:effectLst>
        </p:spPr>
      </p:sp>
      <p:sp>
        <p:nvSpPr>
          <p:cNvPr id="10" name="Text 8"/>
          <p:cNvSpPr/>
          <p:nvPr/>
        </p:nvSpPr>
        <p:spPr>
          <a:xfrm>
            <a:off x="2066544" y="1207008"/>
            <a:ext cx="146304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RECORD.CSV</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(Behavioural)</a:t>
            </a:r>
            <a:endParaRPr lang="en-US" sz="1100" dirty="0"/>
          </a:p>
        </p:txBody>
      </p:sp>
      <p:sp>
        <p:nvSpPr>
          <p:cNvPr id="11" name="Shape 9"/>
          <p:cNvSpPr/>
          <p:nvPr/>
        </p:nvSpPr>
        <p:spPr>
          <a:xfrm>
            <a:off x="2176272" y="1920240"/>
            <a:ext cx="1243584" cy="0"/>
          </a:xfrm>
          <a:prstGeom prst="line">
            <a:avLst/>
          </a:prstGeom>
          <a:noFill/>
          <a:ln w="6350">
            <a:solidFill>
              <a:srgbClr val="22D3EE">
                <a:alpha val="60000"/>
              </a:srgbClr>
            </a:solidFill>
            <a:prstDash val="solid"/>
          </a:ln>
        </p:spPr>
      </p:sp>
      <p:sp>
        <p:nvSpPr>
          <p:cNvPr id="12" name="Text 10"/>
          <p:cNvSpPr/>
          <p:nvPr/>
        </p:nvSpPr>
        <p:spPr>
          <a:xfrm>
            <a:off x="2084832" y="1993392"/>
            <a:ext cx="1426464" cy="16002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Usage, Overage,</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CustCare, Revenue</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(Monthly Aggregates)</a:t>
            </a:r>
            <a:endParaRPr lang="en-US" sz="1000" dirty="0"/>
          </a:p>
        </p:txBody>
      </p:sp>
      <p:sp>
        <p:nvSpPr>
          <p:cNvPr id="13" name="Text 11"/>
          <p:cNvSpPr/>
          <p:nvPr/>
        </p:nvSpPr>
        <p:spPr>
          <a:xfrm>
            <a:off x="3639312" y="2194560"/>
            <a:ext cx="274320" cy="365760"/>
          </a:xfrm>
          <a:prstGeom prst="rect">
            <a:avLst/>
          </a:prstGeom>
          <a:noFill/>
          <a:ln/>
        </p:spPr>
        <p:txBody>
          <a:bodyPr wrap="square" lIns="0" tIns="0" rIns="0" bIns="0" rtlCol="0" anchor="ctr"/>
          <a:lstStyle/>
          <a:p>
            <a:pPr algn="ctr" indent="0" marL="0">
              <a:buNone/>
            </a:pPr>
            <a:r>
              <a:rPr lang="en-US" sz="1600" dirty="0">
                <a:solidFill>
                  <a:srgbClr val="0891B2"/>
                </a:solidFill>
              </a:rPr>
              <a:t>→</a:t>
            </a:r>
            <a:endParaRPr lang="en-US" sz="1600" dirty="0"/>
          </a:p>
        </p:txBody>
      </p:sp>
      <p:sp>
        <p:nvSpPr>
          <p:cNvPr id="14" name="Shape 12"/>
          <p:cNvSpPr/>
          <p:nvPr/>
        </p:nvSpPr>
        <p:spPr>
          <a:xfrm>
            <a:off x="3749040" y="1143000"/>
            <a:ext cx="1572768" cy="2560320"/>
          </a:xfrm>
          <a:prstGeom prst="roundRect">
            <a:avLst>
              <a:gd name="adj" fmla="val 5814"/>
            </a:avLst>
          </a:prstGeom>
          <a:solidFill>
            <a:srgbClr val="0D7A6D"/>
          </a:solidFill>
          <a:ln/>
          <a:effectLst>
            <a:outerShdw sx="100000" sy="100000" kx="0" ky="0" algn="bl" rotWithShape="0" blurRad="101600" dist="38100" dir="2700000">
              <a:srgbClr val="000000">
                <a:alpha val="12000"/>
              </a:srgbClr>
            </a:outerShdw>
          </a:effectLst>
        </p:spPr>
      </p:sp>
      <p:sp>
        <p:nvSpPr>
          <p:cNvPr id="15" name="Text 13"/>
          <p:cNvSpPr/>
          <p:nvPr/>
        </p:nvSpPr>
        <p:spPr>
          <a:xfrm>
            <a:off x="3803904" y="1207008"/>
            <a:ext cx="146304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MERGED FRAME</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(51K Customers)</a:t>
            </a:r>
            <a:endParaRPr lang="en-US" sz="1100" dirty="0"/>
          </a:p>
        </p:txBody>
      </p:sp>
      <p:sp>
        <p:nvSpPr>
          <p:cNvPr id="16" name="Shape 14"/>
          <p:cNvSpPr/>
          <p:nvPr/>
        </p:nvSpPr>
        <p:spPr>
          <a:xfrm>
            <a:off x="3913632" y="1920240"/>
            <a:ext cx="1243584" cy="0"/>
          </a:xfrm>
          <a:prstGeom prst="line">
            <a:avLst/>
          </a:prstGeom>
          <a:noFill/>
          <a:ln w="6350">
            <a:solidFill>
              <a:srgbClr val="22D3EE">
                <a:alpha val="60000"/>
              </a:srgbClr>
            </a:solidFill>
            <a:prstDash val="solid"/>
          </a:ln>
        </p:spPr>
      </p:sp>
      <p:sp>
        <p:nvSpPr>
          <p:cNvPr id="17" name="Text 15"/>
          <p:cNvSpPr/>
          <p:nvPr/>
        </p:nvSpPr>
        <p:spPr>
          <a:xfrm>
            <a:off x="3822192" y="1993392"/>
            <a:ext cx="1426464" cy="16002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Left-join on</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Customer_ID</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then dropped</a:t>
            </a:r>
            <a:endParaRPr lang="en-US" sz="1000" dirty="0"/>
          </a:p>
        </p:txBody>
      </p:sp>
      <p:sp>
        <p:nvSpPr>
          <p:cNvPr id="18" name="Text 16"/>
          <p:cNvSpPr/>
          <p:nvPr/>
        </p:nvSpPr>
        <p:spPr>
          <a:xfrm>
            <a:off x="5376672" y="2194560"/>
            <a:ext cx="274320" cy="365760"/>
          </a:xfrm>
          <a:prstGeom prst="rect">
            <a:avLst/>
          </a:prstGeom>
          <a:noFill/>
          <a:ln/>
        </p:spPr>
        <p:txBody>
          <a:bodyPr wrap="square" lIns="0" tIns="0" rIns="0" bIns="0" rtlCol="0" anchor="ctr"/>
          <a:lstStyle/>
          <a:p>
            <a:pPr algn="ctr" indent="0" marL="0">
              <a:buNone/>
            </a:pPr>
            <a:r>
              <a:rPr lang="en-US" sz="1600" dirty="0">
                <a:solidFill>
                  <a:srgbClr val="0891B2"/>
                </a:solidFill>
              </a:rPr>
              <a:t>→</a:t>
            </a:r>
            <a:endParaRPr lang="en-US" sz="1600" dirty="0"/>
          </a:p>
        </p:txBody>
      </p:sp>
      <p:sp>
        <p:nvSpPr>
          <p:cNvPr id="19" name="Shape 17"/>
          <p:cNvSpPr/>
          <p:nvPr/>
        </p:nvSpPr>
        <p:spPr>
          <a:xfrm>
            <a:off x="5486400" y="1143000"/>
            <a:ext cx="1572768" cy="2560320"/>
          </a:xfrm>
          <a:prstGeom prst="roundRect">
            <a:avLst>
              <a:gd name="adj" fmla="val 5814"/>
            </a:avLst>
          </a:prstGeom>
          <a:solidFill>
            <a:srgbClr val="065A82"/>
          </a:solidFill>
          <a:ln/>
          <a:effectLst>
            <a:outerShdw sx="100000" sy="100000" kx="0" ky="0" algn="bl" rotWithShape="0" blurRad="101600" dist="38100" dir="2700000">
              <a:srgbClr val="000000">
                <a:alpha val="12000"/>
              </a:srgbClr>
            </a:outerShdw>
          </a:effectLst>
        </p:spPr>
      </p:sp>
      <p:sp>
        <p:nvSpPr>
          <p:cNvPr id="20" name="Text 18"/>
          <p:cNvSpPr/>
          <p:nvPr/>
        </p:nvSpPr>
        <p:spPr>
          <a:xfrm>
            <a:off x="5541264" y="1207008"/>
            <a:ext cx="146304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FEATURE LAYER</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(14 Features)</a:t>
            </a:r>
            <a:endParaRPr lang="en-US" sz="1100" dirty="0"/>
          </a:p>
        </p:txBody>
      </p:sp>
      <p:sp>
        <p:nvSpPr>
          <p:cNvPr id="21" name="Shape 19"/>
          <p:cNvSpPr/>
          <p:nvPr/>
        </p:nvSpPr>
        <p:spPr>
          <a:xfrm>
            <a:off x="5650992" y="1920240"/>
            <a:ext cx="1243584" cy="0"/>
          </a:xfrm>
          <a:prstGeom prst="line">
            <a:avLst/>
          </a:prstGeom>
          <a:noFill/>
          <a:ln w="6350">
            <a:solidFill>
              <a:srgbClr val="22D3EE">
                <a:alpha val="60000"/>
              </a:srgbClr>
            </a:solidFill>
            <a:prstDash val="solid"/>
          </a:ln>
        </p:spPr>
      </p:sp>
      <p:sp>
        <p:nvSpPr>
          <p:cNvPr id="22" name="Text 20"/>
          <p:cNvSpPr/>
          <p:nvPr/>
        </p:nvSpPr>
        <p:spPr>
          <a:xfrm>
            <a:off x="5559552" y="1993392"/>
            <a:ext cx="1426464" cy="16002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12 engineered +</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2 segmentation</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clusters</a:t>
            </a:r>
            <a:endParaRPr lang="en-US" sz="1000" dirty="0"/>
          </a:p>
        </p:txBody>
      </p:sp>
      <p:sp>
        <p:nvSpPr>
          <p:cNvPr id="23" name="Text 21"/>
          <p:cNvSpPr/>
          <p:nvPr/>
        </p:nvSpPr>
        <p:spPr>
          <a:xfrm>
            <a:off x="7114032" y="2194560"/>
            <a:ext cx="274320" cy="365760"/>
          </a:xfrm>
          <a:prstGeom prst="rect">
            <a:avLst/>
          </a:prstGeom>
          <a:noFill/>
          <a:ln/>
        </p:spPr>
        <p:txBody>
          <a:bodyPr wrap="square" lIns="0" tIns="0" rIns="0" bIns="0" rtlCol="0" anchor="ctr"/>
          <a:lstStyle/>
          <a:p>
            <a:pPr algn="ctr" indent="0" marL="0">
              <a:buNone/>
            </a:pPr>
            <a:r>
              <a:rPr lang="en-US" sz="1600" dirty="0">
                <a:solidFill>
                  <a:srgbClr val="0891B2"/>
                </a:solidFill>
              </a:rPr>
              <a:t>→</a:t>
            </a:r>
            <a:endParaRPr lang="en-US" sz="1600" dirty="0"/>
          </a:p>
        </p:txBody>
      </p:sp>
      <p:sp>
        <p:nvSpPr>
          <p:cNvPr id="24" name="Shape 22"/>
          <p:cNvSpPr/>
          <p:nvPr/>
        </p:nvSpPr>
        <p:spPr>
          <a:xfrm>
            <a:off x="7223760" y="1143000"/>
            <a:ext cx="1572768" cy="2560320"/>
          </a:xfrm>
          <a:prstGeom prst="roundRect">
            <a:avLst>
              <a:gd name="adj" fmla="val 5814"/>
            </a:avLst>
          </a:prstGeom>
          <a:solidFill>
            <a:srgbClr val="044B70"/>
          </a:solidFill>
          <a:ln/>
          <a:effectLst>
            <a:outerShdw sx="100000" sy="100000" kx="0" ky="0" algn="bl" rotWithShape="0" blurRad="101600" dist="38100" dir="2700000">
              <a:srgbClr val="000000">
                <a:alpha val="12000"/>
              </a:srgbClr>
            </a:outerShdw>
          </a:effectLst>
        </p:spPr>
      </p:sp>
      <p:sp>
        <p:nvSpPr>
          <p:cNvPr id="25" name="Text 23"/>
          <p:cNvSpPr/>
          <p:nvPr/>
        </p:nvSpPr>
        <p:spPr>
          <a:xfrm>
            <a:off x="7278624" y="1207008"/>
            <a:ext cx="146304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MODEL READY</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(Train / Val / Test)</a:t>
            </a:r>
            <a:endParaRPr lang="en-US" sz="1100" dirty="0"/>
          </a:p>
        </p:txBody>
      </p:sp>
      <p:sp>
        <p:nvSpPr>
          <p:cNvPr id="26" name="Shape 24"/>
          <p:cNvSpPr/>
          <p:nvPr/>
        </p:nvSpPr>
        <p:spPr>
          <a:xfrm>
            <a:off x="7388352" y="1920240"/>
            <a:ext cx="1243584" cy="0"/>
          </a:xfrm>
          <a:prstGeom prst="line">
            <a:avLst/>
          </a:prstGeom>
          <a:noFill/>
          <a:ln w="6350">
            <a:solidFill>
              <a:srgbClr val="22D3EE">
                <a:alpha val="60000"/>
              </a:srgbClr>
            </a:solidFill>
            <a:prstDash val="solid"/>
          </a:ln>
        </p:spPr>
      </p:sp>
      <p:sp>
        <p:nvSpPr>
          <p:cNvPr id="27" name="Text 25"/>
          <p:cNvSpPr/>
          <p:nvPr/>
        </p:nvSpPr>
        <p:spPr>
          <a:xfrm>
            <a:off x="7296912" y="1993392"/>
            <a:ext cx="1426464" cy="1600200"/>
          </a:xfrm>
          <a:prstGeom prst="rect">
            <a:avLst/>
          </a:prstGeom>
          <a:noFill/>
          <a:ln/>
        </p:spPr>
        <p:txBody>
          <a:bodyPr wrap="square" lIns="0" tIns="0" rIns="0" bIns="0"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64 / 16 / 20</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Stratified split</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No leakage</a:t>
            </a:r>
            <a:endParaRPr lang="en-US" sz="1000" dirty="0"/>
          </a:p>
        </p:txBody>
      </p:sp>
      <p:sp>
        <p:nvSpPr>
          <p:cNvPr id="28" name="Shape 26"/>
          <p:cNvSpPr/>
          <p:nvPr/>
        </p:nvSpPr>
        <p:spPr>
          <a:xfrm>
            <a:off x="274320" y="3913632"/>
            <a:ext cx="8595360" cy="1005840"/>
          </a:xfrm>
          <a:prstGeom prst="roundRect">
            <a:avLst>
              <a:gd name="adj" fmla="val 7273"/>
            </a:avLst>
          </a:prstGeom>
          <a:solidFill>
            <a:srgbClr val="0A2E4A"/>
          </a:solidFill>
          <a:ln/>
          <a:effectLst>
            <a:outerShdw sx="100000" sy="100000" kx="0" ky="0" algn="bl" rotWithShape="0" blurRad="101600" dist="38100" dir="2700000">
              <a:srgbClr val="000000">
                <a:alpha val="12000"/>
              </a:srgbClr>
            </a:outerShdw>
          </a:effectLst>
        </p:spPr>
      </p:sp>
      <p:sp>
        <p:nvSpPr>
          <p:cNvPr id="29" name="Text 27"/>
          <p:cNvSpPr/>
          <p:nvPr/>
        </p:nvSpPr>
        <p:spPr>
          <a:xfrm>
            <a:off x="457200" y="4041648"/>
            <a:ext cx="8229600" cy="676656"/>
          </a:xfrm>
          <a:prstGeom prst="rect">
            <a:avLst/>
          </a:prstGeom>
          <a:noFill/>
          <a:ln/>
        </p:spPr>
        <p:txBody>
          <a:bodyPr wrap="square" lIns="0" tIns="0" rIns="0" bIns="0" rtlCol="0" anchor="ctr"/>
          <a:lstStyle/>
          <a:p>
            <a:pPr algn="l" indent="0" marL="0">
              <a:buNone/>
            </a:pPr>
            <a:r>
              <a:rPr lang="en-US" sz="1050" dirty="0">
                <a:solidFill>
                  <a:srgbClr val="22D3EE"/>
                </a:solidFill>
                <a:latin typeface="Calibri" pitchFamily="34" charset="0"/>
                <a:ea typeface="Calibri" pitchFamily="34" charset="-122"/>
                <a:cs typeface="Calibri" pitchFamily="34" charset="-120"/>
              </a:rPr>
              <a:t>✓  Zero data leakage (Customer_ID dropped post-merge)    ✓  Missing values: domain-aware zero-fill for roaming &amp; overage    ✓  Churn rate preserved across all splits (stratified sampling)    ✓  Reproducible via fixed seed — fully auditable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0A2342"/>
                </a:solidFill>
                <a:latin typeface="Cambria" pitchFamily="34" charset="0"/>
                <a:ea typeface="Cambria" pitchFamily="34" charset="-122"/>
                <a:cs typeface="Cambria" pitchFamily="34" charset="-120"/>
              </a:rPr>
              <a:t>Feature Engineering: Translating Data into Business Intelligence</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0891B2"/>
                </a:solidFill>
                <a:latin typeface="Calibri" pitchFamily="34" charset="0"/>
                <a:ea typeface="Calibri" pitchFamily="34" charset="-122"/>
                <a:cs typeface="Calibri" pitchFamily="34" charset="-120"/>
              </a:rPr>
              <a:t>14 custom features convert raw telemetry into actionable retention signals</a:t>
            </a:r>
            <a:endParaRPr lang="en-US" sz="1300" dirty="0"/>
          </a:p>
        </p:txBody>
      </p:sp>
      <p:sp>
        <p:nvSpPr>
          <p:cNvPr id="4" name="Shape 2"/>
          <p:cNvSpPr/>
          <p:nvPr/>
        </p:nvSpPr>
        <p:spPr>
          <a:xfrm>
            <a:off x="274320" y="1115568"/>
            <a:ext cx="2788920" cy="347472"/>
          </a:xfrm>
          <a:prstGeom prst="roundRect">
            <a:avLst>
              <a:gd name="adj" fmla="val 15789"/>
            </a:avLst>
          </a:prstGeom>
          <a:solidFill>
            <a:srgbClr val="0891B2"/>
          </a:solidFill>
          <a:ln/>
        </p:spPr>
      </p:sp>
      <p:sp>
        <p:nvSpPr>
          <p:cNvPr id="5" name="Text 3"/>
          <p:cNvSpPr/>
          <p:nvPr/>
        </p:nvSpPr>
        <p:spPr>
          <a:xfrm>
            <a:off x="365760" y="1133856"/>
            <a:ext cx="26060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Device Lifecycle</a:t>
            </a:r>
            <a:endParaRPr lang="en-US" sz="1150" dirty="0"/>
          </a:p>
        </p:txBody>
      </p:sp>
      <p:sp>
        <p:nvSpPr>
          <p:cNvPr id="6" name="Shape 4"/>
          <p:cNvSpPr/>
          <p:nvPr/>
        </p:nvSpPr>
        <p:spPr>
          <a:xfrm>
            <a:off x="274320" y="1572768"/>
            <a:ext cx="2788920" cy="1005840"/>
          </a:xfrm>
          <a:prstGeom prst="roundRect">
            <a:avLst>
              <a:gd name="adj" fmla="val 7273"/>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384048" y="1645920"/>
            <a:ext cx="2569464" cy="219456"/>
          </a:xfrm>
          <a:prstGeom prst="rect">
            <a:avLst/>
          </a:prstGeom>
          <a:noFill/>
          <a:ln/>
        </p:spPr>
        <p:txBody>
          <a:bodyPr wrap="square" lIns="0" tIns="0" rIns="0" bIns="0" rtlCol="0" anchor="ctr"/>
          <a:lstStyle/>
          <a:p>
            <a:pPr algn="l" indent="0" marL="0">
              <a:buNone/>
            </a:pPr>
            <a:r>
              <a:rPr lang="en-US" sz="1050" b="1" dirty="0">
                <a:solidFill>
                  <a:srgbClr val="0891B2"/>
                </a:solidFill>
                <a:latin typeface="Cambria" pitchFamily="34" charset="0"/>
                <a:ea typeface="Cambria" pitchFamily="34" charset="-122"/>
                <a:cs typeface="Cambria" pitchFamily="34" charset="-120"/>
              </a:rPr>
              <a:t>device_age_band</a:t>
            </a:r>
            <a:endParaRPr lang="en-US" sz="1050" dirty="0"/>
          </a:p>
        </p:txBody>
      </p:sp>
      <p:sp>
        <p:nvSpPr>
          <p:cNvPr id="8" name="Text 6"/>
          <p:cNvSpPr/>
          <p:nvPr/>
        </p:nvSpPr>
        <p:spPr>
          <a:xfrm>
            <a:off x="384048" y="1901952"/>
            <a:ext cx="2569464" cy="62179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Bins handset age into &lt;180 / 180–365 / 365–730 / 730+ days — captures the non-linear churn threshold</a:t>
            </a:r>
            <a:endParaRPr lang="en-US" sz="1000" dirty="0"/>
          </a:p>
        </p:txBody>
      </p:sp>
      <p:sp>
        <p:nvSpPr>
          <p:cNvPr id="9" name="Shape 7"/>
          <p:cNvSpPr/>
          <p:nvPr/>
        </p:nvSpPr>
        <p:spPr>
          <a:xfrm>
            <a:off x="274320" y="2688336"/>
            <a:ext cx="2788920" cy="1005840"/>
          </a:xfrm>
          <a:prstGeom prst="roundRect">
            <a:avLst>
              <a:gd name="adj" fmla="val 7273"/>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384048" y="2761488"/>
            <a:ext cx="2569464" cy="219456"/>
          </a:xfrm>
          <a:prstGeom prst="rect">
            <a:avLst/>
          </a:prstGeom>
          <a:noFill/>
          <a:ln/>
        </p:spPr>
        <p:txBody>
          <a:bodyPr wrap="square" lIns="0" tIns="0" rIns="0" bIns="0" rtlCol="0" anchor="ctr"/>
          <a:lstStyle/>
          <a:p>
            <a:pPr algn="l" indent="0" marL="0">
              <a:buNone/>
            </a:pPr>
            <a:r>
              <a:rPr lang="en-US" sz="1050" b="1" dirty="0">
                <a:solidFill>
                  <a:srgbClr val="0891B2"/>
                </a:solidFill>
                <a:latin typeface="Cambria" pitchFamily="34" charset="0"/>
                <a:ea typeface="Cambria" pitchFamily="34" charset="-122"/>
                <a:cs typeface="Cambria" pitchFamily="34" charset="-120"/>
              </a:rPr>
              <a:t>eqpdays (raw)</a:t>
            </a:r>
            <a:endParaRPr lang="en-US" sz="1050" dirty="0"/>
          </a:p>
        </p:txBody>
      </p:sp>
      <p:sp>
        <p:nvSpPr>
          <p:cNvPr id="11" name="Text 9"/>
          <p:cNvSpPr/>
          <p:nvPr/>
        </p:nvSpPr>
        <p:spPr>
          <a:xfrm>
            <a:off x="384048" y="3017520"/>
            <a:ext cx="2569464" cy="62179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Equipment age in days — the single highest-importance feature in the model</a:t>
            </a:r>
            <a:endParaRPr lang="en-US" sz="1000" dirty="0"/>
          </a:p>
        </p:txBody>
      </p:sp>
      <p:sp>
        <p:nvSpPr>
          <p:cNvPr id="12" name="Shape 10"/>
          <p:cNvSpPr/>
          <p:nvPr/>
        </p:nvSpPr>
        <p:spPr>
          <a:xfrm>
            <a:off x="3246120" y="1115568"/>
            <a:ext cx="2788920" cy="347472"/>
          </a:xfrm>
          <a:prstGeom prst="roundRect">
            <a:avLst>
              <a:gd name="adj" fmla="val 15789"/>
            </a:avLst>
          </a:prstGeom>
          <a:solidFill>
            <a:srgbClr val="0D3B6B"/>
          </a:solidFill>
          <a:ln/>
        </p:spPr>
      </p:sp>
      <p:sp>
        <p:nvSpPr>
          <p:cNvPr id="13" name="Text 11"/>
          <p:cNvSpPr/>
          <p:nvPr/>
        </p:nvSpPr>
        <p:spPr>
          <a:xfrm>
            <a:off x="3337560" y="1133856"/>
            <a:ext cx="26060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Revenue Intelligence</a:t>
            </a:r>
            <a:endParaRPr lang="en-US" sz="1150" dirty="0"/>
          </a:p>
        </p:txBody>
      </p:sp>
      <p:sp>
        <p:nvSpPr>
          <p:cNvPr id="14" name="Shape 12"/>
          <p:cNvSpPr/>
          <p:nvPr/>
        </p:nvSpPr>
        <p:spPr>
          <a:xfrm>
            <a:off x="3246120" y="1572768"/>
            <a:ext cx="2788920" cy="1005840"/>
          </a:xfrm>
          <a:prstGeom prst="roundRect">
            <a:avLst>
              <a:gd name="adj" fmla="val 7273"/>
            </a:avLst>
          </a:prstGeom>
          <a:solidFill>
            <a:srgbClr val="FFFFFF"/>
          </a:solidFill>
          <a:ln/>
          <a:effectLst>
            <a:outerShdw sx="100000" sy="100000" kx="0" ky="0" algn="bl" rotWithShape="0" blurRad="101600" dist="38100" dir="2700000">
              <a:srgbClr val="000000">
                <a:alpha val="12000"/>
              </a:srgbClr>
            </a:outerShdw>
          </a:effectLst>
        </p:spPr>
      </p:sp>
      <p:sp>
        <p:nvSpPr>
          <p:cNvPr id="15" name="Text 13"/>
          <p:cNvSpPr/>
          <p:nvPr/>
        </p:nvSpPr>
        <p:spPr>
          <a:xfrm>
            <a:off x="3355848" y="1645920"/>
            <a:ext cx="2569464" cy="219456"/>
          </a:xfrm>
          <a:prstGeom prst="rect">
            <a:avLst/>
          </a:prstGeom>
          <a:noFill/>
          <a:ln/>
        </p:spPr>
        <p:txBody>
          <a:bodyPr wrap="square" lIns="0" tIns="0" rIns="0" bIns="0" rtlCol="0" anchor="ctr"/>
          <a:lstStyle/>
          <a:p>
            <a:pPr algn="l" indent="0" marL="0">
              <a:buNone/>
            </a:pPr>
            <a:r>
              <a:rPr lang="en-US" sz="1050" b="1" dirty="0">
                <a:solidFill>
                  <a:srgbClr val="0D3B6B"/>
                </a:solidFill>
                <a:latin typeface="Cambria" pitchFamily="34" charset="0"/>
                <a:ea typeface="Cambria" pitchFamily="34" charset="-122"/>
                <a:cs typeface="Cambria" pitchFamily="34" charset="-120"/>
              </a:rPr>
              <a:t>clv_proxy</a:t>
            </a:r>
            <a:endParaRPr lang="en-US" sz="1050" dirty="0"/>
          </a:p>
        </p:txBody>
      </p:sp>
      <p:sp>
        <p:nvSpPr>
          <p:cNvPr id="16" name="Text 14"/>
          <p:cNvSpPr/>
          <p:nvPr/>
        </p:nvSpPr>
        <p:spPr>
          <a:xfrm>
            <a:off x="3355848" y="1901952"/>
            <a:ext cx="2569464" cy="62179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Revenue × Tenure: a historical CLV estimate for financial prioritisation of at-risk customers</a:t>
            </a:r>
            <a:endParaRPr lang="en-US" sz="1000" dirty="0"/>
          </a:p>
        </p:txBody>
      </p:sp>
      <p:sp>
        <p:nvSpPr>
          <p:cNvPr id="17" name="Shape 15"/>
          <p:cNvSpPr/>
          <p:nvPr/>
        </p:nvSpPr>
        <p:spPr>
          <a:xfrm>
            <a:off x="3246120" y="2688336"/>
            <a:ext cx="2788920" cy="1005840"/>
          </a:xfrm>
          <a:prstGeom prst="roundRect">
            <a:avLst>
              <a:gd name="adj" fmla="val 7273"/>
            </a:avLst>
          </a:prstGeom>
          <a:solidFill>
            <a:srgbClr val="FFFFFF"/>
          </a:solidFill>
          <a:ln/>
          <a:effectLst>
            <a:outerShdw sx="100000" sy="100000" kx="0" ky="0" algn="bl" rotWithShape="0" blurRad="101600" dist="38100" dir="2700000">
              <a:srgbClr val="000000">
                <a:alpha val="12000"/>
              </a:srgbClr>
            </a:outerShdw>
          </a:effectLst>
        </p:spPr>
      </p:sp>
      <p:sp>
        <p:nvSpPr>
          <p:cNvPr id="18" name="Text 16"/>
          <p:cNvSpPr/>
          <p:nvPr/>
        </p:nvSpPr>
        <p:spPr>
          <a:xfrm>
            <a:off x="3355848" y="2761488"/>
            <a:ext cx="2569464" cy="219456"/>
          </a:xfrm>
          <a:prstGeom prst="rect">
            <a:avLst/>
          </a:prstGeom>
          <a:noFill/>
          <a:ln/>
        </p:spPr>
        <p:txBody>
          <a:bodyPr wrap="square" lIns="0" tIns="0" rIns="0" bIns="0" rtlCol="0" anchor="ctr"/>
          <a:lstStyle/>
          <a:p>
            <a:pPr algn="l" indent="0" marL="0">
              <a:buNone/>
            </a:pPr>
            <a:r>
              <a:rPr lang="en-US" sz="1050" b="1" dirty="0">
                <a:solidFill>
                  <a:srgbClr val="0D3B6B"/>
                </a:solidFill>
                <a:latin typeface="Cambria" pitchFamily="34" charset="0"/>
                <a:ea typeface="Cambria" pitchFamily="34" charset="-122"/>
                <a:cs typeface="Cambria" pitchFamily="34" charset="-120"/>
              </a:rPr>
              <a:t>rev_per_mou</a:t>
            </a:r>
            <a:endParaRPr lang="en-US" sz="1050" dirty="0"/>
          </a:p>
        </p:txBody>
      </p:sp>
      <p:sp>
        <p:nvSpPr>
          <p:cNvPr id="19" name="Text 17"/>
          <p:cNvSpPr/>
          <p:nvPr/>
        </p:nvSpPr>
        <p:spPr>
          <a:xfrm>
            <a:off x="3355848" y="3017520"/>
            <a:ext cx="2569464" cy="62179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Revenue per minute of use: identifies customers paying a premium for minimal usage</a:t>
            </a:r>
            <a:endParaRPr lang="en-US" sz="1000" dirty="0"/>
          </a:p>
        </p:txBody>
      </p:sp>
      <p:sp>
        <p:nvSpPr>
          <p:cNvPr id="20" name="Shape 18"/>
          <p:cNvSpPr/>
          <p:nvPr/>
        </p:nvSpPr>
        <p:spPr>
          <a:xfrm>
            <a:off x="3246120" y="3803904"/>
            <a:ext cx="2788920" cy="1005840"/>
          </a:xfrm>
          <a:prstGeom prst="roundRect">
            <a:avLst>
              <a:gd name="adj" fmla="val 7273"/>
            </a:avLst>
          </a:prstGeom>
          <a:solidFill>
            <a:srgbClr val="FFFFFF"/>
          </a:solidFill>
          <a:ln/>
          <a:effectLst>
            <a:outerShdw sx="100000" sy="100000" kx="0" ky="0" algn="bl" rotWithShape="0" blurRad="101600" dist="38100" dir="2700000">
              <a:srgbClr val="000000">
                <a:alpha val="12000"/>
              </a:srgbClr>
            </a:outerShdw>
          </a:effectLst>
        </p:spPr>
      </p:sp>
      <p:sp>
        <p:nvSpPr>
          <p:cNvPr id="21" name="Text 19"/>
          <p:cNvSpPr/>
          <p:nvPr/>
        </p:nvSpPr>
        <p:spPr>
          <a:xfrm>
            <a:off x="3355848" y="3877056"/>
            <a:ext cx="2569464" cy="219456"/>
          </a:xfrm>
          <a:prstGeom prst="rect">
            <a:avLst/>
          </a:prstGeom>
          <a:noFill/>
          <a:ln/>
        </p:spPr>
        <p:txBody>
          <a:bodyPr wrap="square" lIns="0" tIns="0" rIns="0" bIns="0" rtlCol="0" anchor="ctr"/>
          <a:lstStyle/>
          <a:p>
            <a:pPr algn="l" indent="0" marL="0">
              <a:buNone/>
            </a:pPr>
            <a:r>
              <a:rPr lang="en-US" sz="1050" b="1" dirty="0">
                <a:solidFill>
                  <a:srgbClr val="0D3B6B"/>
                </a:solidFill>
                <a:latin typeface="Cambria" pitchFamily="34" charset="0"/>
                <a:ea typeface="Cambria" pitchFamily="34" charset="-122"/>
                <a:cs typeface="Cambria" pitchFamily="34" charset="-120"/>
              </a:rPr>
              <a:t>overage_intensity</a:t>
            </a:r>
            <a:endParaRPr lang="en-US" sz="1050" dirty="0"/>
          </a:p>
        </p:txBody>
      </p:sp>
      <p:sp>
        <p:nvSpPr>
          <p:cNvPr id="22" name="Text 20"/>
          <p:cNvSpPr/>
          <p:nvPr/>
        </p:nvSpPr>
        <p:spPr>
          <a:xfrm>
            <a:off x="3355848" y="4133088"/>
            <a:ext cx="2569464" cy="62179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Overage revenue ÷ base plan cost: bill shock severity relative to expectation</a:t>
            </a:r>
            <a:endParaRPr lang="en-US" sz="1000" dirty="0"/>
          </a:p>
        </p:txBody>
      </p:sp>
      <p:sp>
        <p:nvSpPr>
          <p:cNvPr id="23" name="Shape 21"/>
          <p:cNvSpPr/>
          <p:nvPr/>
        </p:nvSpPr>
        <p:spPr>
          <a:xfrm>
            <a:off x="6217920" y="1115568"/>
            <a:ext cx="2788920" cy="347472"/>
          </a:xfrm>
          <a:prstGeom prst="roundRect">
            <a:avLst>
              <a:gd name="adj" fmla="val 15789"/>
            </a:avLst>
          </a:prstGeom>
          <a:solidFill>
            <a:srgbClr val="EF4444"/>
          </a:solidFill>
          <a:ln/>
        </p:spPr>
      </p:sp>
      <p:sp>
        <p:nvSpPr>
          <p:cNvPr id="24" name="Text 22"/>
          <p:cNvSpPr/>
          <p:nvPr/>
        </p:nvSpPr>
        <p:spPr>
          <a:xfrm>
            <a:off x="6309360" y="1133856"/>
            <a:ext cx="26060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Friction &amp; Experience</a:t>
            </a:r>
            <a:endParaRPr lang="en-US" sz="1150" dirty="0"/>
          </a:p>
        </p:txBody>
      </p:sp>
      <p:sp>
        <p:nvSpPr>
          <p:cNvPr id="25" name="Shape 23"/>
          <p:cNvSpPr/>
          <p:nvPr/>
        </p:nvSpPr>
        <p:spPr>
          <a:xfrm>
            <a:off x="6217920" y="1572768"/>
            <a:ext cx="2788920" cy="1005840"/>
          </a:xfrm>
          <a:prstGeom prst="roundRect">
            <a:avLst>
              <a:gd name="adj" fmla="val 7273"/>
            </a:avLst>
          </a:prstGeom>
          <a:solidFill>
            <a:srgbClr val="FFFFFF"/>
          </a:solidFill>
          <a:ln/>
          <a:effectLst>
            <a:outerShdw sx="100000" sy="100000" kx="0" ky="0" algn="bl" rotWithShape="0" blurRad="101600" dist="38100" dir="2700000">
              <a:srgbClr val="000000">
                <a:alpha val="12000"/>
              </a:srgbClr>
            </a:outerShdw>
          </a:effectLst>
        </p:spPr>
      </p:sp>
      <p:sp>
        <p:nvSpPr>
          <p:cNvPr id="26" name="Text 24"/>
          <p:cNvSpPr/>
          <p:nvPr/>
        </p:nvSpPr>
        <p:spPr>
          <a:xfrm>
            <a:off x="6327648" y="1645920"/>
            <a:ext cx="2569464" cy="219456"/>
          </a:xfrm>
          <a:prstGeom prst="rect">
            <a:avLst/>
          </a:prstGeom>
          <a:noFill/>
          <a:ln/>
        </p:spPr>
        <p:txBody>
          <a:bodyPr wrap="square" lIns="0" tIns="0" rIns="0" bIns="0" rtlCol="0" anchor="ctr"/>
          <a:lstStyle/>
          <a:p>
            <a:pPr algn="l" indent="0" marL="0">
              <a:buNone/>
            </a:pPr>
            <a:r>
              <a:rPr lang="en-US" sz="1050" b="1" dirty="0">
                <a:solidFill>
                  <a:srgbClr val="EF4444"/>
                </a:solidFill>
                <a:latin typeface="Cambria" pitchFamily="34" charset="0"/>
                <a:ea typeface="Cambria" pitchFamily="34" charset="-122"/>
                <a:cs typeface="Cambria" pitchFamily="34" charset="-120"/>
              </a:rPr>
              <a:t>custcare_intensity</a:t>
            </a:r>
            <a:endParaRPr lang="en-US" sz="1050" dirty="0"/>
          </a:p>
        </p:txBody>
      </p:sp>
      <p:sp>
        <p:nvSpPr>
          <p:cNvPr id="27" name="Text 25"/>
          <p:cNvSpPr/>
          <p:nvPr/>
        </p:nvSpPr>
        <p:spPr>
          <a:xfrm>
            <a:off x="6327648" y="1901952"/>
            <a:ext cx="2569464" cy="62179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Customer care calls × tenure: lifetime friction accumulated by the subscriber</a:t>
            </a:r>
            <a:endParaRPr lang="en-US" sz="1000" dirty="0"/>
          </a:p>
        </p:txBody>
      </p:sp>
      <p:sp>
        <p:nvSpPr>
          <p:cNvPr id="28" name="Shape 26"/>
          <p:cNvSpPr/>
          <p:nvPr/>
        </p:nvSpPr>
        <p:spPr>
          <a:xfrm>
            <a:off x="6217920" y="2688336"/>
            <a:ext cx="2788920" cy="1005840"/>
          </a:xfrm>
          <a:prstGeom prst="roundRect">
            <a:avLst>
              <a:gd name="adj" fmla="val 7273"/>
            </a:avLst>
          </a:prstGeom>
          <a:solidFill>
            <a:srgbClr val="FFFFFF"/>
          </a:solidFill>
          <a:ln/>
          <a:effectLst>
            <a:outerShdw sx="100000" sy="100000" kx="0" ky="0" algn="bl" rotWithShape="0" blurRad="101600" dist="38100" dir="2700000">
              <a:srgbClr val="000000">
                <a:alpha val="12000"/>
              </a:srgbClr>
            </a:outerShdw>
          </a:effectLst>
        </p:spPr>
      </p:sp>
      <p:sp>
        <p:nvSpPr>
          <p:cNvPr id="29" name="Text 27"/>
          <p:cNvSpPr/>
          <p:nvPr/>
        </p:nvSpPr>
        <p:spPr>
          <a:xfrm>
            <a:off x="6327648" y="2761488"/>
            <a:ext cx="2569464" cy="219456"/>
          </a:xfrm>
          <a:prstGeom prst="rect">
            <a:avLst/>
          </a:prstGeom>
          <a:noFill/>
          <a:ln/>
        </p:spPr>
        <p:txBody>
          <a:bodyPr wrap="square" lIns="0" tIns="0" rIns="0" bIns="0" rtlCol="0" anchor="ctr"/>
          <a:lstStyle/>
          <a:p>
            <a:pPr algn="l" indent="0" marL="0">
              <a:buNone/>
            </a:pPr>
            <a:r>
              <a:rPr lang="en-US" sz="1050" b="1" dirty="0">
                <a:solidFill>
                  <a:srgbClr val="EF4444"/>
                </a:solidFill>
                <a:latin typeface="Cambria" pitchFamily="34" charset="0"/>
                <a:ea typeface="Cambria" pitchFamily="34" charset="-122"/>
                <a:cs typeface="Cambria" pitchFamily="34" charset="-120"/>
              </a:rPr>
              <a:t>satisfaction_proxy</a:t>
            </a:r>
            <a:endParaRPr lang="en-US" sz="1050" dirty="0"/>
          </a:p>
        </p:txBody>
      </p:sp>
      <p:sp>
        <p:nvSpPr>
          <p:cNvPr id="30" name="Text 28"/>
          <p:cNvSpPr/>
          <p:nvPr/>
        </p:nvSpPr>
        <p:spPr>
          <a:xfrm>
            <a:off x="6327648" y="3017520"/>
            <a:ext cx="2569464" cy="62179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Inverse of care × overage: a unified customer pain index</a:t>
            </a:r>
            <a:endParaRPr lang="en-US" sz="1000" dirty="0"/>
          </a:p>
        </p:txBody>
      </p:sp>
      <p:sp>
        <p:nvSpPr>
          <p:cNvPr id="31" name="Shape 29"/>
          <p:cNvSpPr/>
          <p:nvPr/>
        </p:nvSpPr>
        <p:spPr>
          <a:xfrm>
            <a:off x="6217920" y="3803904"/>
            <a:ext cx="2788920" cy="1005840"/>
          </a:xfrm>
          <a:prstGeom prst="roundRect">
            <a:avLst>
              <a:gd name="adj" fmla="val 7273"/>
            </a:avLst>
          </a:prstGeom>
          <a:solidFill>
            <a:srgbClr val="FFFFFF"/>
          </a:solidFill>
          <a:ln/>
          <a:effectLst>
            <a:outerShdw sx="100000" sy="100000" kx="0" ky="0" algn="bl" rotWithShape="0" blurRad="101600" dist="38100" dir="2700000">
              <a:srgbClr val="000000">
                <a:alpha val="12000"/>
              </a:srgbClr>
            </a:outerShdw>
          </a:effectLst>
        </p:spPr>
      </p:sp>
      <p:sp>
        <p:nvSpPr>
          <p:cNvPr id="32" name="Text 30"/>
          <p:cNvSpPr/>
          <p:nvPr/>
        </p:nvSpPr>
        <p:spPr>
          <a:xfrm>
            <a:off x="6327648" y="3877056"/>
            <a:ext cx="2569464" cy="219456"/>
          </a:xfrm>
          <a:prstGeom prst="rect">
            <a:avLst/>
          </a:prstGeom>
          <a:noFill/>
          <a:ln/>
        </p:spPr>
        <p:txBody>
          <a:bodyPr wrap="square" lIns="0" tIns="0" rIns="0" bIns="0" rtlCol="0" anchor="ctr"/>
          <a:lstStyle/>
          <a:p>
            <a:pPr algn="l" indent="0" marL="0">
              <a:buNone/>
            </a:pPr>
            <a:r>
              <a:rPr lang="en-US" sz="1050" b="1" dirty="0">
                <a:solidFill>
                  <a:srgbClr val="EF4444"/>
                </a:solidFill>
                <a:latin typeface="Cambria" pitchFamily="34" charset="0"/>
                <a:ea typeface="Cambria" pitchFamily="34" charset="-122"/>
                <a:cs typeface="Cambria" pitchFamily="34" charset="-120"/>
              </a:rPr>
              <a:t>multi_line_flag</a:t>
            </a:r>
            <a:endParaRPr lang="en-US" sz="1050" dirty="0"/>
          </a:p>
        </p:txBody>
      </p:sp>
      <p:sp>
        <p:nvSpPr>
          <p:cNvPr id="33" name="Text 31"/>
          <p:cNvSpPr/>
          <p:nvPr/>
        </p:nvSpPr>
        <p:spPr>
          <a:xfrm>
            <a:off x="6327648" y="4133088"/>
            <a:ext cx="2569464" cy="62179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Binary: 4+ line accounts churn at one-third the rate of single-line accounts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342"/>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Machine Learning Approach: A Competitive Model Tournament</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22D3EE"/>
                </a:solidFill>
                <a:latin typeface="Calibri" pitchFamily="34" charset="0"/>
                <a:ea typeface="Calibri" pitchFamily="34" charset="-122"/>
                <a:cs typeface="Calibri" pitchFamily="34" charset="-120"/>
              </a:rPr>
              <a:t>Five algorithms benchmarked. One champion selected. Rigour at every step.</a:t>
            </a:r>
            <a:endParaRPr lang="en-US" sz="1300" dirty="0"/>
          </a:p>
        </p:txBody>
      </p:sp>
      <p:sp>
        <p:nvSpPr>
          <p:cNvPr id="4" name="Shape 2"/>
          <p:cNvSpPr/>
          <p:nvPr/>
        </p:nvSpPr>
        <p:spPr>
          <a:xfrm>
            <a:off x="274320" y="1143000"/>
            <a:ext cx="2377440" cy="329184"/>
          </a:xfrm>
          <a:prstGeom prst="rect">
            <a:avLst/>
          </a:prstGeom>
          <a:solidFill>
            <a:srgbClr val="0891B2"/>
          </a:solidFill>
          <a:ln/>
        </p:spPr>
      </p:sp>
      <p:sp>
        <p:nvSpPr>
          <p:cNvPr id="5" name="Text 3"/>
          <p:cNvSpPr/>
          <p:nvPr/>
        </p:nvSpPr>
        <p:spPr>
          <a:xfrm>
            <a:off x="329184" y="1161288"/>
            <a:ext cx="2267712" cy="292608"/>
          </a:xfrm>
          <a:prstGeom prst="rect">
            <a:avLst/>
          </a:prstGeom>
          <a:noFill/>
          <a:ln/>
        </p:spPr>
        <p:txBody>
          <a:bodyPr wrap="square" lIns="0" tIns="0" rIns="0" bIns="0" rtlCol="0" anchor="ctr"/>
          <a:lstStyle/>
          <a:p>
            <a:pPr algn="l" indent="0" marL="0">
              <a:buNone/>
            </a:pPr>
            <a:r>
              <a:rPr lang="en-US" sz="1050" b="1" dirty="0">
                <a:solidFill>
                  <a:srgbClr val="FFFFFF"/>
                </a:solidFill>
                <a:latin typeface="Cambria" pitchFamily="34" charset="0"/>
                <a:ea typeface="Cambria" pitchFamily="34" charset="-122"/>
                <a:cs typeface="Cambria" pitchFamily="34" charset="-120"/>
              </a:rPr>
              <a:t>Model</a:t>
            </a:r>
            <a:endParaRPr lang="en-US" sz="1050" dirty="0"/>
          </a:p>
        </p:txBody>
      </p:sp>
      <p:sp>
        <p:nvSpPr>
          <p:cNvPr id="6" name="Shape 4"/>
          <p:cNvSpPr/>
          <p:nvPr/>
        </p:nvSpPr>
        <p:spPr>
          <a:xfrm>
            <a:off x="2688336" y="1143000"/>
            <a:ext cx="914400" cy="329184"/>
          </a:xfrm>
          <a:prstGeom prst="rect">
            <a:avLst/>
          </a:prstGeom>
          <a:solidFill>
            <a:srgbClr val="0891B2"/>
          </a:solidFill>
          <a:ln/>
        </p:spPr>
      </p:sp>
      <p:sp>
        <p:nvSpPr>
          <p:cNvPr id="7" name="Text 5"/>
          <p:cNvSpPr/>
          <p:nvPr/>
        </p:nvSpPr>
        <p:spPr>
          <a:xfrm>
            <a:off x="2743200" y="1161288"/>
            <a:ext cx="804672" cy="292608"/>
          </a:xfrm>
          <a:prstGeom prst="rect">
            <a:avLst/>
          </a:prstGeom>
          <a:noFill/>
          <a:ln/>
        </p:spPr>
        <p:txBody>
          <a:bodyPr wrap="square" lIns="0" tIns="0" rIns="0" bIns="0" rtlCol="0" anchor="ctr"/>
          <a:lstStyle/>
          <a:p>
            <a:pPr algn="l" indent="0" marL="0">
              <a:buNone/>
            </a:pPr>
            <a:r>
              <a:rPr lang="en-US" sz="1050" b="1" dirty="0">
                <a:solidFill>
                  <a:srgbClr val="FFFFFF"/>
                </a:solidFill>
                <a:latin typeface="Cambria" pitchFamily="34" charset="0"/>
                <a:ea typeface="Cambria" pitchFamily="34" charset="-122"/>
                <a:cs typeface="Cambria" pitchFamily="34" charset="-120"/>
              </a:rPr>
              <a:t>Role</a:t>
            </a:r>
            <a:endParaRPr lang="en-US" sz="1050" dirty="0"/>
          </a:p>
        </p:txBody>
      </p:sp>
      <p:sp>
        <p:nvSpPr>
          <p:cNvPr id="8" name="Shape 6"/>
          <p:cNvSpPr/>
          <p:nvPr/>
        </p:nvSpPr>
        <p:spPr>
          <a:xfrm>
            <a:off x="3639312" y="1143000"/>
            <a:ext cx="777240" cy="329184"/>
          </a:xfrm>
          <a:prstGeom prst="rect">
            <a:avLst/>
          </a:prstGeom>
          <a:solidFill>
            <a:srgbClr val="0891B2"/>
          </a:solidFill>
          <a:ln/>
        </p:spPr>
      </p:sp>
      <p:sp>
        <p:nvSpPr>
          <p:cNvPr id="9" name="Text 7"/>
          <p:cNvSpPr/>
          <p:nvPr/>
        </p:nvSpPr>
        <p:spPr>
          <a:xfrm>
            <a:off x="3694176" y="1161288"/>
            <a:ext cx="667512" cy="292608"/>
          </a:xfrm>
          <a:prstGeom prst="rect">
            <a:avLst/>
          </a:prstGeom>
          <a:noFill/>
          <a:ln/>
        </p:spPr>
        <p:txBody>
          <a:bodyPr wrap="square" lIns="0" tIns="0" rIns="0" bIns="0" rtlCol="0" anchor="ctr"/>
          <a:lstStyle/>
          <a:p>
            <a:pPr algn="l" indent="0" marL="0">
              <a:buNone/>
            </a:pPr>
            <a:r>
              <a:rPr lang="en-US" sz="1050" b="1" dirty="0">
                <a:solidFill>
                  <a:srgbClr val="FFFFFF"/>
                </a:solidFill>
                <a:latin typeface="Cambria" pitchFamily="34" charset="0"/>
                <a:ea typeface="Cambria" pitchFamily="34" charset="-122"/>
                <a:cs typeface="Cambria" pitchFamily="34" charset="-120"/>
              </a:rPr>
              <a:t>PR-AUC</a:t>
            </a:r>
            <a:endParaRPr lang="en-US" sz="1050" dirty="0"/>
          </a:p>
        </p:txBody>
      </p:sp>
      <p:sp>
        <p:nvSpPr>
          <p:cNvPr id="10" name="Shape 8"/>
          <p:cNvSpPr/>
          <p:nvPr/>
        </p:nvSpPr>
        <p:spPr>
          <a:xfrm>
            <a:off x="4453128" y="1143000"/>
            <a:ext cx="777240" cy="329184"/>
          </a:xfrm>
          <a:prstGeom prst="rect">
            <a:avLst/>
          </a:prstGeom>
          <a:solidFill>
            <a:srgbClr val="0891B2"/>
          </a:solidFill>
          <a:ln/>
        </p:spPr>
      </p:sp>
      <p:sp>
        <p:nvSpPr>
          <p:cNvPr id="11" name="Text 9"/>
          <p:cNvSpPr/>
          <p:nvPr/>
        </p:nvSpPr>
        <p:spPr>
          <a:xfrm>
            <a:off x="4507992" y="1161288"/>
            <a:ext cx="667512" cy="292608"/>
          </a:xfrm>
          <a:prstGeom prst="rect">
            <a:avLst/>
          </a:prstGeom>
          <a:noFill/>
          <a:ln/>
        </p:spPr>
        <p:txBody>
          <a:bodyPr wrap="square" lIns="0" tIns="0" rIns="0" bIns="0" rtlCol="0" anchor="ctr"/>
          <a:lstStyle/>
          <a:p>
            <a:pPr algn="l" indent="0" marL="0">
              <a:buNone/>
            </a:pPr>
            <a:r>
              <a:rPr lang="en-US" sz="1050" b="1" dirty="0">
                <a:solidFill>
                  <a:srgbClr val="FFFFFF"/>
                </a:solidFill>
                <a:latin typeface="Cambria" pitchFamily="34" charset="0"/>
                <a:ea typeface="Cambria" pitchFamily="34" charset="-122"/>
                <a:cs typeface="Cambria" pitchFamily="34" charset="-120"/>
              </a:rPr>
              <a:t>ROC-AUC</a:t>
            </a:r>
            <a:endParaRPr lang="en-US" sz="1050" dirty="0"/>
          </a:p>
        </p:txBody>
      </p:sp>
      <p:sp>
        <p:nvSpPr>
          <p:cNvPr id="12" name="Shape 10"/>
          <p:cNvSpPr/>
          <p:nvPr/>
        </p:nvSpPr>
        <p:spPr>
          <a:xfrm>
            <a:off x="5266944" y="1143000"/>
            <a:ext cx="685800" cy="329184"/>
          </a:xfrm>
          <a:prstGeom prst="rect">
            <a:avLst/>
          </a:prstGeom>
          <a:solidFill>
            <a:srgbClr val="0891B2"/>
          </a:solidFill>
          <a:ln/>
        </p:spPr>
      </p:sp>
      <p:sp>
        <p:nvSpPr>
          <p:cNvPr id="13" name="Text 11"/>
          <p:cNvSpPr/>
          <p:nvPr/>
        </p:nvSpPr>
        <p:spPr>
          <a:xfrm>
            <a:off x="5321808" y="1161288"/>
            <a:ext cx="576072" cy="292608"/>
          </a:xfrm>
          <a:prstGeom prst="rect">
            <a:avLst/>
          </a:prstGeom>
          <a:noFill/>
          <a:ln/>
        </p:spPr>
        <p:txBody>
          <a:bodyPr wrap="square" lIns="0" tIns="0" rIns="0" bIns="0" rtlCol="0" anchor="ctr"/>
          <a:lstStyle/>
          <a:p>
            <a:pPr algn="l" indent="0" marL="0">
              <a:buNone/>
            </a:pPr>
            <a:r>
              <a:rPr lang="en-US" sz="1050" b="1" dirty="0">
                <a:solidFill>
                  <a:srgbClr val="FFFFFF"/>
                </a:solidFill>
                <a:latin typeface="Cambria" pitchFamily="34" charset="0"/>
                <a:ea typeface="Cambria" pitchFamily="34" charset="-122"/>
                <a:cs typeface="Cambria" pitchFamily="34" charset="-120"/>
              </a:rPr>
              <a:t>F1</a:t>
            </a:r>
            <a:endParaRPr lang="en-US" sz="1050" dirty="0"/>
          </a:p>
        </p:txBody>
      </p:sp>
      <p:sp>
        <p:nvSpPr>
          <p:cNvPr id="14" name="Shape 12"/>
          <p:cNvSpPr/>
          <p:nvPr/>
        </p:nvSpPr>
        <p:spPr>
          <a:xfrm>
            <a:off x="5989320" y="1143000"/>
            <a:ext cx="3154680" cy="329184"/>
          </a:xfrm>
          <a:prstGeom prst="rect">
            <a:avLst/>
          </a:prstGeom>
          <a:solidFill>
            <a:srgbClr val="0891B2"/>
          </a:solidFill>
          <a:ln/>
        </p:spPr>
      </p:sp>
      <p:sp>
        <p:nvSpPr>
          <p:cNvPr id="15" name="Text 13"/>
          <p:cNvSpPr/>
          <p:nvPr/>
        </p:nvSpPr>
        <p:spPr>
          <a:xfrm>
            <a:off x="6044184" y="1161288"/>
            <a:ext cx="3044952" cy="292608"/>
          </a:xfrm>
          <a:prstGeom prst="rect">
            <a:avLst/>
          </a:prstGeom>
          <a:noFill/>
          <a:ln/>
        </p:spPr>
        <p:txBody>
          <a:bodyPr wrap="square" lIns="0" tIns="0" rIns="0" bIns="0" rtlCol="0" anchor="ctr"/>
          <a:lstStyle/>
          <a:p>
            <a:pPr algn="l" indent="0" marL="0">
              <a:buNone/>
            </a:pPr>
            <a:r>
              <a:rPr lang="en-US" sz="1050" b="1" dirty="0">
                <a:solidFill>
                  <a:srgbClr val="FFFFFF"/>
                </a:solidFill>
                <a:latin typeface="Cambria" pitchFamily="34" charset="0"/>
                <a:ea typeface="Cambria" pitchFamily="34" charset="-122"/>
                <a:cs typeface="Cambria" pitchFamily="34" charset="-120"/>
              </a:rPr>
              <a:t>Notes</a:t>
            </a:r>
            <a:endParaRPr lang="en-US" sz="1050" dirty="0"/>
          </a:p>
        </p:txBody>
      </p:sp>
      <p:sp>
        <p:nvSpPr>
          <p:cNvPr id="16" name="Shape 14"/>
          <p:cNvSpPr/>
          <p:nvPr/>
        </p:nvSpPr>
        <p:spPr>
          <a:xfrm>
            <a:off x="274320" y="1536192"/>
            <a:ext cx="2377440" cy="475488"/>
          </a:xfrm>
          <a:prstGeom prst="rect">
            <a:avLst/>
          </a:prstGeom>
          <a:solidFill>
            <a:srgbClr val="132D4B"/>
          </a:solidFill>
          <a:ln/>
        </p:spPr>
      </p:sp>
      <p:sp>
        <p:nvSpPr>
          <p:cNvPr id="17" name="Text 15"/>
          <p:cNvSpPr/>
          <p:nvPr/>
        </p:nvSpPr>
        <p:spPr>
          <a:xfrm>
            <a:off x="329184" y="1572768"/>
            <a:ext cx="226771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Logistic Regression</a:t>
            </a:r>
            <a:endParaRPr lang="en-US" sz="1000" dirty="0"/>
          </a:p>
        </p:txBody>
      </p:sp>
      <p:sp>
        <p:nvSpPr>
          <p:cNvPr id="18" name="Shape 16"/>
          <p:cNvSpPr/>
          <p:nvPr/>
        </p:nvSpPr>
        <p:spPr>
          <a:xfrm>
            <a:off x="2688336" y="1536192"/>
            <a:ext cx="914400" cy="475488"/>
          </a:xfrm>
          <a:prstGeom prst="rect">
            <a:avLst/>
          </a:prstGeom>
          <a:solidFill>
            <a:srgbClr val="132D4B"/>
          </a:solidFill>
          <a:ln/>
        </p:spPr>
      </p:sp>
      <p:sp>
        <p:nvSpPr>
          <p:cNvPr id="19" name="Text 17"/>
          <p:cNvSpPr/>
          <p:nvPr/>
        </p:nvSpPr>
        <p:spPr>
          <a:xfrm>
            <a:off x="2743200" y="1572768"/>
            <a:ext cx="80467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Baseline</a:t>
            </a:r>
            <a:endParaRPr lang="en-US" sz="1000" dirty="0"/>
          </a:p>
        </p:txBody>
      </p:sp>
      <p:sp>
        <p:nvSpPr>
          <p:cNvPr id="20" name="Shape 18"/>
          <p:cNvSpPr/>
          <p:nvPr/>
        </p:nvSpPr>
        <p:spPr>
          <a:xfrm>
            <a:off x="3639312" y="1536192"/>
            <a:ext cx="777240" cy="475488"/>
          </a:xfrm>
          <a:prstGeom prst="rect">
            <a:avLst/>
          </a:prstGeom>
          <a:solidFill>
            <a:srgbClr val="132D4B"/>
          </a:solidFill>
          <a:ln/>
        </p:spPr>
      </p:sp>
      <p:sp>
        <p:nvSpPr>
          <p:cNvPr id="21" name="Text 19"/>
          <p:cNvSpPr/>
          <p:nvPr/>
        </p:nvSpPr>
        <p:spPr>
          <a:xfrm>
            <a:off x="3694176" y="1572768"/>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0.61</a:t>
            </a:r>
            <a:endParaRPr lang="en-US" sz="1000" dirty="0"/>
          </a:p>
        </p:txBody>
      </p:sp>
      <p:sp>
        <p:nvSpPr>
          <p:cNvPr id="22" name="Shape 20"/>
          <p:cNvSpPr/>
          <p:nvPr/>
        </p:nvSpPr>
        <p:spPr>
          <a:xfrm>
            <a:off x="4453128" y="1536192"/>
            <a:ext cx="777240" cy="475488"/>
          </a:xfrm>
          <a:prstGeom prst="rect">
            <a:avLst/>
          </a:prstGeom>
          <a:solidFill>
            <a:srgbClr val="132D4B"/>
          </a:solidFill>
          <a:ln/>
        </p:spPr>
      </p:sp>
      <p:sp>
        <p:nvSpPr>
          <p:cNvPr id="23" name="Text 21"/>
          <p:cNvSpPr/>
          <p:nvPr/>
        </p:nvSpPr>
        <p:spPr>
          <a:xfrm>
            <a:off x="4507992" y="1572768"/>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0.67</a:t>
            </a:r>
            <a:endParaRPr lang="en-US" sz="1000" dirty="0"/>
          </a:p>
        </p:txBody>
      </p:sp>
      <p:sp>
        <p:nvSpPr>
          <p:cNvPr id="24" name="Shape 22"/>
          <p:cNvSpPr/>
          <p:nvPr/>
        </p:nvSpPr>
        <p:spPr>
          <a:xfrm>
            <a:off x="5266944" y="1536192"/>
            <a:ext cx="685800" cy="475488"/>
          </a:xfrm>
          <a:prstGeom prst="rect">
            <a:avLst/>
          </a:prstGeom>
          <a:solidFill>
            <a:srgbClr val="132D4B"/>
          </a:solidFill>
          <a:ln/>
        </p:spPr>
      </p:sp>
      <p:sp>
        <p:nvSpPr>
          <p:cNvPr id="25" name="Text 23"/>
          <p:cNvSpPr/>
          <p:nvPr/>
        </p:nvSpPr>
        <p:spPr>
          <a:xfrm>
            <a:off x="5321808" y="1572768"/>
            <a:ext cx="57607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0.63</a:t>
            </a:r>
            <a:endParaRPr lang="en-US" sz="1000" dirty="0"/>
          </a:p>
        </p:txBody>
      </p:sp>
      <p:sp>
        <p:nvSpPr>
          <p:cNvPr id="26" name="Shape 24"/>
          <p:cNvSpPr/>
          <p:nvPr/>
        </p:nvSpPr>
        <p:spPr>
          <a:xfrm>
            <a:off x="5989320" y="1536192"/>
            <a:ext cx="3154680" cy="475488"/>
          </a:xfrm>
          <a:prstGeom prst="rect">
            <a:avLst/>
          </a:prstGeom>
          <a:solidFill>
            <a:srgbClr val="132D4B"/>
          </a:solidFill>
          <a:ln/>
        </p:spPr>
      </p:sp>
      <p:sp>
        <p:nvSpPr>
          <p:cNvPr id="27" name="Text 25"/>
          <p:cNvSpPr/>
          <p:nvPr/>
        </p:nvSpPr>
        <p:spPr>
          <a:xfrm>
            <a:off x="6044184" y="1572768"/>
            <a:ext cx="304495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Interpretable floor — sets minimum standard</a:t>
            </a:r>
            <a:endParaRPr lang="en-US" sz="1000" dirty="0"/>
          </a:p>
        </p:txBody>
      </p:sp>
      <p:sp>
        <p:nvSpPr>
          <p:cNvPr id="28" name="Shape 26"/>
          <p:cNvSpPr/>
          <p:nvPr/>
        </p:nvSpPr>
        <p:spPr>
          <a:xfrm>
            <a:off x="274320" y="2066544"/>
            <a:ext cx="2377440" cy="475488"/>
          </a:xfrm>
          <a:prstGeom prst="rect">
            <a:avLst/>
          </a:prstGeom>
          <a:solidFill>
            <a:srgbClr val="0A2342"/>
          </a:solidFill>
          <a:ln/>
        </p:spPr>
      </p:sp>
      <p:sp>
        <p:nvSpPr>
          <p:cNvPr id="29" name="Text 27"/>
          <p:cNvSpPr/>
          <p:nvPr/>
        </p:nvSpPr>
        <p:spPr>
          <a:xfrm>
            <a:off x="329184" y="2103120"/>
            <a:ext cx="226771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Random Forest</a:t>
            </a:r>
            <a:endParaRPr lang="en-US" sz="1000" dirty="0"/>
          </a:p>
        </p:txBody>
      </p:sp>
      <p:sp>
        <p:nvSpPr>
          <p:cNvPr id="30" name="Shape 28"/>
          <p:cNvSpPr/>
          <p:nvPr/>
        </p:nvSpPr>
        <p:spPr>
          <a:xfrm>
            <a:off x="2688336" y="2066544"/>
            <a:ext cx="914400" cy="475488"/>
          </a:xfrm>
          <a:prstGeom prst="rect">
            <a:avLst/>
          </a:prstGeom>
          <a:solidFill>
            <a:srgbClr val="0A2342"/>
          </a:solidFill>
          <a:ln/>
        </p:spPr>
      </p:sp>
      <p:sp>
        <p:nvSpPr>
          <p:cNvPr id="31" name="Text 29"/>
          <p:cNvSpPr/>
          <p:nvPr/>
        </p:nvSpPr>
        <p:spPr>
          <a:xfrm>
            <a:off x="2743200" y="2103120"/>
            <a:ext cx="80467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Challenger</a:t>
            </a:r>
            <a:endParaRPr lang="en-US" sz="1000" dirty="0"/>
          </a:p>
        </p:txBody>
      </p:sp>
      <p:sp>
        <p:nvSpPr>
          <p:cNvPr id="32" name="Shape 30"/>
          <p:cNvSpPr/>
          <p:nvPr/>
        </p:nvSpPr>
        <p:spPr>
          <a:xfrm>
            <a:off x="3639312" y="2066544"/>
            <a:ext cx="777240" cy="475488"/>
          </a:xfrm>
          <a:prstGeom prst="rect">
            <a:avLst/>
          </a:prstGeom>
          <a:solidFill>
            <a:srgbClr val="0A2342"/>
          </a:solidFill>
          <a:ln/>
        </p:spPr>
      </p:sp>
      <p:sp>
        <p:nvSpPr>
          <p:cNvPr id="33" name="Text 31"/>
          <p:cNvSpPr/>
          <p:nvPr/>
        </p:nvSpPr>
        <p:spPr>
          <a:xfrm>
            <a:off x="3694176" y="2103120"/>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0.65</a:t>
            </a:r>
            <a:endParaRPr lang="en-US" sz="1000" dirty="0"/>
          </a:p>
        </p:txBody>
      </p:sp>
      <p:sp>
        <p:nvSpPr>
          <p:cNvPr id="34" name="Shape 32"/>
          <p:cNvSpPr/>
          <p:nvPr/>
        </p:nvSpPr>
        <p:spPr>
          <a:xfrm>
            <a:off x="4453128" y="2066544"/>
            <a:ext cx="777240" cy="475488"/>
          </a:xfrm>
          <a:prstGeom prst="rect">
            <a:avLst/>
          </a:prstGeom>
          <a:solidFill>
            <a:srgbClr val="0A2342"/>
          </a:solidFill>
          <a:ln/>
        </p:spPr>
      </p:sp>
      <p:sp>
        <p:nvSpPr>
          <p:cNvPr id="35" name="Text 33"/>
          <p:cNvSpPr/>
          <p:nvPr/>
        </p:nvSpPr>
        <p:spPr>
          <a:xfrm>
            <a:off x="4507992" y="2103120"/>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0.68</a:t>
            </a:r>
            <a:endParaRPr lang="en-US" sz="1000" dirty="0"/>
          </a:p>
        </p:txBody>
      </p:sp>
      <p:sp>
        <p:nvSpPr>
          <p:cNvPr id="36" name="Shape 34"/>
          <p:cNvSpPr/>
          <p:nvPr/>
        </p:nvSpPr>
        <p:spPr>
          <a:xfrm>
            <a:off x="5266944" y="2066544"/>
            <a:ext cx="685800" cy="475488"/>
          </a:xfrm>
          <a:prstGeom prst="rect">
            <a:avLst/>
          </a:prstGeom>
          <a:solidFill>
            <a:srgbClr val="0A2342"/>
          </a:solidFill>
          <a:ln/>
        </p:spPr>
      </p:sp>
      <p:sp>
        <p:nvSpPr>
          <p:cNvPr id="37" name="Text 35"/>
          <p:cNvSpPr/>
          <p:nvPr/>
        </p:nvSpPr>
        <p:spPr>
          <a:xfrm>
            <a:off x="5321808" y="2103120"/>
            <a:ext cx="57607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0.65</a:t>
            </a:r>
            <a:endParaRPr lang="en-US" sz="1000" dirty="0"/>
          </a:p>
        </p:txBody>
      </p:sp>
      <p:sp>
        <p:nvSpPr>
          <p:cNvPr id="38" name="Shape 36"/>
          <p:cNvSpPr/>
          <p:nvPr/>
        </p:nvSpPr>
        <p:spPr>
          <a:xfrm>
            <a:off x="5989320" y="2066544"/>
            <a:ext cx="3154680" cy="475488"/>
          </a:xfrm>
          <a:prstGeom prst="rect">
            <a:avLst/>
          </a:prstGeom>
          <a:solidFill>
            <a:srgbClr val="0A2342"/>
          </a:solidFill>
          <a:ln/>
        </p:spPr>
      </p:sp>
      <p:sp>
        <p:nvSpPr>
          <p:cNvPr id="39" name="Text 37"/>
          <p:cNvSpPr/>
          <p:nvPr/>
        </p:nvSpPr>
        <p:spPr>
          <a:xfrm>
            <a:off x="6044184" y="2103120"/>
            <a:ext cx="304495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Good recall, weaker precision than gradient methods</a:t>
            </a:r>
            <a:endParaRPr lang="en-US" sz="1000" dirty="0"/>
          </a:p>
        </p:txBody>
      </p:sp>
      <p:sp>
        <p:nvSpPr>
          <p:cNvPr id="40" name="Shape 38"/>
          <p:cNvSpPr/>
          <p:nvPr/>
        </p:nvSpPr>
        <p:spPr>
          <a:xfrm>
            <a:off x="274320" y="2596896"/>
            <a:ext cx="2377440" cy="475488"/>
          </a:xfrm>
          <a:prstGeom prst="rect">
            <a:avLst/>
          </a:prstGeom>
          <a:solidFill>
            <a:srgbClr val="132D4B"/>
          </a:solidFill>
          <a:ln/>
        </p:spPr>
      </p:sp>
      <p:sp>
        <p:nvSpPr>
          <p:cNvPr id="41" name="Text 39"/>
          <p:cNvSpPr/>
          <p:nvPr/>
        </p:nvSpPr>
        <p:spPr>
          <a:xfrm>
            <a:off x="329184" y="2633472"/>
            <a:ext cx="226771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XGBoost</a:t>
            </a:r>
            <a:endParaRPr lang="en-US" sz="1000" dirty="0"/>
          </a:p>
        </p:txBody>
      </p:sp>
      <p:sp>
        <p:nvSpPr>
          <p:cNvPr id="42" name="Shape 40"/>
          <p:cNvSpPr/>
          <p:nvPr/>
        </p:nvSpPr>
        <p:spPr>
          <a:xfrm>
            <a:off x="2688336" y="2596896"/>
            <a:ext cx="914400" cy="475488"/>
          </a:xfrm>
          <a:prstGeom prst="rect">
            <a:avLst/>
          </a:prstGeom>
          <a:solidFill>
            <a:srgbClr val="132D4B"/>
          </a:solidFill>
          <a:ln/>
        </p:spPr>
      </p:sp>
      <p:sp>
        <p:nvSpPr>
          <p:cNvPr id="43" name="Text 41"/>
          <p:cNvSpPr/>
          <p:nvPr/>
        </p:nvSpPr>
        <p:spPr>
          <a:xfrm>
            <a:off x="2743200" y="2633472"/>
            <a:ext cx="80467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Challenger</a:t>
            </a:r>
            <a:endParaRPr lang="en-US" sz="1000" dirty="0"/>
          </a:p>
        </p:txBody>
      </p:sp>
      <p:sp>
        <p:nvSpPr>
          <p:cNvPr id="44" name="Shape 42"/>
          <p:cNvSpPr/>
          <p:nvPr/>
        </p:nvSpPr>
        <p:spPr>
          <a:xfrm>
            <a:off x="3639312" y="2596896"/>
            <a:ext cx="777240" cy="475488"/>
          </a:xfrm>
          <a:prstGeom prst="rect">
            <a:avLst/>
          </a:prstGeom>
          <a:solidFill>
            <a:srgbClr val="132D4B"/>
          </a:solidFill>
          <a:ln/>
        </p:spPr>
      </p:sp>
      <p:sp>
        <p:nvSpPr>
          <p:cNvPr id="45" name="Text 43"/>
          <p:cNvSpPr/>
          <p:nvPr/>
        </p:nvSpPr>
        <p:spPr>
          <a:xfrm>
            <a:off x="3694176" y="2633472"/>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0.67</a:t>
            </a:r>
            <a:endParaRPr lang="en-US" sz="1000" dirty="0"/>
          </a:p>
        </p:txBody>
      </p:sp>
      <p:sp>
        <p:nvSpPr>
          <p:cNvPr id="46" name="Shape 44"/>
          <p:cNvSpPr/>
          <p:nvPr/>
        </p:nvSpPr>
        <p:spPr>
          <a:xfrm>
            <a:off x="4453128" y="2596896"/>
            <a:ext cx="777240" cy="475488"/>
          </a:xfrm>
          <a:prstGeom prst="rect">
            <a:avLst/>
          </a:prstGeom>
          <a:solidFill>
            <a:srgbClr val="132D4B"/>
          </a:solidFill>
          <a:ln/>
        </p:spPr>
      </p:sp>
      <p:sp>
        <p:nvSpPr>
          <p:cNvPr id="47" name="Text 45"/>
          <p:cNvSpPr/>
          <p:nvPr/>
        </p:nvSpPr>
        <p:spPr>
          <a:xfrm>
            <a:off x="4507992" y="2633472"/>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0.69</a:t>
            </a:r>
            <a:endParaRPr lang="en-US" sz="1000" dirty="0"/>
          </a:p>
        </p:txBody>
      </p:sp>
      <p:sp>
        <p:nvSpPr>
          <p:cNvPr id="48" name="Shape 46"/>
          <p:cNvSpPr/>
          <p:nvPr/>
        </p:nvSpPr>
        <p:spPr>
          <a:xfrm>
            <a:off x="5266944" y="2596896"/>
            <a:ext cx="685800" cy="475488"/>
          </a:xfrm>
          <a:prstGeom prst="rect">
            <a:avLst/>
          </a:prstGeom>
          <a:solidFill>
            <a:srgbClr val="132D4B"/>
          </a:solidFill>
          <a:ln/>
        </p:spPr>
      </p:sp>
      <p:sp>
        <p:nvSpPr>
          <p:cNvPr id="49" name="Text 47"/>
          <p:cNvSpPr/>
          <p:nvPr/>
        </p:nvSpPr>
        <p:spPr>
          <a:xfrm>
            <a:off x="5321808" y="2633472"/>
            <a:ext cx="57607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0.67</a:t>
            </a:r>
            <a:endParaRPr lang="en-US" sz="1000" dirty="0"/>
          </a:p>
        </p:txBody>
      </p:sp>
      <p:sp>
        <p:nvSpPr>
          <p:cNvPr id="50" name="Shape 48"/>
          <p:cNvSpPr/>
          <p:nvPr/>
        </p:nvSpPr>
        <p:spPr>
          <a:xfrm>
            <a:off x="5989320" y="2596896"/>
            <a:ext cx="3154680" cy="475488"/>
          </a:xfrm>
          <a:prstGeom prst="rect">
            <a:avLst/>
          </a:prstGeom>
          <a:solidFill>
            <a:srgbClr val="132D4B"/>
          </a:solidFill>
          <a:ln/>
        </p:spPr>
      </p:sp>
      <p:sp>
        <p:nvSpPr>
          <p:cNvPr id="51" name="Text 49"/>
          <p:cNvSpPr/>
          <p:nvPr/>
        </p:nvSpPr>
        <p:spPr>
          <a:xfrm>
            <a:off x="6044184" y="2633472"/>
            <a:ext cx="304495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Strong baseline; used in initial feature selection</a:t>
            </a:r>
            <a:endParaRPr lang="en-US" sz="1000" dirty="0"/>
          </a:p>
        </p:txBody>
      </p:sp>
      <p:sp>
        <p:nvSpPr>
          <p:cNvPr id="52" name="Shape 50"/>
          <p:cNvSpPr/>
          <p:nvPr/>
        </p:nvSpPr>
        <p:spPr>
          <a:xfrm>
            <a:off x="274320" y="3127248"/>
            <a:ext cx="2377440" cy="475488"/>
          </a:xfrm>
          <a:prstGeom prst="rect">
            <a:avLst/>
          </a:prstGeom>
          <a:solidFill>
            <a:srgbClr val="0A2342"/>
          </a:solidFill>
          <a:ln/>
        </p:spPr>
      </p:sp>
      <p:sp>
        <p:nvSpPr>
          <p:cNvPr id="53" name="Text 51"/>
          <p:cNvSpPr/>
          <p:nvPr/>
        </p:nvSpPr>
        <p:spPr>
          <a:xfrm>
            <a:off x="329184" y="3163824"/>
            <a:ext cx="226771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CatBoost</a:t>
            </a:r>
            <a:endParaRPr lang="en-US" sz="1000" dirty="0"/>
          </a:p>
        </p:txBody>
      </p:sp>
      <p:sp>
        <p:nvSpPr>
          <p:cNvPr id="54" name="Shape 52"/>
          <p:cNvSpPr/>
          <p:nvPr/>
        </p:nvSpPr>
        <p:spPr>
          <a:xfrm>
            <a:off x="2688336" y="3127248"/>
            <a:ext cx="914400" cy="475488"/>
          </a:xfrm>
          <a:prstGeom prst="rect">
            <a:avLst/>
          </a:prstGeom>
          <a:solidFill>
            <a:srgbClr val="0A2342"/>
          </a:solidFill>
          <a:ln/>
        </p:spPr>
      </p:sp>
      <p:sp>
        <p:nvSpPr>
          <p:cNvPr id="55" name="Text 53"/>
          <p:cNvSpPr/>
          <p:nvPr/>
        </p:nvSpPr>
        <p:spPr>
          <a:xfrm>
            <a:off x="2743200" y="3163824"/>
            <a:ext cx="80467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Challenger</a:t>
            </a:r>
            <a:endParaRPr lang="en-US" sz="1000" dirty="0"/>
          </a:p>
        </p:txBody>
      </p:sp>
      <p:sp>
        <p:nvSpPr>
          <p:cNvPr id="56" name="Shape 54"/>
          <p:cNvSpPr/>
          <p:nvPr/>
        </p:nvSpPr>
        <p:spPr>
          <a:xfrm>
            <a:off x="3639312" y="3127248"/>
            <a:ext cx="777240" cy="475488"/>
          </a:xfrm>
          <a:prstGeom prst="rect">
            <a:avLst/>
          </a:prstGeom>
          <a:solidFill>
            <a:srgbClr val="0A2342"/>
          </a:solidFill>
          <a:ln/>
        </p:spPr>
      </p:sp>
      <p:sp>
        <p:nvSpPr>
          <p:cNvPr id="57" name="Text 55"/>
          <p:cNvSpPr/>
          <p:nvPr/>
        </p:nvSpPr>
        <p:spPr>
          <a:xfrm>
            <a:off x="3694176" y="3163824"/>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0.67</a:t>
            </a:r>
            <a:endParaRPr lang="en-US" sz="1000" dirty="0"/>
          </a:p>
        </p:txBody>
      </p:sp>
      <p:sp>
        <p:nvSpPr>
          <p:cNvPr id="58" name="Shape 56"/>
          <p:cNvSpPr/>
          <p:nvPr/>
        </p:nvSpPr>
        <p:spPr>
          <a:xfrm>
            <a:off x="4453128" y="3127248"/>
            <a:ext cx="777240" cy="475488"/>
          </a:xfrm>
          <a:prstGeom prst="rect">
            <a:avLst/>
          </a:prstGeom>
          <a:solidFill>
            <a:srgbClr val="0A2342"/>
          </a:solidFill>
          <a:ln/>
        </p:spPr>
      </p:sp>
      <p:sp>
        <p:nvSpPr>
          <p:cNvPr id="59" name="Text 57"/>
          <p:cNvSpPr/>
          <p:nvPr/>
        </p:nvSpPr>
        <p:spPr>
          <a:xfrm>
            <a:off x="4507992" y="3163824"/>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0.69</a:t>
            </a:r>
            <a:endParaRPr lang="en-US" sz="1000" dirty="0"/>
          </a:p>
        </p:txBody>
      </p:sp>
      <p:sp>
        <p:nvSpPr>
          <p:cNvPr id="60" name="Shape 58"/>
          <p:cNvSpPr/>
          <p:nvPr/>
        </p:nvSpPr>
        <p:spPr>
          <a:xfrm>
            <a:off x="5266944" y="3127248"/>
            <a:ext cx="685800" cy="475488"/>
          </a:xfrm>
          <a:prstGeom prst="rect">
            <a:avLst/>
          </a:prstGeom>
          <a:solidFill>
            <a:srgbClr val="0A2342"/>
          </a:solidFill>
          <a:ln/>
        </p:spPr>
      </p:sp>
      <p:sp>
        <p:nvSpPr>
          <p:cNvPr id="61" name="Text 59"/>
          <p:cNvSpPr/>
          <p:nvPr/>
        </p:nvSpPr>
        <p:spPr>
          <a:xfrm>
            <a:off x="5321808" y="3163824"/>
            <a:ext cx="57607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0.67</a:t>
            </a:r>
            <a:endParaRPr lang="en-US" sz="1000" dirty="0"/>
          </a:p>
        </p:txBody>
      </p:sp>
      <p:sp>
        <p:nvSpPr>
          <p:cNvPr id="62" name="Shape 60"/>
          <p:cNvSpPr/>
          <p:nvPr/>
        </p:nvSpPr>
        <p:spPr>
          <a:xfrm>
            <a:off x="5989320" y="3127248"/>
            <a:ext cx="3154680" cy="475488"/>
          </a:xfrm>
          <a:prstGeom prst="rect">
            <a:avLst/>
          </a:prstGeom>
          <a:solidFill>
            <a:srgbClr val="0A2342"/>
          </a:solidFill>
          <a:ln/>
        </p:spPr>
      </p:sp>
      <p:sp>
        <p:nvSpPr>
          <p:cNvPr id="63" name="Text 61"/>
          <p:cNvSpPr/>
          <p:nvPr/>
        </p:nvSpPr>
        <p:spPr>
          <a:xfrm>
            <a:off x="6044184" y="3163824"/>
            <a:ext cx="304495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Native categorical handling — valuable for plan type</a:t>
            </a:r>
            <a:endParaRPr lang="en-US" sz="1000" dirty="0"/>
          </a:p>
        </p:txBody>
      </p:sp>
      <p:sp>
        <p:nvSpPr>
          <p:cNvPr id="64" name="Shape 62"/>
          <p:cNvSpPr/>
          <p:nvPr/>
        </p:nvSpPr>
        <p:spPr>
          <a:xfrm>
            <a:off x="274320" y="3657600"/>
            <a:ext cx="2377440" cy="475488"/>
          </a:xfrm>
          <a:prstGeom prst="rect">
            <a:avLst/>
          </a:prstGeom>
          <a:solidFill>
            <a:srgbClr val="132D4B"/>
          </a:solidFill>
          <a:ln/>
        </p:spPr>
      </p:sp>
      <p:sp>
        <p:nvSpPr>
          <p:cNvPr id="65" name="Text 63"/>
          <p:cNvSpPr/>
          <p:nvPr/>
        </p:nvSpPr>
        <p:spPr>
          <a:xfrm>
            <a:off x="329184" y="3694176"/>
            <a:ext cx="226771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LightGBM (Base)</a:t>
            </a:r>
            <a:endParaRPr lang="en-US" sz="1000" dirty="0"/>
          </a:p>
        </p:txBody>
      </p:sp>
      <p:sp>
        <p:nvSpPr>
          <p:cNvPr id="66" name="Shape 64"/>
          <p:cNvSpPr/>
          <p:nvPr/>
        </p:nvSpPr>
        <p:spPr>
          <a:xfrm>
            <a:off x="2688336" y="3657600"/>
            <a:ext cx="914400" cy="475488"/>
          </a:xfrm>
          <a:prstGeom prst="rect">
            <a:avLst/>
          </a:prstGeom>
          <a:solidFill>
            <a:srgbClr val="132D4B"/>
          </a:solidFill>
          <a:ln/>
        </p:spPr>
      </p:sp>
      <p:sp>
        <p:nvSpPr>
          <p:cNvPr id="67" name="Text 65"/>
          <p:cNvSpPr/>
          <p:nvPr/>
        </p:nvSpPr>
        <p:spPr>
          <a:xfrm>
            <a:off x="2743200" y="3694176"/>
            <a:ext cx="80467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Finalist</a:t>
            </a:r>
            <a:endParaRPr lang="en-US" sz="1000" dirty="0"/>
          </a:p>
        </p:txBody>
      </p:sp>
      <p:sp>
        <p:nvSpPr>
          <p:cNvPr id="68" name="Shape 66"/>
          <p:cNvSpPr/>
          <p:nvPr/>
        </p:nvSpPr>
        <p:spPr>
          <a:xfrm>
            <a:off x="3639312" y="3657600"/>
            <a:ext cx="777240" cy="475488"/>
          </a:xfrm>
          <a:prstGeom prst="rect">
            <a:avLst/>
          </a:prstGeom>
          <a:solidFill>
            <a:srgbClr val="132D4B"/>
          </a:solidFill>
          <a:ln/>
        </p:spPr>
      </p:sp>
      <p:sp>
        <p:nvSpPr>
          <p:cNvPr id="69" name="Text 67"/>
          <p:cNvSpPr/>
          <p:nvPr/>
        </p:nvSpPr>
        <p:spPr>
          <a:xfrm>
            <a:off x="3694176" y="3694176"/>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0.68</a:t>
            </a:r>
            <a:endParaRPr lang="en-US" sz="1000" dirty="0"/>
          </a:p>
        </p:txBody>
      </p:sp>
      <p:sp>
        <p:nvSpPr>
          <p:cNvPr id="70" name="Shape 68"/>
          <p:cNvSpPr/>
          <p:nvPr/>
        </p:nvSpPr>
        <p:spPr>
          <a:xfrm>
            <a:off x="4453128" y="3657600"/>
            <a:ext cx="777240" cy="475488"/>
          </a:xfrm>
          <a:prstGeom prst="rect">
            <a:avLst/>
          </a:prstGeom>
          <a:solidFill>
            <a:srgbClr val="132D4B"/>
          </a:solidFill>
          <a:ln/>
        </p:spPr>
      </p:sp>
      <p:sp>
        <p:nvSpPr>
          <p:cNvPr id="71" name="Text 69"/>
          <p:cNvSpPr/>
          <p:nvPr/>
        </p:nvSpPr>
        <p:spPr>
          <a:xfrm>
            <a:off x="4507992" y="3694176"/>
            <a:ext cx="66751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0.69</a:t>
            </a:r>
            <a:endParaRPr lang="en-US" sz="1000" dirty="0"/>
          </a:p>
        </p:txBody>
      </p:sp>
      <p:sp>
        <p:nvSpPr>
          <p:cNvPr id="72" name="Shape 70"/>
          <p:cNvSpPr/>
          <p:nvPr/>
        </p:nvSpPr>
        <p:spPr>
          <a:xfrm>
            <a:off x="5266944" y="3657600"/>
            <a:ext cx="685800" cy="475488"/>
          </a:xfrm>
          <a:prstGeom prst="rect">
            <a:avLst/>
          </a:prstGeom>
          <a:solidFill>
            <a:srgbClr val="132D4B"/>
          </a:solidFill>
          <a:ln/>
        </p:spPr>
      </p:sp>
      <p:sp>
        <p:nvSpPr>
          <p:cNvPr id="73" name="Text 71"/>
          <p:cNvSpPr/>
          <p:nvPr/>
        </p:nvSpPr>
        <p:spPr>
          <a:xfrm>
            <a:off x="5321808" y="3694176"/>
            <a:ext cx="576072" cy="40233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0.68</a:t>
            </a:r>
            <a:endParaRPr lang="en-US" sz="1000" dirty="0"/>
          </a:p>
        </p:txBody>
      </p:sp>
      <p:sp>
        <p:nvSpPr>
          <p:cNvPr id="74" name="Shape 72"/>
          <p:cNvSpPr/>
          <p:nvPr/>
        </p:nvSpPr>
        <p:spPr>
          <a:xfrm>
            <a:off x="5989320" y="3657600"/>
            <a:ext cx="3154680" cy="475488"/>
          </a:xfrm>
          <a:prstGeom prst="rect">
            <a:avLst/>
          </a:prstGeom>
          <a:solidFill>
            <a:srgbClr val="132D4B"/>
          </a:solidFill>
          <a:ln/>
        </p:spPr>
      </p:sp>
      <p:sp>
        <p:nvSpPr>
          <p:cNvPr id="75" name="Text 73"/>
          <p:cNvSpPr/>
          <p:nvPr/>
        </p:nvSpPr>
        <p:spPr>
          <a:xfrm>
            <a:off x="6044184" y="3694176"/>
            <a:ext cx="3044952" cy="40233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Fastest convergence; chosen for Optuna optimisation</a:t>
            </a:r>
            <a:endParaRPr lang="en-US" sz="1000" dirty="0"/>
          </a:p>
        </p:txBody>
      </p:sp>
      <p:sp>
        <p:nvSpPr>
          <p:cNvPr id="76" name="Shape 74"/>
          <p:cNvSpPr/>
          <p:nvPr/>
        </p:nvSpPr>
        <p:spPr>
          <a:xfrm>
            <a:off x="274320" y="4187952"/>
            <a:ext cx="2377440" cy="475488"/>
          </a:xfrm>
          <a:prstGeom prst="rect">
            <a:avLst/>
          </a:prstGeom>
          <a:solidFill>
            <a:srgbClr val="0D5F82"/>
          </a:solidFill>
          <a:ln/>
        </p:spPr>
      </p:sp>
      <p:sp>
        <p:nvSpPr>
          <p:cNvPr id="77" name="Text 75"/>
          <p:cNvSpPr/>
          <p:nvPr/>
        </p:nvSpPr>
        <p:spPr>
          <a:xfrm>
            <a:off x="329184" y="4224528"/>
            <a:ext cx="2267712" cy="402336"/>
          </a:xfrm>
          <a:prstGeom prst="rect">
            <a:avLst/>
          </a:prstGeom>
          <a:noFill/>
          <a:ln/>
        </p:spPr>
        <p:txBody>
          <a:bodyPr wrap="square" lIns="0" tIns="0" rIns="0" bIns="0" rtlCol="0" anchor="ctr"/>
          <a:lstStyle/>
          <a:p>
            <a:pPr algn="l" indent="0" marL="0">
              <a:buNone/>
            </a:pPr>
            <a:r>
              <a:rPr lang="en-US" sz="1000" b="1" dirty="0">
                <a:solidFill>
                  <a:srgbClr val="22D3EE"/>
                </a:solidFill>
                <a:latin typeface="Calibri" pitchFamily="34" charset="0"/>
                <a:ea typeface="Calibri" pitchFamily="34" charset="-122"/>
                <a:cs typeface="Calibri" pitchFamily="34" charset="-120"/>
              </a:rPr>
              <a:t>Validation-Weighted Ensemble</a:t>
            </a:r>
            <a:endParaRPr lang="en-US" sz="1000" dirty="0"/>
          </a:p>
        </p:txBody>
      </p:sp>
      <p:sp>
        <p:nvSpPr>
          <p:cNvPr id="78" name="Shape 76"/>
          <p:cNvSpPr/>
          <p:nvPr/>
        </p:nvSpPr>
        <p:spPr>
          <a:xfrm>
            <a:off x="2688336" y="4187952"/>
            <a:ext cx="914400" cy="475488"/>
          </a:xfrm>
          <a:prstGeom prst="rect">
            <a:avLst/>
          </a:prstGeom>
          <a:solidFill>
            <a:srgbClr val="0D5F82"/>
          </a:solidFill>
          <a:ln/>
        </p:spPr>
      </p:sp>
      <p:sp>
        <p:nvSpPr>
          <p:cNvPr id="79" name="Text 77"/>
          <p:cNvSpPr/>
          <p:nvPr/>
        </p:nvSpPr>
        <p:spPr>
          <a:xfrm>
            <a:off x="2743200" y="4224528"/>
            <a:ext cx="804672" cy="402336"/>
          </a:xfrm>
          <a:prstGeom prst="rect">
            <a:avLst/>
          </a:prstGeom>
          <a:noFill/>
          <a:ln/>
        </p:spPr>
        <p:txBody>
          <a:bodyPr wrap="square" lIns="0" tIns="0" rIns="0" bIns="0" rtlCol="0" anchor="ctr"/>
          <a:lstStyle/>
          <a:p>
            <a:pPr algn="l" indent="0" marL="0">
              <a:buNone/>
            </a:pPr>
            <a:r>
              <a:rPr lang="en-US" sz="1000" b="1" dirty="0">
                <a:solidFill>
                  <a:srgbClr val="22D3EE"/>
                </a:solidFill>
                <a:latin typeface="Calibri" pitchFamily="34" charset="0"/>
                <a:ea typeface="Calibri" pitchFamily="34" charset="-122"/>
                <a:cs typeface="Calibri" pitchFamily="34" charset="-120"/>
              </a:rPr>
              <a:t>★ CHAMPION</a:t>
            </a:r>
            <a:endParaRPr lang="en-US" sz="1000" dirty="0"/>
          </a:p>
        </p:txBody>
      </p:sp>
      <p:sp>
        <p:nvSpPr>
          <p:cNvPr id="80" name="Shape 78"/>
          <p:cNvSpPr/>
          <p:nvPr/>
        </p:nvSpPr>
        <p:spPr>
          <a:xfrm>
            <a:off x="3639312" y="4187952"/>
            <a:ext cx="777240" cy="475488"/>
          </a:xfrm>
          <a:prstGeom prst="rect">
            <a:avLst/>
          </a:prstGeom>
          <a:solidFill>
            <a:srgbClr val="0D5F82"/>
          </a:solidFill>
          <a:ln/>
        </p:spPr>
      </p:sp>
      <p:sp>
        <p:nvSpPr>
          <p:cNvPr id="81" name="Text 79"/>
          <p:cNvSpPr/>
          <p:nvPr/>
        </p:nvSpPr>
        <p:spPr>
          <a:xfrm>
            <a:off x="3694176" y="4224528"/>
            <a:ext cx="667512" cy="402336"/>
          </a:xfrm>
          <a:prstGeom prst="rect">
            <a:avLst/>
          </a:prstGeom>
          <a:noFill/>
          <a:ln/>
        </p:spPr>
        <p:txBody>
          <a:bodyPr wrap="square" lIns="0" tIns="0" rIns="0" bIns="0" rtlCol="0" anchor="ctr"/>
          <a:lstStyle/>
          <a:p>
            <a:pPr algn="l" indent="0" marL="0">
              <a:buNone/>
            </a:pPr>
            <a:r>
              <a:rPr lang="en-US" sz="1000" b="1" dirty="0">
                <a:solidFill>
                  <a:srgbClr val="22D3EE"/>
                </a:solidFill>
                <a:latin typeface="Calibri" pitchFamily="34" charset="0"/>
                <a:ea typeface="Calibri" pitchFamily="34" charset="-122"/>
                <a:cs typeface="Calibri" pitchFamily="34" charset="-120"/>
              </a:rPr>
              <a:t>0.685</a:t>
            </a:r>
            <a:endParaRPr lang="en-US" sz="1000" dirty="0"/>
          </a:p>
        </p:txBody>
      </p:sp>
      <p:sp>
        <p:nvSpPr>
          <p:cNvPr id="82" name="Shape 80"/>
          <p:cNvSpPr/>
          <p:nvPr/>
        </p:nvSpPr>
        <p:spPr>
          <a:xfrm>
            <a:off x="4453128" y="4187952"/>
            <a:ext cx="777240" cy="475488"/>
          </a:xfrm>
          <a:prstGeom prst="rect">
            <a:avLst/>
          </a:prstGeom>
          <a:solidFill>
            <a:srgbClr val="0D5F82"/>
          </a:solidFill>
          <a:ln/>
        </p:spPr>
      </p:sp>
      <p:sp>
        <p:nvSpPr>
          <p:cNvPr id="83" name="Text 81"/>
          <p:cNvSpPr/>
          <p:nvPr/>
        </p:nvSpPr>
        <p:spPr>
          <a:xfrm>
            <a:off x="4507992" y="4224528"/>
            <a:ext cx="667512" cy="402336"/>
          </a:xfrm>
          <a:prstGeom prst="rect">
            <a:avLst/>
          </a:prstGeom>
          <a:noFill/>
          <a:ln/>
        </p:spPr>
        <p:txBody>
          <a:bodyPr wrap="square" lIns="0" tIns="0" rIns="0" bIns="0" rtlCol="0" anchor="ctr"/>
          <a:lstStyle/>
          <a:p>
            <a:pPr algn="l" indent="0" marL="0">
              <a:buNone/>
            </a:pPr>
            <a:r>
              <a:rPr lang="en-US" sz="1000" b="1" dirty="0">
                <a:solidFill>
                  <a:srgbClr val="22D3EE"/>
                </a:solidFill>
                <a:latin typeface="Calibri" pitchFamily="34" charset="0"/>
                <a:ea typeface="Calibri" pitchFamily="34" charset="-122"/>
                <a:cs typeface="Calibri" pitchFamily="34" charset="-120"/>
              </a:rPr>
              <a:t>0.697</a:t>
            </a:r>
            <a:endParaRPr lang="en-US" sz="1000" dirty="0"/>
          </a:p>
        </p:txBody>
      </p:sp>
      <p:sp>
        <p:nvSpPr>
          <p:cNvPr id="84" name="Shape 82"/>
          <p:cNvSpPr/>
          <p:nvPr/>
        </p:nvSpPr>
        <p:spPr>
          <a:xfrm>
            <a:off x="5266944" y="4187952"/>
            <a:ext cx="685800" cy="475488"/>
          </a:xfrm>
          <a:prstGeom prst="rect">
            <a:avLst/>
          </a:prstGeom>
          <a:solidFill>
            <a:srgbClr val="0D5F82"/>
          </a:solidFill>
          <a:ln/>
        </p:spPr>
      </p:sp>
      <p:sp>
        <p:nvSpPr>
          <p:cNvPr id="85" name="Text 83"/>
          <p:cNvSpPr/>
          <p:nvPr/>
        </p:nvSpPr>
        <p:spPr>
          <a:xfrm>
            <a:off x="5321808" y="4224528"/>
            <a:ext cx="576072" cy="402336"/>
          </a:xfrm>
          <a:prstGeom prst="rect">
            <a:avLst/>
          </a:prstGeom>
          <a:noFill/>
          <a:ln/>
        </p:spPr>
        <p:txBody>
          <a:bodyPr wrap="square" lIns="0" tIns="0" rIns="0" bIns="0" rtlCol="0" anchor="ctr"/>
          <a:lstStyle/>
          <a:p>
            <a:pPr algn="l" indent="0" marL="0">
              <a:buNone/>
            </a:pPr>
            <a:r>
              <a:rPr lang="en-US" sz="1000" b="1" dirty="0">
                <a:solidFill>
                  <a:srgbClr val="22D3EE"/>
                </a:solidFill>
                <a:latin typeface="Calibri" pitchFamily="34" charset="0"/>
                <a:ea typeface="Calibri" pitchFamily="34" charset="-122"/>
                <a:cs typeface="Calibri" pitchFamily="34" charset="-120"/>
              </a:rPr>
              <a:t>0.689</a:t>
            </a:r>
            <a:endParaRPr lang="en-US" sz="1000" dirty="0"/>
          </a:p>
        </p:txBody>
      </p:sp>
      <p:sp>
        <p:nvSpPr>
          <p:cNvPr id="86" name="Shape 84"/>
          <p:cNvSpPr/>
          <p:nvPr/>
        </p:nvSpPr>
        <p:spPr>
          <a:xfrm>
            <a:off x="5989320" y="4187952"/>
            <a:ext cx="3154680" cy="475488"/>
          </a:xfrm>
          <a:prstGeom prst="rect">
            <a:avLst/>
          </a:prstGeom>
          <a:solidFill>
            <a:srgbClr val="0D5F82"/>
          </a:solidFill>
          <a:ln/>
        </p:spPr>
      </p:sp>
      <p:sp>
        <p:nvSpPr>
          <p:cNvPr id="87" name="Text 85"/>
          <p:cNvSpPr/>
          <p:nvPr/>
        </p:nvSpPr>
        <p:spPr>
          <a:xfrm>
            <a:off x="6044184" y="4224528"/>
            <a:ext cx="3044952" cy="402336"/>
          </a:xfrm>
          <a:prstGeom prst="rect">
            <a:avLst/>
          </a:prstGeom>
          <a:noFill/>
          <a:ln/>
        </p:spPr>
        <p:txBody>
          <a:bodyPr wrap="square" lIns="0" tIns="0" rIns="0" bIns="0" rtlCol="0" anchor="ctr"/>
          <a:lstStyle/>
          <a:p>
            <a:pPr algn="l" indent="0" marL="0">
              <a:buNone/>
            </a:pPr>
            <a:r>
              <a:rPr lang="en-US" sz="1000" b="1" dirty="0">
                <a:solidFill>
                  <a:srgbClr val="22D3EE"/>
                </a:solidFill>
                <a:latin typeface="Calibri" pitchFamily="34" charset="0"/>
                <a:ea typeface="Calibri" pitchFamily="34" charset="-122"/>
                <a:cs typeface="Calibri" pitchFamily="34" charset="-120"/>
              </a:rPr>
              <a:t>OptunaLGBM 80% + LightGBM 15% + CatBoost 5%</a:t>
            </a:r>
            <a:endParaRPr lang="en-US" sz="1000" dirty="0"/>
          </a:p>
        </p:txBody>
      </p:sp>
      <p:sp>
        <p:nvSpPr>
          <p:cNvPr id="88" name="Text 86"/>
          <p:cNvSpPr/>
          <p:nvPr/>
        </p:nvSpPr>
        <p:spPr>
          <a:xfrm>
            <a:off x="274320" y="4736592"/>
            <a:ext cx="8595360" cy="256032"/>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50 Optuna TPE trials executed to tune LightGBM hyperparameters before ensemble blending — maximising Precision-Recall AUC on validation set only.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0A2342"/>
                </a:solidFill>
                <a:latin typeface="Cambria" pitchFamily="34" charset="0"/>
                <a:ea typeface="Cambria" pitchFamily="34" charset="-122"/>
                <a:cs typeface="Cambria" pitchFamily="34" charset="-120"/>
              </a:rPr>
              <a:t>Model Performance: Competition-Grade Accuracy</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0891B2"/>
                </a:solidFill>
                <a:latin typeface="Calibri" pitchFamily="34" charset="0"/>
                <a:ea typeface="Calibri" pitchFamily="34" charset="-122"/>
                <a:cs typeface="Calibri" pitchFamily="34" charset="-120"/>
              </a:rPr>
              <a:t>ValidationWeightedEnsemble — Phase 4B Champion</a:t>
            </a:r>
            <a:endParaRPr lang="en-US" sz="1300" dirty="0"/>
          </a:p>
        </p:txBody>
      </p:sp>
      <p:sp>
        <p:nvSpPr>
          <p:cNvPr id="4" name="Shape 2"/>
          <p:cNvSpPr/>
          <p:nvPr/>
        </p:nvSpPr>
        <p:spPr>
          <a:xfrm>
            <a:off x="274320" y="1051560"/>
            <a:ext cx="2029968" cy="1444752"/>
          </a:xfrm>
          <a:prstGeom prst="roundRect">
            <a:avLst>
              <a:gd name="adj" fmla="val 6329"/>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347472" y="1115568"/>
            <a:ext cx="1883664" cy="731520"/>
          </a:xfrm>
          <a:prstGeom prst="rect">
            <a:avLst/>
          </a:prstGeom>
          <a:noFill/>
          <a:ln/>
        </p:spPr>
        <p:txBody>
          <a:bodyPr wrap="square" lIns="0" tIns="0" rIns="0" bIns="0" rtlCol="0" anchor="ctr"/>
          <a:lstStyle/>
          <a:p>
            <a:pPr algn="ctr" indent="0" marL="0">
              <a:buNone/>
            </a:pPr>
            <a:r>
              <a:rPr lang="en-US" sz="3200" b="1" dirty="0">
                <a:solidFill>
                  <a:srgbClr val="0891B2"/>
                </a:solidFill>
                <a:latin typeface="Cambria" pitchFamily="34" charset="0"/>
                <a:ea typeface="Cambria" pitchFamily="34" charset="-122"/>
                <a:cs typeface="Cambria" pitchFamily="34" charset="-120"/>
              </a:rPr>
              <a:t>0.685</a:t>
            </a:r>
            <a:endParaRPr lang="en-US" sz="3200" dirty="0"/>
          </a:p>
        </p:txBody>
      </p:sp>
      <p:sp>
        <p:nvSpPr>
          <p:cNvPr id="6" name="Text 4"/>
          <p:cNvSpPr/>
          <p:nvPr/>
        </p:nvSpPr>
        <p:spPr>
          <a:xfrm>
            <a:off x="347472" y="1883664"/>
            <a:ext cx="1883664"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PR-AUC</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(Primary Metric)</a:t>
            </a:r>
            <a:endParaRPr lang="en-US" sz="1100" dirty="0"/>
          </a:p>
        </p:txBody>
      </p:sp>
      <p:sp>
        <p:nvSpPr>
          <p:cNvPr id="7" name="Shape 5"/>
          <p:cNvSpPr/>
          <p:nvPr/>
        </p:nvSpPr>
        <p:spPr>
          <a:xfrm>
            <a:off x="2468880" y="1051560"/>
            <a:ext cx="2029968" cy="1444752"/>
          </a:xfrm>
          <a:prstGeom prst="roundRect">
            <a:avLst>
              <a:gd name="adj" fmla="val 632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2542032" y="1115568"/>
            <a:ext cx="1883664" cy="731520"/>
          </a:xfrm>
          <a:prstGeom prst="rect">
            <a:avLst/>
          </a:prstGeom>
          <a:noFill/>
          <a:ln/>
        </p:spPr>
        <p:txBody>
          <a:bodyPr wrap="square" lIns="0" tIns="0" rIns="0" bIns="0" rtlCol="0" anchor="ctr"/>
          <a:lstStyle/>
          <a:p>
            <a:pPr algn="ctr" indent="0" marL="0">
              <a:buNone/>
            </a:pPr>
            <a:r>
              <a:rPr lang="en-US" sz="3200" b="1" dirty="0">
                <a:solidFill>
                  <a:srgbClr val="0D3B6B"/>
                </a:solidFill>
                <a:latin typeface="Cambria" pitchFamily="34" charset="0"/>
                <a:ea typeface="Cambria" pitchFamily="34" charset="-122"/>
                <a:cs typeface="Cambria" pitchFamily="34" charset="-120"/>
              </a:rPr>
              <a:t>0.697</a:t>
            </a:r>
            <a:endParaRPr lang="en-US" sz="3200" dirty="0"/>
          </a:p>
        </p:txBody>
      </p:sp>
      <p:sp>
        <p:nvSpPr>
          <p:cNvPr id="9" name="Text 7"/>
          <p:cNvSpPr/>
          <p:nvPr/>
        </p:nvSpPr>
        <p:spPr>
          <a:xfrm>
            <a:off x="2542032" y="1883664"/>
            <a:ext cx="1883664"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ROC-AUC</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(Discriminative Power)</a:t>
            </a:r>
            <a:endParaRPr lang="en-US" sz="1100" dirty="0"/>
          </a:p>
        </p:txBody>
      </p:sp>
      <p:sp>
        <p:nvSpPr>
          <p:cNvPr id="10" name="Shape 8"/>
          <p:cNvSpPr/>
          <p:nvPr/>
        </p:nvSpPr>
        <p:spPr>
          <a:xfrm>
            <a:off x="4663440" y="1051560"/>
            <a:ext cx="2029968" cy="1444752"/>
          </a:xfrm>
          <a:prstGeom prst="roundRect">
            <a:avLst>
              <a:gd name="adj" fmla="val 632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4736592" y="1115568"/>
            <a:ext cx="1883664" cy="731520"/>
          </a:xfrm>
          <a:prstGeom prst="rect">
            <a:avLst/>
          </a:prstGeom>
          <a:noFill/>
          <a:ln/>
        </p:spPr>
        <p:txBody>
          <a:bodyPr wrap="square" lIns="0" tIns="0" rIns="0" bIns="0" rtlCol="0" anchor="ctr"/>
          <a:lstStyle/>
          <a:p>
            <a:pPr algn="ctr" indent="0" marL="0">
              <a:buNone/>
            </a:pPr>
            <a:r>
              <a:rPr lang="en-US" sz="3200" b="1" dirty="0">
                <a:solidFill>
                  <a:srgbClr val="10B981"/>
                </a:solidFill>
                <a:latin typeface="Cambria" pitchFamily="34" charset="0"/>
                <a:ea typeface="Cambria" pitchFamily="34" charset="-122"/>
                <a:cs typeface="Cambria" pitchFamily="34" charset="-120"/>
              </a:rPr>
              <a:t>91.1%</a:t>
            </a:r>
            <a:endParaRPr lang="en-US" sz="3200" dirty="0"/>
          </a:p>
        </p:txBody>
      </p:sp>
      <p:sp>
        <p:nvSpPr>
          <p:cNvPr id="12" name="Text 10"/>
          <p:cNvSpPr/>
          <p:nvPr/>
        </p:nvSpPr>
        <p:spPr>
          <a:xfrm>
            <a:off x="4736592" y="1883664"/>
            <a:ext cx="1883664"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Recall</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(Churners Caught)</a:t>
            </a:r>
            <a:endParaRPr lang="en-US" sz="1100" dirty="0"/>
          </a:p>
        </p:txBody>
      </p:sp>
      <p:sp>
        <p:nvSpPr>
          <p:cNvPr id="13" name="Shape 11"/>
          <p:cNvSpPr/>
          <p:nvPr/>
        </p:nvSpPr>
        <p:spPr>
          <a:xfrm>
            <a:off x="6858000" y="1051560"/>
            <a:ext cx="2029968" cy="1444752"/>
          </a:xfrm>
          <a:prstGeom prst="roundRect">
            <a:avLst>
              <a:gd name="adj" fmla="val 6329"/>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6931152" y="1115568"/>
            <a:ext cx="1883664" cy="731520"/>
          </a:xfrm>
          <a:prstGeom prst="rect">
            <a:avLst/>
          </a:prstGeom>
          <a:noFill/>
          <a:ln/>
        </p:spPr>
        <p:txBody>
          <a:bodyPr wrap="square" lIns="0" tIns="0" rIns="0" bIns="0" rtlCol="0" anchor="ctr"/>
          <a:lstStyle/>
          <a:p>
            <a:pPr algn="ctr" indent="0" marL="0">
              <a:buNone/>
            </a:pPr>
            <a:r>
              <a:rPr lang="en-US" sz="3200" b="1" dirty="0">
                <a:solidFill>
                  <a:srgbClr val="F59E0B"/>
                </a:solidFill>
                <a:latin typeface="Cambria" pitchFamily="34" charset="0"/>
                <a:ea typeface="Cambria" pitchFamily="34" charset="-122"/>
                <a:cs typeface="Cambria" pitchFamily="34" charset="-120"/>
              </a:rPr>
              <a:t>+0.41%</a:t>
            </a:r>
            <a:endParaRPr lang="en-US" sz="3200" dirty="0"/>
          </a:p>
        </p:txBody>
      </p:sp>
      <p:sp>
        <p:nvSpPr>
          <p:cNvPr id="15" name="Text 13"/>
          <p:cNvSpPr/>
          <p:nvPr/>
        </p:nvSpPr>
        <p:spPr>
          <a:xfrm>
            <a:off x="6931152" y="1883664"/>
            <a:ext cx="1883664"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Improvement</a:t>
            </a:r>
            <a:endParaRPr lang="en-US" sz="1100" dirty="0"/>
          </a:p>
          <a:p>
            <a:pPr algn="ctr" indent="0" marL="0">
              <a:buNone/>
            </a:pPr>
            <a:r>
              <a:rPr lang="en-US" sz="1100" dirty="0">
                <a:solidFill>
                  <a:srgbClr val="334155"/>
                </a:solidFill>
                <a:latin typeface="Calibri" pitchFamily="34" charset="0"/>
                <a:ea typeface="Calibri" pitchFamily="34" charset="-122"/>
                <a:cs typeface="Calibri" pitchFamily="34" charset="-120"/>
              </a:rPr>
              <a:t>vs. Prior Baseline</a:t>
            </a:r>
            <a:endParaRPr lang="en-US" sz="1100" dirty="0"/>
          </a:p>
        </p:txBody>
      </p:sp>
      <p:sp>
        <p:nvSpPr>
          <p:cNvPr id="16" name="Shape 14"/>
          <p:cNvSpPr/>
          <p:nvPr/>
        </p:nvSpPr>
        <p:spPr>
          <a:xfrm>
            <a:off x="457200" y="2670048"/>
            <a:ext cx="1554480" cy="822960"/>
          </a:xfrm>
          <a:prstGeom prst="roundRect">
            <a:avLst>
              <a:gd name="adj" fmla="val 8889"/>
            </a:avLst>
          </a:prstGeom>
          <a:solidFill>
            <a:srgbClr val="E8F4FD"/>
          </a:solidFill>
          <a:ln/>
          <a:effectLst>
            <a:outerShdw sx="100000" sy="100000" kx="0" ky="0" algn="bl" rotWithShape="0" blurRad="101600" dist="38100" dir="2700000">
              <a:srgbClr val="000000">
                <a:alpha val="12000"/>
              </a:srgbClr>
            </a:outerShdw>
          </a:effectLst>
        </p:spPr>
      </p:sp>
      <p:sp>
        <p:nvSpPr>
          <p:cNvPr id="17" name="Text 15"/>
          <p:cNvSpPr/>
          <p:nvPr/>
        </p:nvSpPr>
        <p:spPr>
          <a:xfrm>
            <a:off x="512064" y="2724912"/>
            <a:ext cx="1444752" cy="384048"/>
          </a:xfrm>
          <a:prstGeom prst="rect">
            <a:avLst/>
          </a:prstGeom>
          <a:noFill/>
          <a:ln/>
        </p:spPr>
        <p:txBody>
          <a:bodyPr wrap="square" lIns="0" tIns="0" rIns="0" bIns="0" rtlCol="0" anchor="ctr"/>
          <a:lstStyle/>
          <a:p>
            <a:pPr algn="ctr" indent="0" marL="0">
              <a:buNone/>
            </a:pPr>
            <a:r>
              <a:rPr lang="en-US" sz="1800" b="1" dirty="0">
                <a:solidFill>
                  <a:srgbClr val="0D3B6B"/>
                </a:solidFill>
                <a:latin typeface="Cambria" pitchFamily="34" charset="0"/>
                <a:ea typeface="Cambria" pitchFamily="34" charset="-122"/>
                <a:cs typeface="Cambria" pitchFamily="34" charset="-120"/>
              </a:rPr>
              <a:t>0.689</a:t>
            </a:r>
            <a:endParaRPr lang="en-US" sz="1800" dirty="0"/>
          </a:p>
        </p:txBody>
      </p:sp>
      <p:sp>
        <p:nvSpPr>
          <p:cNvPr id="18" name="Text 16"/>
          <p:cNvSpPr/>
          <p:nvPr/>
        </p:nvSpPr>
        <p:spPr>
          <a:xfrm>
            <a:off x="512064" y="3145536"/>
            <a:ext cx="1444752" cy="27432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F1 Score</a:t>
            </a:r>
            <a:endParaRPr lang="en-US" sz="1000" dirty="0"/>
          </a:p>
        </p:txBody>
      </p:sp>
      <p:sp>
        <p:nvSpPr>
          <p:cNvPr id="19" name="Shape 17"/>
          <p:cNvSpPr/>
          <p:nvPr/>
        </p:nvSpPr>
        <p:spPr>
          <a:xfrm>
            <a:off x="2157984" y="2670048"/>
            <a:ext cx="1554480" cy="822960"/>
          </a:xfrm>
          <a:prstGeom prst="roundRect">
            <a:avLst>
              <a:gd name="adj" fmla="val 8889"/>
            </a:avLst>
          </a:prstGeom>
          <a:solidFill>
            <a:srgbClr val="E8F4FD"/>
          </a:solidFill>
          <a:ln/>
          <a:effectLst>
            <a:outerShdw sx="100000" sy="100000" kx="0" ky="0" algn="bl" rotWithShape="0" blurRad="101600" dist="38100" dir="2700000">
              <a:srgbClr val="000000">
                <a:alpha val="12000"/>
              </a:srgbClr>
            </a:outerShdw>
          </a:effectLst>
        </p:spPr>
      </p:sp>
      <p:sp>
        <p:nvSpPr>
          <p:cNvPr id="20" name="Text 18"/>
          <p:cNvSpPr/>
          <p:nvPr/>
        </p:nvSpPr>
        <p:spPr>
          <a:xfrm>
            <a:off x="2212848" y="2724912"/>
            <a:ext cx="1444752" cy="384048"/>
          </a:xfrm>
          <a:prstGeom prst="rect">
            <a:avLst/>
          </a:prstGeom>
          <a:noFill/>
          <a:ln/>
        </p:spPr>
        <p:txBody>
          <a:bodyPr wrap="square" lIns="0" tIns="0" rIns="0" bIns="0" rtlCol="0" anchor="ctr"/>
          <a:lstStyle/>
          <a:p>
            <a:pPr algn="ctr" indent="0" marL="0">
              <a:buNone/>
            </a:pPr>
            <a:r>
              <a:rPr lang="en-US" sz="1800" b="1" dirty="0">
                <a:solidFill>
                  <a:srgbClr val="0D3B6B"/>
                </a:solidFill>
                <a:latin typeface="Cambria" pitchFamily="34" charset="0"/>
                <a:ea typeface="Cambria" pitchFamily="34" charset="-122"/>
                <a:cs typeface="Cambria" pitchFamily="34" charset="-120"/>
              </a:rPr>
              <a:t>55.4%</a:t>
            </a:r>
            <a:endParaRPr lang="en-US" sz="1800" dirty="0"/>
          </a:p>
        </p:txBody>
      </p:sp>
      <p:sp>
        <p:nvSpPr>
          <p:cNvPr id="21" name="Text 19"/>
          <p:cNvSpPr/>
          <p:nvPr/>
        </p:nvSpPr>
        <p:spPr>
          <a:xfrm>
            <a:off x="2212848" y="3145536"/>
            <a:ext cx="1444752" cy="27432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Precision</a:t>
            </a:r>
            <a:endParaRPr lang="en-US" sz="1000" dirty="0"/>
          </a:p>
        </p:txBody>
      </p:sp>
      <p:sp>
        <p:nvSpPr>
          <p:cNvPr id="22" name="Shape 20"/>
          <p:cNvSpPr/>
          <p:nvPr/>
        </p:nvSpPr>
        <p:spPr>
          <a:xfrm>
            <a:off x="3858768" y="2670048"/>
            <a:ext cx="1554480" cy="822960"/>
          </a:xfrm>
          <a:prstGeom prst="roundRect">
            <a:avLst>
              <a:gd name="adj" fmla="val 8889"/>
            </a:avLst>
          </a:prstGeom>
          <a:solidFill>
            <a:srgbClr val="E8F4FD"/>
          </a:solidFill>
          <a:ln/>
          <a:effectLst>
            <a:outerShdw sx="100000" sy="100000" kx="0" ky="0" algn="bl" rotWithShape="0" blurRad="101600" dist="38100" dir="2700000">
              <a:srgbClr val="000000">
                <a:alpha val="12000"/>
              </a:srgbClr>
            </a:outerShdw>
          </a:effectLst>
        </p:spPr>
      </p:sp>
      <p:sp>
        <p:nvSpPr>
          <p:cNvPr id="23" name="Text 21"/>
          <p:cNvSpPr/>
          <p:nvPr/>
        </p:nvSpPr>
        <p:spPr>
          <a:xfrm>
            <a:off x="3913632" y="2724912"/>
            <a:ext cx="1444752" cy="384048"/>
          </a:xfrm>
          <a:prstGeom prst="rect">
            <a:avLst/>
          </a:prstGeom>
          <a:noFill/>
          <a:ln/>
        </p:spPr>
        <p:txBody>
          <a:bodyPr wrap="square" lIns="0" tIns="0" rIns="0" bIns="0" rtlCol="0" anchor="ctr"/>
          <a:lstStyle/>
          <a:p>
            <a:pPr algn="ctr" indent="0" marL="0">
              <a:buNone/>
            </a:pPr>
            <a:r>
              <a:rPr lang="en-US" sz="1800" b="1" dirty="0">
                <a:solidFill>
                  <a:srgbClr val="0D3B6B"/>
                </a:solidFill>
                <a:latin typeface="Cambria" pitchFamily="34" charset="0"/>
                <a:ea typeface="Cambria" pitchFamily="34" charset="-122"/>
                <a:cs typeface="Cambria" pitchFamily="34" charset="-120"/>
              </a:rPr>
              <a:t>0.341</a:t>
            </a:r>
            <a:endParaRPr lang="en-US" sz="1800" dirty="0"/>
          </a:p>
        </p:txBody>
      </p:sp>
      <p:sp>
        <p:nvSpPr>
          <p:cNvPr id="24" name="Text 22"/>
          <p:cNvSpPr/>
          <p:nvPr/>
        </p:nvSpPr>
        <p:spPr>
          <a:xfrm>
            <a:off x="3913632" y="3145536"/>
            <a:ext cx="1444752" cy="27432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Decision Threshold</a:t>
            </a:r>
            <a:endParaRPr lang="en-US" sz="1000" dirty="0"/>
          </a:p>
        </p:txBody>
      </p:sp>
      <p:sp>
        <p:nvSpPr>
          <p:cNvPr id="25" name="Shape 23"/>
          <p:cNvSpPr/>
          <p:nvPr/>
        </p:nvSpPr>
        <p:spPr>
          <a:xfrm>
            <a:off x="5559552" y="2670048"/>
            <a:ext cx="1554480" cy="822960"/>
          </a:xfrm>
          <a:prstGeom prst="roundRect">
            <a:avLst>
              <a:gd name="adj" fmla="val 8889"/>
            </a:avLst>
          </a:prstGeom>
          <a:solidFill>
            <a:srgbClr val="E8F4FD"/>
          </a:solidFill>
          <a:ln/>
          <a:effectLst>
            <a:outerShdw sx="100000" sy="100000" kx="0" ky="0" algn="bl" rotWithShape="0" blurRad="101600" dist="38100" dir="2700000">
              <a:srgbClr val="000000">
                <a:alpha val="12000"/>
              </a:srgbClr>
            </a:outerShdw>
          </a:effectLst>
        </p:spPr>
      </p:sp>
      <p:sp>
        <p:nvSpPr>
          <p:cNvPr id="26" name="Text 24"/>
          <p:cNvSpPr/>
          <p:nvPr/>
        </p:nvSpPr>
        <p:spPr>
          <a:xfrm>
            <a:off x="5614416" y="2724912"/>
            <a:ext cx="1444752" cy="384048"/>
          </a:xfrm>
          <a:prstGeom prst="rect">
            <a:avLst/>
          </a:prstGeom>
          <a:noFill/>
          <a:ln/>
        </p:spPr>
        <p:txBody>
          <a:bodyPr wrap="square" lIns="0" tIns="0" rIns="0" bIns="0" rtlCol="0" anchor="ctr"/>
          <a:lstStyle/>
          <a:p>
            <a:pPr algn="ctr" indent="0" marL="0">
              <a:buNone/>
            </a:pPr>
            <a:r>
              <a:rPr lang="en-US" sz="1800" b="1" dirty="0">
                <a:solidFill>
                  <a:srgbClr val="0D3B6B"/>
                </a:solidFill>
                <a:latin typeface="Cambria" pitchFamily="34" charset="0"/>
                <a:ea typeface="Cambria" pitchFamily="34" charset="-122"/>
                <a:cs typeface="Cambria" pitchFamily="34" charset="-120"/>
              </a:rPr>
              <a:t>50</a:t>
            </a:r>
            <a:endParaRPr lang="en-US" sz="1800" dirty="0"/>
          </a:p>
        </p:txBody>
      </p:sp>
      <p:sp>
        <p:nvSpPr>
          <p:cNvPr id="27" name="Text 25"/>
          <p:cNvSpPr/>
          <p:nvPr/>
        </p:nvSpPr>
        <p:spPr>
          <a:xfrm>
            <a:off x="5614416" y="3145536"/>
            <a:ext cx="1444752" cy="27432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Optuna Trials</a:t>
            </a:r>
            <a:endParaRPr lang="en-US" sz="1000" dirty="0"/>
          </a:p>
        </p:txBody>
      </p:sp>
      <p:sp>
        <p:nvSpPr>
          <p:cNvPr id="28" name="Shape 26"/>
          <p:cNvSpPr/>
          <p:nvPr/>
        </p:nvSpPr>
        <p:spPr>
          <a:xfrm>
            <a:off x="7260336" y="2670048"/>
            <a:ext cx="1554480" cy="822960"/>
          </a:xfrm>
          <a:prstGeom prst="roundRect">
            <a:avLst>
              <a:gd name="adj" fmla="val 8889"/>
            </a:avLst>
          </a:prstGeom>
          <a:solidFill>
            <a:srgbClr val="E8F4FD"/>
          </a:solidFill>
          <a:ln/>
          <a:effectLst>
            <a:outerShdw sx="100000" sy="100000" kx="0" ky="0" algn="bl" rotWithShape="0" blurRad="101600" dist="38100" dir="2700000">
              <a:srgbClr val="000000">
                <a:alpha val="12000"/>
              </a:srgbClr>
            </a:outerShdw>
          </a:effectLst>
        </p:spPr>
      </p:sp>
      <p:sp>
        <p:nvSpPr>
          <p:cNvPr id="29" name="Text 27"/>
          <p:cNvSpPr/>
          <p:nvPr/>
        </p:nvSpPr>
        <p:spPr>
          <a:xfrm>
            <a:off x="7315200" y="2724912"/>
            <a:ext cx="1444752" cy="384048"/>
          </a:xfrm>
          <a:prstGeom prst="rect">
            <a:avLst/>
          </a:prstGeom>
          <a:noFill/>
          <a:ln/>
        </p:spPr>
        <p:txBody>
          <a:bodyPr wrap="square" lIns="0" tIns="0" rIns="0" bIns="0" rtlCol="0" anchor="ctr"/>
          <a:lstStyle/>
          <a:p>
            <a:pPr algn="ctr" indent="0" marL="0">
              <a:buNone/>
            </a:pPr>
            <a:r>
              <a:rPr lang="en-US" sz="1800" b="1" dirty="0">
                <a:solidFill>
                  <a:srgbClr val="0D3B6B"/>
                </a:solidFill>
                <a:latin typeface="Cambria" pitchFamily="34" charset="0"/>
                <a:ea typeface="Cambria" pitchFamily="34" charset="-122"/>
                <a:cs typeface="Cambria" pitchFamily="34" charset="-120"/>
              </a:rPr>
              <a:t>CPU</a:t>
            </a:r>
            <a:endParaRPr lang="en-US" sz="1800" dirty="0"/>
          </a:p>
        </p:txBody>
      </p:sp>
      <p:sp>
        <p:nvSpPr>
          <p:cNvPr id="30" name="Text 28"/>
          <p:cNvSpPr/>
          <p:nvPr/>
        </p:nvSpPr>
        <p:spPr>
          <a:xfrm>
            <a:off x="7315200" y="3145536"/>
            <a:ext cx="1444752" cy="27432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Training Device</a:t>
            </a:r>
            <a:endParaRPr lang="en-US" sz="1000" dirty="0"/>
          </a:p>
        </p:txBody>
      </p:sp>
      <p:sp>
        <p:nvSpPr>
          <p:cNvPr id="31" name="Shape 29"/>
          <p:cNvSpPr/>
          <p:nvPr/>
        </p:nvSpPr>
        <p:spPr>
          <a:xfrm>
            <a:off x="274320" y="3675888"/>
            <a:ext cx="8595360" cy="1261872"/>
          </a:xfrm>
          <a:prstGeom prst="roundRect">
            <a:avLst>
              <a:gd name="adj" fmla="val 7246"/>
            </a:avLst>
          </a:prstGeom>
          <a:solidFill>
            <a:srgbClr val="0A2342"/>
          </a:solidFill>
          <a:ln/>
          <a:effectLst>
            <a:outerShdw sx="100000" sy="100000" kx="0" ky="0" algn="bl" rotWithShape="0" blurRad="101600" dist="38100" dir="2700000">
              <a:srgbClr val="000000">
                <a:alpha val="12000"/>
              </a:srgbClr>
            </a:outerShdw>
          </a:effectLst>
        </p:spPr>
      </p:sp>
      <p:sp>
        <p:nvSpPr>
          <p:cNvPr id="32" name="Text 30"/>
          <p:cNvSpPr/>
          <p:nvPr/>
        </p:nvSpPr>
        <p:spPr>
          <a:xfrm>
            <a:off x="457200" y="3767328"/>
            <a:ext cx="365760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Cambria" pitchFamily="34" charset="0"/>
                <a:ea typeface="Cambria" pitchFamily="34" charset="-122"/>
                <a:cs typeface="Cambria" pitchFamily="34" charset="-120"/>
              </a:rPr>
              <a:t>What This Means in Plain English</a:t>
            </a:r>
            <a:endParaRPr lang="en-US" sz="1100" dirty="0"/>
          </a:p>
        </p:txBody>
      </p:sp>
      <p:sp>
        <p:nvSpPr>
          <p:cNvPr id="33" name="Text 31"/>
          <p:cNvSpPr/>
          <p:nvPr/>
        </p:nvSpPr>
        <p:spPr>
          <a:xfrm>
            <a:off x="457200" y="4059936"/>
            <a:ext cx="8229600" cy="804672"/>
          </a:xfrm>
          <a:prstGeom prst="rect">
            <a:avLst/>
          </a:prstGeom>
          <a:noFill/>
          <a:ln/>
        </p:spPr>
        <p:txBody>
          <a:bodyPr wrap="square" lIns="0" tIns="0" rIns="0" bIns="0"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With a recall of 91.1%, for every 100 customers who would have churned, our model correctly identifies 91 before they leave. With a precision of 55.4%, just over half the customers we flag are genuine flight risks — meaning our upgrade campaign is efficiently targeted with limited false positives. The threshold of 0.341 is optimised to prioritise catching churners over avoiding false alarms — the right trade-off when each retained customer is worth $1,170 in secured revenue.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0A2342"/>
                </a:solidFill>
                <a:latin typeface="Cambria" pitchFamily="34" charset="0"/>
                <a:ea typeface="Cambria" pitchFamily="34" charset="-122"/>
                <a:cs typeface="Cambria" pitchFamily="34" charset="-120"/>
              </a:rPr>
              <a:t>What Drives Churn? The AI's Top Signals</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0891B2"/>
                </a:solidFill>
                <a:latin typeface="Calibri" pitchFamily="34" charset="0"/>
                <a:ea typeface="Calibri" pitchFamily="34" charset="-122"/>
                <a:cs typeface="Calibri" pitchFamily="34" charset="-120"/>
              </a:rPr>
              <a:t>Feature importance reveals that device and service friction dominate — not demographics</a:t>
            </a:r>
            <a:endParaRPr lang="en-US" sz="1300" dirty="0"/>
          </a:p>
        </p:txBody>
      </p:sp>
      <p:graphicFrame>
        <p:nvGraphicFramePr>
          <p:cNvPr id="4" name="Chart 0" descr=""/>
          <p:cNvGraphicFramePr/>
          <p:nvPr/>
        </p:nvGraphicFramePr>
        <p:xfrm>
          <a:off x="274320" y="1051560"/>
          <a:ext cx="548640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89320" y="1051560"/>
            <a:ext cx="2880360" cy="1170432"/>
          </a:xfrm>
          <a:prstGeom prst="roundRect">
            <a:avLst>
              <a:gd name="adj" fmla="val 7813"/>
            </a:avLst>
          </a:prstGeom>
          <a:solidFill>
            <a:srgbClr val="FFFFFF"/>
          </a:solidFill>
          <a:ln/>
          <a:effectLst>
            <a:outerShdw sx="100000" sy="100000" kx="0" ky="0" algn="bl" rotWithShape="0" blurRad="101600" dist="38100" dir="2700000">
              <a:srgbClr val="000000">
                <a:alpha val="12000"/>
              </a:srgbClr>
            </a:outerShdw>
          </a:effectLst>
        </p:spPr>
      </p:sp>
      <p:sp>
        <p:nvSpPr>
          <p:cNvPr id="6" name="Text 3"/>
          <p:cNvSpPr/>
          <p:nvPr/>
        </p:nvSpPr>
        <p:spPr>
          <a:xfrm>
            <a:off x="6126480" y="1124712"/>
            <a:ext cx="2606040" cy="256032"/>
          </a:xfrm>
          <a:prstGeom prst="rect">
            <a:avLst/>
          </a:prstGeom>
          <a:noFill/>
          <a:ln/>
        </p:spPr>
        <p:txBody>
          <a:bodyPr wrap="square" lIns="0" tIns="0" rIns="0" bIns="0" rtlCol="0" anchor="ctr"/>
          <a:lstStyle/>
          <a:p>
            <a:pPr algn="l" indent="0" marL="0">
              <a:buNone/>
            </a:pPr>
            <a:r>
              <a:rPr lang="en-US" sz="1150" b="1" dirty="0">
                <a:solidFill>
                  <a:srgbClr val="0891B2"/>
                </a:solidFill>
                <a:latin typeface="Cambria" pitchFamily="34" charset="0"/>
                <a:ea typeface="Cambria" pitchFamily="34" charset="-122"/>
                <a:cs typeface="Cambria" pitchFamily="34" charset="-120"/>
              </a:rPr>
              <a:t>📱  Hardware is #1</a:t>
            </a:r>
            <a:endParaRPr lang="en-US" sz="1150" dirty="0"/>
          </a:p>
        </p:txBody>
      </p:sp>
      <p:sp>
        <p:nvSpPr>
          <p:cNvPr id="7" name="Text 4"/>
          <p:cNvSpPr/>
          <p:nvPr/>
        </p:nvSpPr>
        <p:spPr>
          <a:xfrm>
            <a:off x="6126480" y="1417320"/>
            <a:ext cx="2606040" cy="71323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Equipment age alone accounts for 26% of predictive power. Demographics — age, location, credit — are far less important than device lifecycle.</a:t>
            </a:r>
            <a:endParaRPr lang="en-US" sz="1000" dirty="0"/>
          </a:p>
        </p:txBody>
      </p:sp>
      <p:sp>
        <p:nvSpPr>
          <p:cNvPr id="8" name="Shape 5"/>
          <p:cNvSpPr/>
          <p:nvPr/>
        </p:nvSpPr>
        <p:spPr>
          <a:xfrm>
            <a:off x="5989320" y="2377440"/>
            <a:ext cx="2880360" cy="1170432"/>
          </a:xfrm>
          <a:prstGeom prst="roundRect">
            <a:avLst>
              <a:gd name="adj" fmla="val 7813"/>
            </a:avLst>
          </a:prstGeom>
          <a:solidFill>
            <a:srgbClr val="FFFFFF"/>
          </a:solidFill>
          <a:ln/>
          <a:effectLst>
            <a:outerShdw sx="100000" sy="100000" kx="0" ky="0" algn="bl" rotWithShape="0" blurRad="101600" dist="38100" dir="2700000">
              <a:srgbClr val="000000">
                <a:alpha val="12000"/>
              </a:srgbClr>
            </a:outerShdw>
          </a:effectLst>
        </p:spPr>
      </p:sp>
      <p:sp>
        <p:nvSpPr>
          <p:cNvPr id="9" name="Text 6"/>
          <p:cNvSpPr/>
          <p:nvPr/>
        </p:nvSpPr>
        <p:spPr>
          <a:xfrm>
            <a:off x="6126480" y="2450592"/>
            <a:ext cx="2606040" cy="256032"/>
          </a:xfrm>
          <a:prstGeom prst="rect">
            <a:avLst/>
          </a:prstGeom>
          <a:noFill/>
          <a:ln/>
        </p:spPr>
        <p:txBody>
          <a:bodyPr wrap="square" lIns="0" tIns="0" rIns="0" bIns="0" rtlCol="0" anchor="ctr"/>
          <a:lstStyle/>
          <a:p>
            <a:pPr algn="l" indent="0" marL="0">
              <a:buNone/>
            </a:pPr>
            <a:r>
              <a:rPr lang="en-US" sz="1150" b="1" dirty="0">
                <a:solidFill>
                  <a:srgbClr val="EF4444"/>
                </a:solidFill>
                <a:latin typeface="Cambria" pitchFamily="34" charset="0"/>
                <a:ea typeface="Cambria" pitchFamily="34" charset="-122"/>
                <a:cs typeface="Cambria" pitchFamily="34" charset="-120"/>
              </a:rPr>
              <a:t>📞  Friction Compounds</a:t>
            </a:r>
            <a:endParaRPr lang="en-US" sz="1150" dirty="0"/>
          </a:p>
        </p:txBody>
      </p:sp>
      <p:sp>
        <p:nvSpPr>
          <p:cNvPr id="10" name="Text 7"/>
          <p:cNvSpPr/>
          <p:nvPr/>
        </p:nvSpPr>
        <p:spPr>
          <a:xfrm>
            <a:off x="6126480" y="2743200"/>
            <a:ext cx="2606040" cy="71323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Customer care calls multiplied by tenure — accumulated friction — is the second-highest predictor. Unhappy customers with old phones are the highest-risk archetype.</a:t>
            </a:r>
            <a:endParaRPr lang="en-US" sz="1000" dirty="0"/>
          </a:p>
        </p:txBody>
      </p:sp>
      <p:sp>
        <p:nvSpPr>
          <p:cNvPr id="11" name="Shape 8"/>
          <p:cNvSpPr/>
          <p:nvPr/>
        </p:nvSpPr>
        <p:spPr>
          <a:xfrm>
            <a:off x="5989320" y="3703320"/>
            <a:ext cx="2880360" cy="1170432"/>
          </a:xfrm>
          <a:prstGeom prst="roundRect">
            <a:avLst>
              <a:gd name="adj" fmla="val 7813"/>
            </a:avLst>
          </a:prstGeom>
          <a:solidFill>
            <a:srgbClr val="FFFFFF"/>
          </a:solidFill>
          <a:ln/>
          <a:effectLst>
            <a:outerShdw sx="100000" sy="100000" kx="0" ky="0" algn="bl" rotWithShape="0" blurRad="101600" dist="38100" dir="2700000">
              <a:srgbClr val="000000">
                <a:alpha val="12000"/>
              </a:srgbClr>
            </a:outerShdw>
          </a:effectLst>
        </p:spPr>
      </p:sp>
      <p:sp>
        <p:nvSpPr>
          <p:cNvPr id="12" name="Text 9"/>
          <p:cNvSpPr/>
          <p:nvPr/>
        </p:nvSpPr>
        <p:spPr>
          <a:xfrm>
            <a:off x="6126480" y="3776472"/>
            <a:ext cx="2606040" cy="256032"/>
          </a:xfrm>
          <a:prstGeom prst="rect">
            <a:avLst/>
          </a:prstGeom>
          <a:noFill/>
          <a:ln/>
        </p:spPr>
        <p:txBody>
          <a:bodyPr wrap="square" lIns="0" tIns="0" rIns="0" bIns="0" rtlCol="0" anchor="ctr"/>
          <a:lstStyle/>
          <a:p>
            <a:pPr algn="l" indent="0" marL="0">
              <a:buNone/>
            </a:pPr>
            <a:r>
              <a:rPr lang="en-US" sz="1150" b="1" dirty="0">
                <a:solidFill>
                  <a:srgbClr val="0D3B6B"/>
                </a:solidFill>
                <a:latin typeface="Cambria" pitchFamily="34" charset="0"/>
                <a:ea typeface="Cambria" pitchFamily="34" charset="-122"/>
                <a:cs typeface="Cambria" pitchFamily="34" charset="-120"/>
              </a:rPr>
              <a:t>💎  Value at Risk</a:t>
            </a:r>
            <a:endParaRPr lang="en-US" sz="1150" dirty="0"/>
          </a:p>
        </p:txBody>
      </p:sp>
      <p:sp>
        <p:nvSpPr>
          <p:cNvPr id="13" name="Text 10"/>
          <p:cNvSpPr/>
          <p:nvPr/>
        </p:nvSpPr>
        <p:spPr>
          <a:xfrm>
            <a:off x="6126480" y="4069080"/>
            <a:ext cx="2606040" cy="713232"/>
          </a:xfrm>
          <a:prstGeom prst="rect">
            <a:avLst/>
          </a:prstGeom>
          <a:noFill/>
          <a:ln/>
        </p:spPr>
        <p:txBody>
          <a:bodyPr wrap="square" lIns="0" tIns="0" rIns="0" bIns="0" rtlCol="0" anchor="t"/>
          <a:lstStyle/>
          <a:p>
            <a:pPr algn="l" indent="0" marL="0">
              <a:buNone/>
            </a:pPr>
            <a:r>
              <a:rPr lang="en-US" sz="1000" dirty="0">
                <a:solidFill>
                  <a:srgbClr val="334155"/>
                </a:solidFill>
                <a:latin typeface="Calibri" pitchFamily="34" charset="0"/>
                <a:ea typeface="Calibri" pitchFamily="34" charset="-122"/>
                <a:cs typeface="Calibri" pitchFamily="34" charset="-120"/>
              </a:rPr>
              <a:t>CLV proxy — the estimated historical customer value — ranks third. The model weights high-value customers as higher churn risk, reflecting their options in the market.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342"/>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Project Horizon: The Business Proposal</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22D3EE"/>
                </a:solidFill>
                <a:latin typeface="Calibri" pitchFamily="34" charset="0"/>
                <a:ea typeface="Calibri" pitchFamily="34" charset="-122"/>
                <a:cs typeface="Calibri" pitchFamily="34" charset="-120"/>
              </a:rPr>
              <a:t>Converting machine learning outputs into a precision retention programme</a:t>
            </a:r>
            <a:endParaRPr lang="en-US" sz="1300" dirty="0"/>
          </a:p>
        </p:txBody>
      </p:sp>
      <p:sp>
        <p:nvSpPr>
          <p:cNvPr id="4" name="Shape 2"/>
          <p:cNvSpPr/>
          <p:nvPr/>
        </p:nvSpPr>
        <p:spPr>
          <a:xfrm>
            <a:off x="274320" y="1115568"/>
            <a:ext cx="4480560" cy="3703320"/>
          </a:xfrm>
          <a:prstGeom prst="roundRect">
            <a:avLst>
              <a:gd name="adj" fmla="val 2469"/>
            </a:avLst>
          </a:prstGeom>
          <a:solidFill>
            <a:srgbClr val="0D3B6B"/>
          </a:solidFill>
          <a:ln/>
          <a:effectLst>
            <a:outerShdw sx="100000" sy="100000" kx="0" ky="0" algn="bl" rotWithShape="0" blurRad="101600" dist="38100" dir="2700000">
              <a:srgbClr val="000000">
                <a:alpha val="12000"/>
              </a:srgbClr>
            </a:outerShdw>
          </a:effectLst>
        </p:spPr>
      </p:sp>
      <p:sp>
        <p:nvSpPr>
          <p:cNvPr id="5" name="Text 3"/>
          <p:cNvSpPr/>
          <p:nvPr/>
        </p:nvSpPr>
        <p:spPr>
          <a:xfrm>
            <a:off x="457200" y="1234440"/>
            <a:ext cx="4114800" cy="274320"/>
          </a:xfrm>
          <a:prstGeom prst="rect">
            <a:avLst/>
          </a:prstGeom>
          <a:noFill/>
          <a:ln/>
        </p:spPr>
        <p:txBody>
          <a:bodyPr wrap="square" lIns="0" tIns="0" rIns="0" bIns="0" rtlCol="0" anchor="ctr"/>
          <a:lstStyle/>
          <a:p>
            <a:pPr algn="l" indent="0" marL="0">
              <a:buNone/>
            </a:pPr>
            <a:r>
              <a:rPr lang="en-US" sz="1300" b="1" dirty="0">
                <a:solidFill>
                  <a:srgbClr val="22D3EE"/>
                </a:solidFill>
                <a:latin typeface="Cambria" pitchFamily="34" charset="0"/>
                <a:ea typeface="Cambria" pitchFamily="34" charset="-122"/>
                <a:cs typeface="Cambria" pitchFamily="34" charset="-120"/>
              </a:rPr>
              <a:t>What is Project Horizon?</a:t>
            </a:r>
            <a:endParaRPr lang="en-US" sz="1300" dirty="0"/>
          </a:p>
        </p:txBody>
      </p:sp>
      <p:sp>
        <p:nvSpPr>
          <p:cNvPr id="6" name="Text 4"/>
          <p:cNvSpPr/>
          <p:nvPr/>
        </p:nvSpPr>
        <p:spPr>
          <a:xfrm>
            <a:off x="457200" y="1627632"/>
            <a:ext cx="4114800" cy="201168"/>
          </a:xfrm>
          <a:prstGeom prst="rect">
            <a:avLst/>
          </a:prstGeom>
          <a:noFill/>
          <a:ln/>
        </p:spPr>
        <p:txBody>
          <a:bodyPr wrap="square" lIns="0" tIns="0" rIns="0" bIns="0" rtlCol="0" anchor="ctr"/>
          <a:lstStyle/>
          <a:p>
            <a:pPr algn="l" indent="0" marL="0">
              <a:buNone/>
            </a:pPr>
            <a:r>
              <a:rPr lang="en-US" sz="1100" b="1" dirty="0">
                <a:solidFill>
                  <a:srgbClr val="F59E0B"/>
                </a:solidFill>
                <a:latin typeface="Cambria" pitchFamily="34" charset="0"/>
                <a:ea typeface="Cambria" pitchFamily="34" charset="-122"/>
                <a:cs typeface="Cambria" pitchFamily="34" charset="-120"/>
              </a:rPr>
              <a:t>▸  TRIGGER:</a:t>
            </a:r>
            <a:endParaRPr lang="en-US" sz="1100" dirty="0"/>
          </a:p>
        </p:txBody>
      </p:sp>
      <p:sp>
        <p:nvSpPr>
          <p:cNvPr id="7" name="Text 5"/>
          <p:cNvSpPr/>
          <p:nvPr/>
        </p:nvSpPr>
        <p:spPr>
          <a:xfrm>
            <a:off x="457200" y="1847088"/>
            <a:ext cx="4114800" cy="530352"/>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Automated alert fires when any customer's device crosses day 335 of ownership and churn probability exceeds 0.341 (model threshold).</a:t>
            </a:r>
            <a:endParaRPr lang="en-US" sz="1050" dirty="0"/>
          </a:p>
        </p:txBody>
      </p:sp>
      <p:sp>
        <p:nvSpPr>
          <p:cNvPr id="8" name="Text 6"/>
          <p:cNvSpPr/>
          <p:nvPr/>
        </p:nvSpPr>
        <p:spPr>
          <a:xfrm>
            <a:off x="457200" y="2450592"/>
            <a:ext cx="4114800" cy="201168"/>
          </a:xfrm>
          <a:prstGeom prst="rect">
            <a:avLst/>
          </a:prstGeom>
          <a:noFill/>
          <a:ln/>
        </p:spPr>
        <p:txBody>
          <a:bodyPr wrap="square" lIns="0" tIns="0" rIns="0" bIns="0" rtlCol="0" anchor="ctr"/>
          <a:lstStyle/>
          <a:p>
            <a:pPr algn="l" indent="0" marL="0">
              <a:buNone/>
            </a:pPr>
            <a:r>
              <a:rPr lang="en-US" sz="1100" b="1" dirty="0">
                <a:solidFill>
                  <a:srgbClr val="F59E0B"/>
                </a:solidFill>
                <a:latin typeface="Cambria" pitchFamily="34" charset="0"/>
                <a:ea typeface="Cambria" pitchFamily="34" charset="-122"/>
                <a:cs typeface="Cambria" pitchFamily="34" charset="-120"/>
              </a:rPr>
              <a:t>▸  OFFER:</a:t>
            </a:r>
            <a:endParaRPr lang="en-US" sz="1100" dirty="0"/>
          </a:p>
        </p:txBody>
      </p:sp>
      <p:sp>
        <p:nvSpPr>
          <p:cNvPr id="9" name="Text 7"/>
          <p:cNvSpPr/>
          <p:nvPr/>
        </p:nvSpPr>
        <p:spPr>
          <a:xfrm>
            <a:off x="457200" y="2670048"/>
            <a:ext cx="4114800" cy="530352"/>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A personalised upgrade offer — calibrated to customer CLV tier — is generated: subsidised new device + 18-month contract renewal.</a:t>
            </a:r>
            <a:endParaRPr lang="en-US" sz="1050" dirty="0"/>
          </a:p>
        </p:txBody>
      </p:sp>
      <p:sp>
        <p:nvSpPr>
          <p:cNvPr id="10" name="Text 8"/>
          <p:cNvSpPr/>
          <p:nvPr/>
        </p:nvSpPr>
        <p:spPr>
          <a:xfrm>
            <a:off x="457200" y="3273552"/>
            <a:ext cx="4114800" cy="201168"/>
          </a:xfrm>
          <a:prstGeom prst="rect">
            <a:avLst/>
          </a:prstGeom>
          <a:noFill/>
          <a:ln/>
        </p:spPr>
        <p:txBody>
          <a:bodyPr wrap="square" lIns="0" tIns="0" rIns="0" bIns="0" rtlCol="0" anchor="ctr"/>
          <a:lstStyle/>
          <a:p>
            <a:pPr algn="l" indent="0" marL="0">
              <a:buNone/>
            </a:pPr>
            <a:r>
              <a:rPr lang="en-US" sz="1100" b="1" dirty="0">
                <a:solidFill>
                  <a:srgbClr val="F59E0B"/>
                </a:solidFill>
                <a:latin typeface="Cambria" pitchFamily="34" charset="0"/>
                <a:ea typeface="Cambria" pitchFamily="34" charset="-122"/>
                <a:cs typeface="Cambria" pitchFamily="34" charset="-120"/>
              </a:rPr>
              <a:t>▸  CHANNEL:</a:t>
            </a:r>
            <a:endParaRPr lang="en-US" sz="1100" dirty="0"/>
          </a:p>
        </p:txBody>
      </p:sp>
      <p:sp>
        <p:nvSpPr>
          <p:cNvPr id="11" name="Text 9"/>
          <p:cNvSpPr/>
          <p:nvPr/>
        </p:nvSpPr>
        <p:spPr>
          <a:xfrm>
            <a:off x="457200" y="3493008"/>
            <a:ext cx="4114800" cy="530352"/>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Outreach via preferred channel (SMS, app push, outbound call) delivered within 48 hours of trigger. High-CLV: proactive outbound call.</a:t>
            </a:r>
            <a:endParaRPr lang="en-US" sz="1050" dirty="0"/>
          </a:p>
        </p:txBody>
      </p:sp>
      <p:sp>
        <p:nvSpPr>
          <p:cNvPr id="12" name="Text 10"/>
          <p:cNvSpPr/>
          <p:nvPr/>
        </p:nvSpPr>
        <p:spPr>
          <a:xfrm>
            <a:off x="457200" y="4096512"/>
            <a:ext cx="4114800" cy="201168"/>
          </a:xfrm>
          <a:prstGeom prst="rect">
            <a:avLst/>
          </a:prstGeom>
          <a:noFill/>
          <a:ln/>
        </p:spPr>
        <p:txBody>
          <a:bodyPr wrap="square" lIns="0" tIns="0" rIns="0" bIns="0" rtlCol="0" anchor="ctr"/>
          <a:lstStyle/>
          <a:p>
            <a:pPr algn="l" indent="0" marL="0">
              <a:buNone/>
            </a:pPr>
            <a:r>
              <a:rPr lang="en-US" sz="1100" b="1" dirty="0">
                <a:solidFill>
                  <a:srgbClr val="F59E0B"/>
                </a:solidFill>
                <a:latin typeface="Cambria" pitchFamily="34" charset="0"/>
                <a:ea typeface="Cambria" pitchFamily="34" charset="-122"/>
                <a:cs typeface="Cambria" pitchFamily="34" charset="-120"/>
              </a:rPr>
              <a:t>▸  CONVERSION:</a:t>
            </a:r>
            <a:endParaRPr lang="en-US" sz="1100" dirty="0"/>
          </a:p>
        </p:txBody>
      </p:sp>
      <p:sp>
        <p:nvSpPr>
          <p:cNvPr id="13" name="Text 11"/>
          <p:cNvSpPr/>
          <p:nvPr/>
        </p:nvSpPr>
        <p:spPr>
          <a:xfrm>
            <a:off x="457200" y="4315968"/>
            <a:ext cx="4114800" cy="530352"/>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30% acceptance rate expected based on industry benchmarks for proactive device upgrade programmes.</a:t>
            </a:r>
            <a:endParaRPr lang="en-US" sz="1050" dirty="0"/>
          </a:p>
        </p:txBody>
      </p:sp>
      <p:sp>
        <p:nvSpPr>
          <p:cNvPr id="14" name="Text 12"/>
          <p:cNvSpPr/>
          <p:nvPr/>
        </p:nvSpPr>
        <p:spPr>
          <a:xfrm>
            <a:off x="4983480" y="1115568"/>
            <a:ext cx="3840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Target Priority Matrix</a:t>
            </a:r>
            <a:endParaRPr lang="en-US" sz="1200" dirty="0"/>
          </a:p>
        </p:txBody>
      </p:sp>
      <p:sp>
        <p:nvSpPr>
          <p:cNvPr id="15" name="Shape 13"/>
          <p:cNvSpPr/>
          <p:nvPr/>
        </p:nvSpPr>
        <p:spPr>
          <a:xfrm>
            <a:off x="4983480" y="1481328"/>
            <a:ext cx="1874520" cy="1261872"/>
          </a:xfrm>
          <a:prstGeom prst="roundRect">
            <a:avLst>
              <a:gd name="adj" fmla="val 7246"/>
            </a:avLst>
          </a:prstGeom>
          <a:solidFill>
            <a:srgbClr val="0D5F82"/>
          </a:solidFill>
          <a:ln/>
          <a:effectLst>
            <a:outerShdw sx="100000" sy="100000" kx="0" ky="0" algn="bl" rotWithShape="0" blurRad="101600" dist="38100" dir="2700000">
              <a:srgbClr val="000000">
                <a:alpha val="12000"/>
              </a:srgbClr>
            </a:outerShdw>
          </a:effectLst>
        </p:spPr>
      </p:sp>
      <p:sp>
        <p:nvSpPr>
          <p:cNvPr id="16" name="Text 14"/>
          <p:cNvSpPr/>
          <p:nvPr/>
        </p:nvSpPr>
        <p:spPr>
          <a:xfrm>
            <a:off x="5074920" y="1572768"/>
            <a:ext cx="16916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MONITOR</a:t>
            </a:r>
            <a:endParaRPr lang="en-US" sz="1100" dirty="0"/>
          </a:p>
        </p:txBody>
      </p:sp>
      <p:sp>
        <p:nvSpPr>
          <p:cNvPr id="17" name="Text 15"/>
          <p:cNvSpPr/>
          <p:nvPr/>
        </p:nvSpPr>
        <p:spPr>
          <a:xfrm>
            <a:off x="5074920" y="1883664"/>
            <a:ext cx="1691640" cy="804672"/>
          </a:xfrm>
          <a:prstGeom prst="rect">
            <a:avLst/>
          </a:prstGeom>
          <a:noFill/>
          <a:ln/>
        </p:spPr>
        <p:txBody>
          <a:bodyPr wrap="square" lIns="0" tIns="0" rIns="0" bIns="0"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Low CLV · Low Risk</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Standard retention</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messages only</a:t>
            </a:r>
            <a:endParaRPr lang="en-US" sz="950" dirty="0"/>
          </a:p>
        </p:txBody>
      </p:sp>
      <p:sp>
        <p:nvSpPr>
          <p:cNvPr id="18" name="Shape 16"/>
          <p:cNvSpPr/>
          <p:nvPr/>
        </p:nvSpPr>
        <p:spPr>
          <a:xfrm>
            <a:off x="6949440" y="1481328"/>
            <a:ext cx="1874520" cy="1261872"/>
          </a:xfrm>
          <a:prstGeom prst="roundRect">
            <a:avLst>
              <a:gd name="adj" fmla="val 7246"/>
            </a:avLst>
          </a:prstGeom>
          <a:solidFill>
            <a:srgbClr val="1C7293"/>
          </a:solidFill>
          <a:ln/>
          <a:effectLst>
            <a:outerShdw sx="100000" sy="100000" kx="0" ky="0" algn="bl" rotWithShape="0" blurRad="101600" dist="38100" dir="2700000">
              <a:srgbClr val="000000">
                <a:alpha val="12000"/>
              </a:srgbClr>
            </a:outerShdw>
          </a:effectLst>
        </p:spPr>
      </p:sp>
      <p:sp>
        <p:nvSpPr>
          <p:cNvPr id="19" name="Text 17"/>
          <p:cNvSpPr/>
          <p:nvPr/>
        </p:nvSpPr>
        <p:spPr>
          <a:xfrm>
            <a:off x="7040880" y="1572768"/>
            <a:ext cx="16916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NURTURE</a:t>
            </a:r>
            <a:endParaRPr lang="en-US" sz="1100" dirty="0"/>
          </a:p>
        </p:txBody>
      </p:sp>
      <p:sp>
        <p:nvSpPr>
          <p:cNvPr id="20" name="Text 18"/>
          <p:cNvSpPr/>
          <p:nvPr/>
        </p:nvSpPr>
        <p:spPr>
          <a:xfrm>
            <a:off x="7040880" y="1883664"/>
            <a:ext cx="1691640" cy="804672"/>
          </a:xfrm>
          <a:prstGeom prst="rect">
            <a:avLst/>
          </a:prstGeom>
          <a:noFill/>
          <a:ln/>
        </p:spPr>
        <p:txBody>
          <a:bodyPr wrap="square" lIns="0" tIns="0" rIns="0" bIns="0"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High CLV · Low Risk</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Pre-emptive loyalty</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bonuses</a:t>
            </a:r>
            <a:endParaRPr lang="en-US" sz="950" dirty="0"/>
          </a:p>
        </p:txBody>
      </p:sp>
      <p:sp>
        <p:nvSpPr>
          <p:cNvPr id="21" name="Shape 19"/>
          <p:cNvSpPr/>
          <p:nvPr/>
        </p:nvSpPr>
        <p:spPr>
          <a:xfrm>
            <a:off x="4983480" y="2852928"/>
            <a:ext cx="1874520" cy="1261872"/>
          </a:xfrm>
          <a:prstGeom prst="roundRect">
            <a:avLst>
              <a:gd name="adj" fmla="val 7246"/>
            </a:avLst>
          </a:prstGeom>
          <a:solidFill>
            <a:srgbClr val="B45309"/>
          </a:solidFill>
          <a:ln/>
          <a:effectLst>
            <a:outerShdw sx="100000" sy="100000" kx="0" ky="0" algn="bl" rotWithShape="0" blurRad="101600" dist="38100" dir="2700000">
              <a:srgbClr val="000000">
                <a:alpha val="12000"/>
              </a:srgbClr>
            </a:outerShdw>
          </a:effectLst>
        </p:spPr>
      </p:sp>
      <p:sp>
        <p:nvSpPr>
          <p:cNvPr id="22" name="Text 20"/>
          <p:cNvSpPr/>
          <p:nvPr/>
        </p:nvSpPr>
        <p:spPr>
          <a:xfrm>
            <a:off x="5074920" y="2944368"/>
            <a:ext cx="16916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CONVERT</a:t>
            </a:r>
            <a:endParaRPr lang="en-US" sz="1100" dirty="0"/>
          </a:p>
        </p:txBody>
      </p:sp>
      <p:sp>
        <p:nvSpPr>
          <p:cNvPr id="23" name="Text 21"/>
          <p:cNvSpPr/>
          <p:nvPr/>
        </p:nvSpPr>
        <p:spPr>
          <a:xfrm>
            <a:off x="5074920" y="3255264"/>
            <a:ext cx="1691640" cy="804672"/>
          </a:xfrm>
          <a:prstGeom prst="rect">
            <a:avLst/>
          </a:prstGeom>
          <a:noFill/>
          <a:ln/>
        </p:spPr>
        <p:txBody>
          <a:bodyPr wrap="square" lIns="0" tIns="0" rIns="0" bIns="0"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Low CLV · High Risk</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Self-serve offer</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via SMS / app</a:t>
            </a:r>
            <a:endParaRPr lang="en-US" sz="950" dirty="0"/>
          </a:p>
        </p:txBody>
      </p:sp>
      <p:sp>
        <p:nvSpPr>
          <p:cNvPr id="24" name="Text 22"/>
          <p:cNvSpPr/>
          <p:nvPr/>
        </p:nvSpPr>
        <p:spPr>
          <a:xfrm>
            <a:off x="5074920" y="3895344"/>
            <a:ext cx="1691640" cy="182880"/>
          </a:xfrm>
          <a:prstGeom prst="rect">
            <a:avLst/>
          </a:prstGeom>
          <a:noFill/>
          <a:ln/>
        </p:spPr>
        <p:txBody>
          <a:bodyPr wrap="square" lIns="0" tIns="0" rIns="0" bIns="0" rtlCol="0" anchor="ctr"/>
          <a:lstStyle/>
          <a:p>
            <a:pPr algn="ctr" indent="0" marL="0">
              <a:buNone/>
            </a:pPr>
            <a:r>
              <a:rPr lang="en-US" sz="850" b="1" dirty="0">
                <a:solidFill>
                  <a:srgbClr val="F59E0B"/>
                </a:solidFill>
                <a:latin typeface="Calibri" pitchFamily="34" charset="0"/>
                <a:ea typeface="Calibri" pitchFamily="34" charset="-122"/>
                <a:cs typeface="Calibri" pitchFamily="34" charset="-120"/>
              </a:rPr>
              <a:t>TIER 2</a:t>
            </a:r>
            <a:endParaRPr lang="en-US" sz="850" dirty="0"/>
          </a:p>
        </p:txBody>
      </p:sp>
      <p:sp>
        <p:nvSpPr>
          <p:cNvPr id="25" name="Shape 23"/>
          <p:cNvSpPr/>
          <p:nvPr/>
        </p:nvSpPr>
        <p:spPr>
          <a:xfrm>
            <a:off x="6949440" y="2852928"/>
            <a:ext cx="1874520" cy="1261872"/>
          </a:xfrm>
          <a:prstGeom prst="roundRect">
            <a:avLst>
              <a:gd name="adj" fmla="val 7246"/>
            </a:avLst>
          </a:prstGeom>
          <a:solidFill>
            <a:srgbClr val="065A82"/>
          </a:solidFill>
          <a:ln/>
          <a:effectLst>
            <a:outerShdw sx="100000" sy="100000" kx="0" ky="0" algn="bl" rotWithShape="0" blurRad="101600" dist="38100" dir="2700000">
              <a:srgbClr val="000000">
                <a:alpha val="12000"/>
              </a:srgbClr>
            </a:outerShdw>
          </a:effectLst>
        </p:spPr>
      </p:sp>
      <p:sp>
        <p:nvSpPr>
          <p:cNvPr id="26" name="Text 24"/>
          <p:cNvSpPr/>
          <p:nvPr/>
        </p:nvSpPr>
        <p:spPr>
          <a:xfrm>
            <a:off x="7040880" y="2944368"/>
            <a:ext cx="16916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 INTERCEPT</a:t>
            </a:r>
            <a:endParaRPr lang="en-US" sz="1100" dirty="0"/>
          </a:p>
        </p:txBody>
      </p:sp>
      <p:sp>
        <p:nvSpPr>
          <p:cNvPr id="27" name="Text 25"/>
          <p:cNvSpPr/>
          <p:nvPr/>
        </p:nvSpPr>
        <p:spPr>
          <a:xfrm>
            <a:off x="7040880" y="3255264"/>
            <a:ext cx="1691640" cy="804672"/>
          </a:xfrm>
          <a:prstGeom prst="rect">
            <a:avLst/>
          </a:prstGeom>
          <a:noFill/>
          <a:ln/>
        </p:spPr>
        <p:txBody>
          <a:bodyPr wrap="square" lIns="0" tIns="0" rIns="0" bIns="0"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High CLV · High Risk</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Proactive call +</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premium upgrade</a:t>
            </a:r>
            <a:endParaRPr lang="en-US" sz="950" dirty="0"/>
          </a:p>
        </p:txBody>
      </p:sp>
      <p:sp>
        <p:nvSpPr>
          <p:cNvPr id="28" name="Text 26"/>
          <p:cNvSpPr/>
          <p:nvPr/>
        </p:nvSpPr>
        <p:spPr>
          <a:xfrm>
            <a:off x="7040880" y="3895344"/>
            <a:ext cx="1691640" cy="182880"/>
          </a:xfrm>
          <a:prstGeom prst="rect">
            <a:avLst/>
          </a:prstGeom>
          <a:noFill/>
          <a:ln/>
        </p:spPr>
        <p:txBody>
          <a:bodyPr wrap="square" lIns="0" tIns="0" rIns="0" bIns="0" rtlCol="0" anchor="ctr"/>
          <a:lstStyle/>
          <a:p>
            <a:pPr algn="ctr" indent="0" marL="0">
              <a:buNone/>
            </a:pPr>
            <a:r>
              <a:rPr lang="en-US" sz="850" b="1" dirty="0">
                <a:solidFill>
                  <a:srgbClr val="F59E0B"/>
                </a:solidFill>
                <a:latin typeface="Calibri" pitchFamily="34" charset="0"/>
                <a:ea typeface="Calibri" pitchFamily="34" charset="-122"/>
                <a:cs typeface="Calibri" pitchFamily="34" charset="-120"/>
              </a:rPr>
              <a:t>TIER 1 — PRIORITY</a:t>
            </a:r>
            <a:endParaRPr lang="en-US" sz="850" dirty="0"/>
          </a:p>
        </p:txBody>
      </p:sp>
      <p:sp>
        <p:nvSpPr>
          <p:cNvPr id="29" name="Text 27"/>
          <p:cNvSpPr/>
          <p:nvPr/>
        </p:nvSpPr>
        <p:spPr>
          <a:xfrm>
            <a:off x="4983480" y="4206240"/>
            <a:ext cx="38404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 LOW CLV          HIGH CLV →</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0A2342"/>
                </a:solidFill>
                <a:latin typeface="Cambria" pitchFamily="34" charset="0"/>
                <a:ea typeface="Cambria" pitchFamily="34" charset="-122"/>
                <a:cs typeface="Cambria" pitchFamily="34" charset="-120"/>
              </a:rPr>
              <a:t>Intervention Strategy: Automated Pipeline Design</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0891B2"/>
                </a:solidFill>
                <a:latin typeface="Calibri" pitchFamily="34" charset="0"/>
                <a:ea typeface="Calibri" pitchFamily="34" charset="-122"/>
                <a:cs typeface="Calibri" pitchFamily="34" charset="-120"/>
              </a:rPr>
              <a:t>From model score to personalised offer — a fully automated retention trigger system</a:t>
            </a:r>
            <a:endParaRPr lang="en-US" sz="1300" dirty="0"/>
          </a:p>
        </p:txBody>
      </p:sp>
      <p:sp>
        <p:nvSpPr>
          <p:cNvPr id="4" name="Shape 2"/>
          <p:cNvSpPr/>
          <p:nvPr/>
        </p:nvSpPr>
        <p:spPr>
          <a:xfrm>
            <a:off x="274320" y="1115568"/>
            <a:ext cx="2788920" cy="1508760"/>
          </a:xfrm>
          <a:prstGeom prst="roundRect">
            <a:avLst>
              <a:gd name="adj" fmla="val 6061"/>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411480" y="1225296"/>
            <a:ext cx="457200" cy="457200"/>
          </a:xfrm>
          <a:prstGeom prst="ellipse">
            <a:avLst/>
          </a:prstGeom>
          <a:solidFill>
            <a:srgbClr val="0891B2"/>
          </a:solidFill>
          <a:ln/>
        </p:spPr>
      </p:sp>
      <p:sp>
        <p:nvSpPr>
          <p:cNvPr id="6" name="Text 4"/>
          <p:cNvSpPr/>
          <p:nvPr/>
        </p:nvSpPr>
        <p:spPr>
          <a:xfrm>
            <a:off x="411480" y="122529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sp>
        <p:nvSpPr>
          <p:cNvPr id="7" name="Text 5"/>
          <p:cNvSpPr/>
          <p:nvPr/>
        </p:nvSpPr>
        <p:spPr>
          <a:xfrm>
            <a:off x="987552" y="1243584"/>
            <a:ext cx="1965960" cy="256032"/>
          </a:xfrm>
          <a:prstGeom prst="rect">
            <a:avLst/>
          </a:prstGeom>
          <a:noFill/>
          <a:ln/>
        </p:spPr>
        <p:txBody>
          <a:bodyPr wrap="square" lIns="0" tIns="0" rIns="0" bIns="0" rtlCol="0" anchor="ctr"/>
          <a:lstStyle/>
          <a:p>
            <a:pPr algn="l" indent="0" marL="0">
              <a:buNone/>
            </a:pPr>
            <a:r>
              <a:rPr lang="en-US" sz="1200" b="1" dirty="0">
                <a:solidFill>
                  <a:srgbClr val="0A2342"/>
                </a:solidFill>
                <a:latin typeface="Cambria" pitchFamily="34" charset="0"/>
                <a:ea typeface="Cambria" pitchFamily="34" charset="-122"/>
                <a:cs typeface="Cambria" pitchFamily="34" charset="-120"/>
              </a:rPr>
              <a:t>Daily Scoring</a:t>
            </a:r>
            <a:endParaRPr lang="en-US" sz="1200" dirty="0"/>
          </a:p>
        </p:txBody>
      </p:sp>
      <p:sp>
        <p:nvSpPr>
          <p:cNvPr id="8" name="Text 6"/>
          <p:cNvSpPr/>
          <p:nvPr/>
        </p:nvSpPr>
        <p:spPr>
          <a:xfrm>
            <a:off x="411480" y="1755648"/>
            <a:ext cx="2542032" cy="804672"/>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Model scores all active subscribers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nightly — churn probability updated</a:t>
            </a:r>
            <a:endParaRPr lang="en-US" sz="1050" dirty="0"/>
          </a:p>
        </p:txBody>
      </p:sp>
      <p:sp>
        <p:nvSpPr>
          <p:cNvPr id="9" name="Text 7"/>
          <p:cNvSpPr/>
          <p:nvPr/>
        </p:nvSpPr>
        <p:spPr>
          <a:xfrm>
            <a:off x="3099816" y="1664208"/>
            <a:ext cx="274320" cy="402336"/>
          </a:xfrm>
          <a:prstGeom prst="rect">
            <a:avLst/>
          </a:prstGeom>
          <a:noFill/>
          <a:ln/>
        </p:spPr>
        <p:txBody>
          <a:bodyPr wrap="square" lIns="0" tIns="0" rIns="0" bIns="0" rtlCol="0" anchor="ctr"/>
          <a:lstStyle/>
          <a:p>
            <a:pPr algn="ctr" indent="0" marL="0">
              <a:buNone/>
            </a:pPr>
            <a:r>
              <a:rPr lang="en-US" sz="1800" dirty="0">
                <a:solidFill>
                  <a:srgbClr val="0891B2"/>
                </a:solidFill>
              </a:rPr>
              <a:t>→</a:t>
            </a:r>
            <a:endParaRPr lang="en-US" sz="1800" dirty="0"/>
          </a:p>
        </p:txBody>
      </p:sp>
      <p:sp>
        <p:nvSpPr>
          <p:cNvPr id="10" name="Shape 8"/>
          <p:cNvSpPr/>
          <p:nvPr/>
        </p:nvSpPr>
        <p:spPr>
          <a:xfrm>
            <a:off x="3246120" y="1115568"/>
            <a:ext cx="2788920" cy="1508760"/>
          </a:xfrm>
          <a:prstGeom prst="roundRect">
            <a:avLst>
              <a:gd name="adj" fmla="val 6061"/>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3383280" y="1225296"/>
            <a:ext cx="457200" cy="457200"/>
          </a:xfrm>
          <a:prstGeom prst="ellipse">
            <a:avLst/>
          </a:prstGeom>
          <a:solidFill>
            <a:srgbClr val="0D3B6B"/>
          </a:solidFill>
          <a:ln/>
        </p:spPr>
      </p:sp>
      <p:sp>
        <p:nvSpPr>
          <p:cNvPr id="12" name="Text 10"/>
          <p:cNvSpPr/>
          <p:nvPr/>
        </p:nvSpPr>
        <p:spPr>
          <a:xfrm>
            <a:off x="3383280" y="122529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sp>
        <p:nvSpPr>
          <p:cNvPr id="13" name="Text 11"/>
          <p:cNvSpPr/>
          <p:nvPr/>
        </p:nvSpPr>
        <p:spPr>
          <a:xfrm>
            <a:off x="3959352" y="1243584"/>
            <a:ext cx="1965960" cy="256032"/>
          </a:xfrm>
          <a:prstGeom prst="rect">
            <a:avLst/>
          </a:prstGeom>
          <a:noFill/>
          <a:ln/>
        </p:spPr>
        <p:txBody>
          <a:bodyPr wrap="square" lIns="0" tIns="0" rIns="0" bIns="0" rtlCol="0" anchor="ctr"/>
          <a:lstStyle/>
          <a:p>
            <a:pPr algn="l" indent="0" marL="0">
              <a:buNone/>
            </a:pPr>
            <a:r>
              <a:rPr lang="en-US" sz="1200" b="1" dirty="0">
                <a:solidFill>
                  <a:srgbClr val="0A2342"/>
                </a:solidFill>
                <a:latin typeface="Cambria" pitchFamily="34" charset="0"/>
                <a:ea typeface="Cambria" pitchFamily="34" charset="-122"/>
                <a:cs typeface="Cambria" pitchFamily="34" charset="-120"/>
              </a:rPr>
              <a:t>Threshold Filter</a:t>
            </a:r>
            <a:endParaRPr lang="en-US" sz="1200" dirty="0"/>
          </a:p>
        </p:txBody>
      </p:sp>
      <p:sp>
        <p:nvSpPr>
          <p:cNvPr id="14" name="Text 12"/>
          <p:cNvSpPr/>
          <p:nvPr/>
        </p:nvSpPr>
        <p:spPr>
          <a:xfrm>
            <a:off x="3383280" y="1755648"/>
            <a:ext cx="2542032" cy="804672"/>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Customers with P(churn) ≥ 0.341</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and eqpdays ≥ 335 are flagged</a:t>
            </a:r>
            <a:endParaRPr lang="en-US" sz="1050" dirty="0"/>
          </a:p>
        </p:txBody>
      </p:sp>
      <p:sp>
        <p:nvSpPr>
          <p:cNvPr id="15" name="Text 13"/>
          <p:cNvSpPr/>
          <p:nvPr/>
        </p:nvSpPr>
        <p:spPr>
          <a:xfrm>
            <a:off x="6071616" y="1664208"/>
            <a:ext cx="274320" cy="402336"/>
          </a:xfrm>
          <a:prstGeom prst="rect">
            <a:avLst/>
          </a:prstGeom>
          <a:noFill/>
          <a:ln/>
        </p:spPr>
        <p:txBody>
          <a:bodyPr wrap="square" lIns="0" tIns="0" rIns="0" bIns="0" rtlCol="0" anchor="ctr"/>
          <a:lstStyle/>
          <a:p>
            <a:pPr algn="ctr" indent="0" marL="0">
              <a:buNone/>
            </a:pPr>
            <a:r>
              <a:rPr lang="en-US" sz="1800" dirty="0">
                <a:solidFill>
                  <a:srgbClr val="0891B2"/>
                </a:solidFill>
              </a:rPr>
              <a:t>→</a:t>
            </a:r>
            <a:endParaRPr lang="en-US" sz="1800" dirty="0"/>
          </a:p>
        </p:txBody>
      </p:sp>
      <p:sp>
        <p:nvSpPr>
          <p:cNvPr id="16" name="Shape 14"/>
          <p:cNvSpPr/>
          <p:nvPr/>
        </p:nvSpPr>
        <p:spPr>
          <a:xfrm>
            <a:off x="6217920" y="1115568"/>
            <a:ext cx="2788920" cy="1508760"/>
          </a:xfrm>
          <a:prstGeom prst="roundRect">
            <a:avLst>
              <a:gd name="adj" fmla="val 6061"/>
            </a:avLst>
          </a:prstGeom>
          <a:solidFill>
            <a:srgbClr val="FFFFFF"/>
          </a:solidFill>
          <a:ln/>
          <a:effectLst>
            <a:outerShdw sx="100000" sy="100000" kx="0" ky="0" algn="bl" rotWithShape="0" blurRad="101600" dist="38100" dir="2700000">
              <a:srgbClr val="000000">
                <a:alpha val="12000"/>
              </a:srgbClr>
            </a:outerShdw>
          </a:effectLst>
        </p:spPr>
      </p:sp>
      <p:sp>
        <p:nvSpPr>
          <p:cNvPr id="17" name="Shape 15"/>
          <p:cNvSpPr/>
          <p:nvPr/>
        </p:nvSpPr>
        <p:spPr>
          <a:xfrm>
            <a:off x="6355080" y="1225296"/>
            <a:ext cx="457200" cy="457200"/>
          </a:xfrm>
          <a:prstGeom prst="ellipse">
            <a:avLst/>
          </a:prstGeom>
          <a:solidFill>
            <a:srgbClr val="0891B2"/>
          </a:solidFill>
          <a:ln/>
        </p:spPr>
      </p:sp>
      <p:sp>
        <p:nvSpPr>
          <p:cNvPr id="18" name="Text 16"/>
          <p:cNvSpPr/>
          <p:nvPr/>
        </p:nvSpPr>
        <p:spPr>
          <a:xfrm>
            <a:off x="6355080" y="122529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03</a:t>
            </a:r>
            <a:endParaRPr lang="en-US" sz="1200" dirty="0"/>
          </a:p>
        </p:txBody>
      </p:sp>
      <p:sp>
        <p:nvSpPr>
          <p:cNvPr id="19" name="Text 17"/>
          <p:cNvSpPr/>
          <p:nvPr/>
        </p:nvSpPr>
        <p:spPr>
          <a:xfrm>
            <a:off x="6931152" y="1243584"/>
            <a:ext cx="1965960" cy="256032"/>
          </a:xfrm>
          <a:prstGeom prst="rect">
            <a:avLst/>
          </a:prstGeom>
          <a:noFill/>
          <a:ln/>
        </p:spPr>
        <p:txBody>
          <a:bodyPr wrap="square" lIns="0" tIns="0" rIns="0" bIns="0" rtlCol="0" anchor="ctr"/>
          <a:lstStyle/>
          <a:p>
            <a:pPr algn="l" indent="0" marL="0">
              <a:buNone/>
            </a:pPr>
            <a:r>
              <a:rPr lang="en-US" sz="1200" b="1" dirty="0">
                <a:solidFill>
                  <a:srgbClr val="0A2342"/>
                </a:solidFill>
                <a:latin typeface="Cambria" pitchFamily="34" charset="0"/>
                <a:ea typeface="Cambria" pitchFamily="34" charset="-122"/>
                <a:cs typeface="Cambria" pitchFamily="34" charset="-120"/>
              </a:rPr>
              <a:t>CLV Tiering</a:t>
            </a:r>
            <a:endParaRPr lang="en-US" sz="1200" dirty="0"/>
          </a:p>
        </p:txBody>
      </p:sp>
      <p:sp>
        <p:nvSpPr>
          <p:cNvPr id="20" name="Text 18"/>
          <p:cNvSpPr/>
          <p:nvPr/>
        </p:nvSpPr>
        <p:spPr>
          <a:xfrm>
            <a:off x="6355080" y="1755648"/>
            <a:ext cx="2542032" cy="804672"/>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Flagged customers ranked by CLV proxy</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(Rev × Tenure) into Tier 1 / 2 / 3</a:t>
            </a:r>
            <a:endParaRPr lang="en-US" sz="1050" dirty="0"/>
          </a:p>
        </p:txBody>
      </p:sp>
      <p:sp>
        <p:nvSpPr>
          <p:cNvPr id="21" name="Shape 19"/>
          <p:cNvSpPr/>
          <p:nvPr/>
        </p:nvSpPr>
        <p:spPr>
          <a:xfrm>
            <a:off x="274320" y="2834640"/>
            <a:ext cx="2788920" cy="1508760"/>
          </a:xfrm>
          <a:prstGeom prst="roundRect">
            <a:avLst>
              <a:gd name="adj" fmla="val 6061"/>
            </a:avLst>
          </a:prstGeom>
          <a:solidFill>
            <a:srgbClr val="FFFFFF"/>
          </a:solidFill>
          <a:ln/>
          <a:effectLst>
            <a:outerShdw sx="100000" sy="100000" kx="0" ky="0" algn="bl" rotWithShape="0" blurRad="101600" dist="38100" dir="2700000">
              <a:srgbClr val="000000">
                <a:alpha val="12000"/>
              </a:srgbClr>
            </a:outerShdw>
          </a:effectLst>
        </p:spPr>
      </p:sp>
      <p:sp>
        <p:nvSpPr>
          <p:cNvPr id="22" name="Shape 20"/>
          <p:cNvSpPr/>
          <p:nvPr/>
        </p:nvSpPr>
        <p:spPr>
          <a:xfrm>
            <a:off x="411480" y="2944368"/>
            <a:ext cx="457200" cy="457200"/>
          </a:xfrm>
          <a:prstGeom prst="ellipse">
            <a:avLst/>
          </a:prstGeom>
          <a:solidFill>
            <a:srgbClr val="0D3B6B"/>
          </a:solidFill>
          <a:ln/>
        </p:spPr>
      </p:sp>
      <p:sp>
        <p:nvSpPr>
          <p:cNvPr id="23" name="Text 21"/>
          <p:cNvSpPr/>
          <p:nvPr/>
        </p:nvSpPr>
        <p:spPr>
          <a:xfrm>
            <a:off x="411480" y="29443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04</a:t>
            </a:r>
            <a:endParaRPr lang="en-US" sz="1200" dirty="0"/>
          </a:p>
        </p:txBody>
      </p:sp>
      <p:sp>
        <p:nvSpPr>
          <p:cNvPr id="24" name="Text 22"/>
          <p:cNvSpPr/>
          <p:nvPr/>
        </p:nvSpPr>
        <p:spPr>
          <a:xfrm>
            <a:off x="987552" y="2962656"/>
            <a:ext cx="1965960" cy="256032"/>
          </a:xfrm>
          <a:prstGeom prst="rect">
            <a:avLst/>
          </a:prstGeom>
          <a:noFill/>
          <a:ln/>
        </p:spPr>
        <p:txBody>
          <a:bodyPr wrap="square" lIns="0" tIns="0" rIns="0" bIns="0" rtlCol="0" anchor="ctr"/>
          <a:lstStyle/>
          <a:p>
            <a:pPr algn="l" indent="0" marL="0">
              <a:buNone/>
            </a:pPr>
            <a:r>
              <a:rPr lang="en-US" sz="1200" b="1" dirty="0">
                <a:solidFill>
                  <a:srgbClr val="0A2342"/>
                </a:solidFill>
                <a:latin typeface="Cambria" pitchFamily="34" charset="0"/>
                <a:ea typeface="Cambria" pitchFamily="34" charset="-122"/>
                <a:cs typeface="Cambria" pitchFamily="34" charset="-120"/>
              </a:rPr>
              <a:t>Offer Generation</a:t>
            </a:r>
            <a:endParaRPr lang="en-US" sz="1200" dirty="0"/>
          </a:p>
        </p:txBody>
      </p:sp>
      <p:sp>
        <p:nvSpPr>
          <p:cNvPr id="25" name="Text 23"/>
          <p:cNvSpPr/>
          <p:nvPr/>
        </p:nvSpPr>
        <p:spPr>
          <a:xfrm>
            <a:off x="411480" y="3474720"/>
            <a:ext cx="2542032" cy="804672"/>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Personalised upgrade offer built:</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device model + subsidy level + term</a:t>
            </a:r>
            <a:endParaRPr lang="en-US" sz="1050" dirty="0"/>
          </a:p>
        </p:txBody>
      </p:sp>
      <p:sp>
        <p:nvSpPr>
          <p:cNvPr id="26" name="Text 24"/>
          <p:cNvSpPr/>
          <p:nvPr/>
        </p:nvSpPr>
        <p:spPr>
          <a:xfrm>
            <a:off x="3099816" y="3383280"/>
            <a:ext cx="274320" cy="402336"/>
          </a:xfrm>
          <a:prstGeom prst="rect">
            <a:avLst/>
          </a:prstGeom>
          <a:noFill/>
          <a:ln/>
        </p:spPr>
        <p:txBody>
          <a:bodyPr wrap="square" lIns="0" tIns="0" rIns="0" bIns="0" rtlCol="0" anchor="ctr"/>
          <a:lstStyle/>
          <a:p>
            <a:pPr algn="ctr" indent="0" marL="0">
              <a:buNone/>
            </a:pPr>
            <a:r>
              <a:rPr lang="en-US" sz="1800" dirty="0">
                <a:solidFill>
                  <a:srgbClr val="0891B2"/>
                </a:solidFill>
              </a:rPr>
              <a:t>→</a:t>
            </a:r>
            <a:endParaRPr lang="en-US" sz="1800" dirty="0"/>
          </a:p>
        </p:txBody>
      </p:sp>
      <p:sp>
        <p:nvSpPr>
          <p:cNvPr id="27" name="Shape 25"/>
          <p:cNvSpPr/>
          <p:nvPr/>
        </p:nvSpPr>
        <p:spPr>
          <a:xfrm>
            <a:off x="3246120" y="2834640"/>
            <a:ext cx="2788920" cy="1508760"/>
          </a:xfrm>
          <a:prstGeom prst="roundRect">
            <a:avLst>
              <a:gd name="adj" fmla="val 6061"/>
            </a:avLst>
          </a:prstGeom>
          <a:solidFill>
            <a:srgbClr val="FFFFFF"/>
          </a:solidFill>
          <a:ln/>
          <a:effectLst>
            <a:outerShdw sx="100000" sy="100000" kx="0" ky="0" algn="bl" rotWithShape="0" blurRad="101600" dist="38100" dir="2700000">
              <a:srgbClr val="000000">
                <a:alpha val="12000"/>
              </a:srgbClr>
            </a:outerShdw>
          </a:effectLst>
        </p:spPr>
      </p:sp>
      <p:sp>
        <p:nvSpPr>
          <p:cNvPr id="28" name="Shape 26"/>
          <p:cNvSpPr/>
          <p:nvPr/>
        </p:nvSpPr>
        <p:spPr>
          <a:xfrm>
            <a:off x="3383280" y="2944368"/>
            <a:ext cx="457200" cy="457200"/>
          </a:xfrm>
          <a:prstGeom prst="ellipse">
            <a:avLst/>
          </a:prstGeom>
          <a:solidFill>
            <a:srgbClr val="0891B2"/>
          </a:solidFill>
          <a:ln/>
        </p:spPr>
      </p:sp>
      <p:sp>
        <p:nvSpPr>
          <p:cNvPr id="29" name="Text 27"/>
          <p:cNvSpPr/>
          <p:nvPr/>
        </p:nvSpPr>
        <p:spPr>
          <a:xfrm>
            <a:off x="3383280" y="29443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05</a:t>
            </a:r>
            <a:endParaRPr lang="en-US" sz="1200" dirty="0"/>
          </a:p>
        </p:txBody>
      </p:sp>
      <p:sp>
        <p:nvSpPr>
          <p:cNvPr id="30" name="Text 28"/>
          <p:cNvSpPr/>
          <p:nvPr/>
        </p:nvSpPr>
        <p:spPr>
          <a:xfrm>
            <a:off x="3959352" y="2962656"/>
            <a:ext cx="1965960" cy="256032"/>
          </a:xfrm>
          <a:prstGeom prst="rect">
            <a:avLst/>
          </a:prstGeom>
          <a:noFill/>
          <a:ln/>
        </p:spPr>
        <p:txBody>
          <a:bodyPr wrap="square" lIns="0" tIns="0" rIns="0" bIns="0" rtlCol="0" anchor="ctr"/>
          <a:lstStyle/>
          <a:p>
            <a:pPr algn="l" indent="0" marL="0">
              <a:buNone/>
            </a:pPr>
            <a:r>
              <a:rPr lang="en-US" sz="1200" b="1" dirty="0">
                <a:solidFill>
                  <a:srgbClr val="0A2342"/>
                </a:solidFill>
                <a:latin typeface="Cambria" pitchFamily="34" charset="0"/>
                <a:ea typeface="Cambria" pitchFamily="34" charset="-122"/>
                <a:cs typeface="Cambria" pitchFamily="34" charset="-120"/>
              </a:rPr>
              <a:t>Outreach</a:t>
            </a:r>
            <a:endParaRPr lang="en-US" sz="1200" dirty="0"/>
          </a:p>
        </p:txBody>
      </p:sp>
      <p:sp>
        <p:nvSpPr>
          <p:cNvPr id="31" name="Text 29"/>
          <p:cNvSpPr/>
          <p:nvPr/>
        </p:nvSpPr>
        <p:spPr>
          <a:xfrm>
            <a:off x="3383280" y="3474720"/>
            <a:ext cx="2542032" cy="804672"/>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Tier 1: outbound call within 24 hrs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Tier 2: SMS/push within 48 hrs</a:t>
            </a:r>
            <a:endParaRPr lang="en-US" sz="1050" dirty="0"/>
          </a:p>
        </p:txBody>
      </p:sp>
      <p:sp>
        <p:nvSpPr>
          <p:cNvPr id="32" name="Text 30"/>
          <p:cNvSpPr/>
          <p:nvPr/>
        </p:nvSpPr>
        <p:spPr>
          <a:xfrm>
            <a:off x="6071616" y="3383280"/>
            <a:ext cx="274320" cy="402336"/>
          </a:xfrm>
          <a:prstGeom prst="rect">
            <a:avLst/>
          </a:prstGeom>
          <a:noFill/>
          <a:ln/>
        </p:spPr>
        <p:txBody>
          <a:bodyPr wrap="square" lIns="0" tIns="0" rIns="0" bIns="0" rtlCol="0" anchor="ctr"/>
          <a:lstStyle/>
          <a:p>
            <a:pPr algn="ctr" indent="0" marL="0">
              <a:buNone/>
            </a:pPr>
            <a:r>
              <a:rPr lang="en-US" sz="1800" dirty="0">
                <a:solidFill>
                  <a:srgbClr val="0891B2"/>
                </a:solidFill>
              </a:rPr>
              <a:t>→</a:t>
            </a:r>
            <a:endParaRPr lang="en-US" sz="1800" dirty="0"/>
          </a:p>
        </p:txBody>
      </p:sp>
      <p:sp>
        <p:nvSpPr>
          <p:cNvPr id="33" name="Shape 31"/>
          <p:cNvSpPr/>
          <p:nvPr/>
        </p:nvSpPr>
        <p:spPr>
          <a:xfrm>
            <a:off x="6217920" y="2834640"/>
            <a:ext cx="2788920" cy="1508760"/>
          </a:xfrm>
          <a:prstGeom prst="roundRect">
            <a:avLst>
              <a:gd name="adj" fmla="val 6061"/>
            </a:avLst>
          </a:prstGeom>
          <a:solidFill>
            <a:srgbClr val="FFFFFF"/>
          </a:solidFill>
          <a:ln/>
          <a:effectLst>
            <a:outerShdw sx="100000" sy="100000" kx="0" ky="0" algn="bl" rotWithShape="0" blurRad="101600" dist="38100" dir="2700000">
              <a:srgbClr val="000000">
                <a:alpha val="12000"/>
              </a:srgbClr>
            </a:outerShdw>
          </a:effectLst>
        </p:spPr>
      </p:sp>
      <p:sp>
        <p:nvSpPr>
          <p:cNvPr id="34" name="Shape 32"/>
          <p:cNvSpPr/>
          <p:nvPr/>
        </p:nvSpPr>
        <p:spPr>
          <a:xfrm>
            <a:off x="6355080" y="2944368"/>
            <a:ext cx="457200" cy="457200"/>
          </a:xfrm>
          <a:prstGeom prst="ellipse">
            <a:avLst/>
          </a:prstGeom>
          <a:solidFill>
            <a:srgbClr val="0D3B6B"/>
          </a:solidFill>
          <a:ln/>
        </p:spPr>
      </p:sp>
      <p:sp>
        <p:nvSpPr>
          <p:cNvPr id="35" name="Text 33"/>
          <p:cNvSpPr/>
          <p:nvPr/>
        </p:nvSpPr>
        <p:spPr>
          <a:xfrm>
            <a:off x="6355080" y="29443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06</a:t>
            </a:r>
            <a:endParaRPr lang="en-US" sz="1200" dirty="0"/>
          </a:p>
        </p:txBody>
      </p:sp>
      <p:sp>
        <p:nvSpPr>
          <p:cNvPr id="36" name="Text 34"/>
          <p:cNvSpPr/>
          <p:nvPr/>
        </p:nvSpPr>
        <p:spPr>
          <a:xfrm>
            <a:off x="6931152" y="2962656"/>
            <a:ext cx="1965960" cy="256032"/>
          </a:xfrm>
          <a:prstGeom prst="rect">
            <a:avLst/>
          </a:prstGeom>
          <a:noFill/>
          <a:ln/>
        </p:spPr>
        <p:txBody>
          <a:bodyPr wrap="square" lIns="0" tIns="0" rIns="0" bIns="0" rtlCol="0" anchor="ctr"/>
          <a:lstStyle/>
          <a:p>
            <a:pPr algn="l" indent="0" marL="0">
              <a:buNone/>
            </a:pPr>
            <a:r>
              <a:rPr lang="en-US" sz="1200" b="1" dirty="0">
                <a:solidFill>
                  <a:srgbClr val="0A2342"/>
                </a:solidFill>
                <a:latin typeface="Cambria" pitchFamily="34" charset="0"/>
                <a:ea typeface="Cambria" pitchFamily="34" charset="-122"/>
                <a:cs typeface="Cambria" pitchFamily="34" charset="-120"/>
              </a:rPr>
              <a:t>Track &amp; Learn</a:t>
            </a:r>
            <a:endParaRPr lang="en-US" sz="1200" dirty="0"/>
          </a:p>
        </p:txBody>
      </p:sp>
      <p:sp>
        <p:nvSpPr>
          <p:cNvPr id="37" name="Text 35"/>
          <p:cNvSpPr/>
          <p:nvPr/>
        </p:nvSpPr>
        <p:spPr>
          <a:xfrm>
            <a:off x="6355080" y="3474720"/>
            <a:ext cx="2542032" cy="804672"/>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Acceptance data fed back to model</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for continuous improvement</a:t>
            </a:r>
            <a:endParaRPr lang="en-US" sz="1050" dirty="0"/>
          </a:p>
        </p:txBody>
      </p:sp>
      <p:sp>
        <p:nvSpPr>
          <p:cNvPr id="38" name="Text 36"/>
          <p:cNvSpPr/>
          <p:nvPr/>
        </p:nvSpPr>
        <p:spPr>
          <a:xfrm>
            <a:off x="274320" y="4773168"/>
            <a:ext cx="8595360" cy="22860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Fully automated — zero manual intervention required after initial setup  ·  Model refresh cycle: monthly  ·  Deployment: existing CRM infrastructure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342"/>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Financial Impact: Three Campaign Scenarios</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22D3EE"/>
                </a:solidFill>
                <a:latin typeface="Calibri" pitchFamily="34" charset="0"/>
                <a:ea typeface="Calibri" pitchFamily="34" charset="-122"/>
                <a:cs typeface="Calibri" pitchFamily="34" charset="-120"/>
              </a:rPr>
              <a:t>Bottom-up ROI calculated from individual customer revenue data — not industry averages</a:t>
            </a:r>
            <a:endParaRPr lang="en-US" sz="1300" dirty="0"/>
          </a:p>
        </p:txBody>
      </p:sp>
      <p:sp>
        <p:nvSpPr>
          <p:cNvPr id="4" name="Shape 2"/>
          <p:cNvSpPr/>
          <p:nvPr/>
        </p:nvSpPr>
        <p:spPr>
          <a:xfrm>
            <a:off x="274320" y="1115568"/>
            <a:ext cx="2788920" cy="3749040"/>
          </a:xfrm>
          <a:prstGeom prst="roundRect">
            <a:avLst>
              <a:gd name="adj" fmla="val 3279"/>
            </a:avLst>
          </a:prstGeom>
          <a:solidFill>
            <a:srgbClr val="0D5F82"/>
          </a:solidFill>
          <a:ln/>
          <a:effectLst>
            <a:outerShdw sx="100000" sy="100000" kx="0" ky="0" algn="bl" rotWithShape="0" blurRad="101600" dist="38100" dir="2700000">
              <a:srgbClr val="000000">
                <a:alpha val="12000"/>
              </a:srgbClr>
            </a:outerShdw>
          </a:effectLst>
        </p:spPr>
      </p:sp>
      <p:sp>
        <p:nvSpPr>
          <p:cNvPr id="5" name="Text 3"/>
          <p:cNvSpPr/>
          <p:nvPr/>
        </p:nvSpPr>
        <p:spPr>
          <a:xfrm>
            <a:off x="384048" y="1188720"/>
            <a:ext cx="2569464"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Conservative</a:t>
            </a:r>
            <a:endParaRPr lang="en-US" sz="1400" dirty="0"/>
          </a:p>
        </p:txBody>
      </p:sp>
      <p:sp>
        <p:nvSpPr>
          <p:cNvPr id="6" name="Text 4"/>
          <p:cNvSpPr/>
          <p:nvPr/>
        </p:nvSpPr>
        <p:spPr>
          <a:xfrm>
            <a:off x="384048" y="1627632"/>
            <a:ext cx="2569464" cy="34747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2,000 customers</a:t>
            </a:r>
            <a:endParaRPr lang="en-US" sz="1050" dirty="0"/>
          </a:p>
        </p:txBody>
      </p:sp>
      <p:sp>
        <p:nvSpPr>
          <p:cNvPr id="7" name="Text 5"/>
          <p:cNvSpPr/>
          <p:nvPr/>
        </p:nvSpPr>
        <p:spPr>
          <a:xfrm>
            <a:off x="384048" y="2039112"/>
            <a:ext cx="2569464" cy="34747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~55% true churners</a:t>
            </a:r>
            <a:endParaRPr lang="en-US" sz="1050" dirty="0"/>
          </a:p>
        </p:txBody>
      </p:sp>
      <p:sp>
        <p:nvSpPr>
          <p:cNvPr id="8" name="Text 6"/>
          <p:cNvSpPr/>
          <p:nvPr/>
        </p:nvSpPr>
        <p:spPr>
          <a:xfrm>
            <a:off x="384048" y="2450592"/>
            <a:ext cx="2569464" cy="347472"/>
          </a:xfrm>
          <a:prstGeom prst="rect">
            <a:avLst/>
          </a:prstGeom>
          <a:noFill/>
          <a:ln/>
        </p:spPr>
        <p:txBody>
          <a:bodyPr wrap="square" lIns="0" tIns="0" rIns="0" bIns="0" rtlCol="0" anchor="ctr"/>
          <a:lstStyle/>
          <a:p>
            <a:pPr algn="ctr" indent="0" marL="0">
              <a:buNone/>
            </a:pPr>
            <a:r>
              <a:rPr lang="en-US" sz="1050" dirty="0">
                <a:solidFill>
                  <a:srgbClr val="22D3EE"/>
                </a:solidFill>
                <a:latin typeface="Calibri" pitchFamily="34" charset="0"/>
                <a:ea typeface="Calibri" pitchFamily="34" charset="-122"/>
                <a:cs typeface="Calibri" pitchFamily="34" charset="-120"/>
              </a:rPr>
              <a:t>275 customers retained</a:t>
            </a:r>
            <a:endParaRPr lang="en-US" sz="1050" dirty="0"/>
          </a:p>
        </p:txBody>
      </p:sp>
      <p:sp>
        <p:nvSpPr>
          <p:cNvPr id="9" name="Text 7"/>
          <p:cNvSpPr/>
          <p:nvPr/>
        </p:nvSpPr>
        <p:spPr>
          <a:xfrm>
            <a:off x="384048" y="2862072"/>
            <a:ext cx="2569464" cy="347472"/>
          </a:xfrm>
          <a:prstGeom prst="rect">
            <a:avLst/>
          </a:prstGeom>
          <a:noFill/>
          <a:ln/>
        </p:spPr>
        <p:txBody>
          <a:bodyPr wrap="square" lIns="0" tIns="0" rIns="0" bIns="0" rtlCol="0" anchor="ctr"/>
          <a:lstStyle/>
          <a:p>
            <a:pPr algn="ctr" indent="0" marL="0">
              <a:buNone/>
            </a:pPr>
            <a:r>
              <a:rPr lang="en-US" sz="1050" b="1" dirty="0">
                <a:solidFill>
                  <a:srgbClr val="10B981"/>
                </a:solidFill>
                <a:latin typeface="Calibri" pitchFamily="34" charset="0"/>
                <a:ea typeface="Calibri" pitchFamily="34" charset="-122"/>
                <a:cs typeface="Calibri" pitchFamily="34" charset="-120"/>
              </a:rPr>
              <a:t>$321,750 preserved</a:t>
            </a:r>
            <a:endParaRPr lang="en-US" sz="1050" dirty="0"/>
          </a:p>
        </p:txBody>
      </p:sp>
      <p:sp>
        <p:nvSpPr>
          <p:cNvPr id="10" name="Text 8"/>
          <p:cNvSpPr/>
          <p:nvPr/>
        </p:nvSpPr>
        <p:spPr>
          <a:xfrm>
            <a:off x="384048" y="3273552"/>
            <a:ext cx="2569464" cy="347472"/>
          </a:xfrm>
          <a:prstGeom prst="rect">
            <a:avLst/>
          </a:prstGeom>
          <a:noFill/>
          <a:ln/>
        </p:spPr>
        <p:txBody>
          <a:bodyPr wrap="square" lIns="0" tIns="0" rIns="0" bIns="0" rtlCol="0" anchor="ctr"/>
          <a:lstStyle/>
          <a:p>
            <a:pPr algn="ctr" indent="0" marL="0">
              <a:buNone/>
            </a:pPr>
            <a:r>
              <a:rPr lang="en-US" sz="1050" b="1" dirty="0">
                <a:solidFill>
                  <a:srgbClr val="EF4444"/>
                </a:solidFill>
                <a:latin typeface="Calibri" pitchFamily="34" charset="0"/>
                <a:ea typeface="Calibri" pitchFamily="34" charset="-122"/>
                <a:cs typeface="Calibri" pitchFamily="34" charset="-120"/>
              </a:rPr>
              <a:t>$112,500 campaign cost</a:t>
            </a:r>
            <a:endParaRPr lang="en-US" sz="1050" dirty="0"/>
          </a:p>
        </p:txBody>
      </p:sp>
      <p:sp>
        <p:nvSpPr>
          <p:cNvPr id="11" name="Text 9"/>
          <p:cNvSpPr/>
          <p:nvPr/>
        </p:nvSpPr>
        <p:spPr>
          <a:xfrm>
            <a:off x="384048" y="3685032"/>
            <a:ext cx="2569464" cy="347472"/>
          </a:xfrm>
          <a:prstGeom prst="rect">
            <a:avLst/>
          </a:prstGeom>
          <a:noFill/>
          <a:ln/>
        </p:spPr>
        <p:txBody>
          <a:bodyPr wrap="square" lIns="0" tIns="0" rIns="0" bIns="0" rtlCol="0" anchor="ctr"/>
          <a:lstStyle/>
          <a:p>
            <a:pPr algn="ctr" indent="0" marL="0">
              <a:buNone/>
            </a:pPr>
            <a:r>
              <a:rPr lang="en-US" sz="1050" b="1" dirty="0">
                <a:solidFill>
                  <a:srgbClr val="22D3EE"/>
                </a:solidFill>
                <a:latin typeface="Calibri" pitchFamily="34" charset="0"/>
                <a:ea typeface="Calibri" pitchFamily="34" charset="-122"/>
                <a:cs typeface="Calibri" pitchFamily="34" charset="-120"/>
              </a:rPr>
              <a:t>$209,250 net benefit</a:t>
            </a:r>
            <a:endParaRPr lang="en-US" sz="1050" dirty="0"/>
          </a:p>
        </p:txBody>
      </p:sp>
      <p:sp>
        <p:nvSpPr>
          <p:cNvPr id="12" name="Shape 10"/>
          <p:cNvSpPr/>
          <p:nvPr/>
        </p:nvSpPr>
        <p:spPr>
          <a:xfrm>
            <a:off x="548640" y="4389120"/>
            <a:ext cx="2240280" cy="384048"/>
          </a:xfrm>
          <a:prstGeom prst="roundRect">
            <a:avLst>
              <a:gd name="adj" fmla="val 14286"/>
            </a:avLst>
          </a:prstGeom>
          <a:solidFill>
            <a:srgbClr val="132D4B"/>
          </a:solidFill>
          <a:ln/>
        </p:spPr>
      </p:sp>
      <p:sp>
        <p:nvSpPr>
          <p:cNvPr id="13" name="Text 11"/>
          <p:cNvSpPr/>
          <p:nvPr/>
        </p:nvSpPr>
        <p:spPr>
          <a:xfrm>
            <a:off x="548640" y="4389120"/>
            <a:ext cx="2240280" cy="384048"/>
          </a:xfrm>
          <a:prstGeom prst="rect">
            <a:avLst/>
          </a:prstGeom>
          <a:noFill/>
          <a:ln/>
        </p:spPr>
        <p:txBody>
          <a:bodyPr wrap="square" lIns="0" tIns="0" rIns="0" bIns="0" rtlCol="0" anchor="ctr"/>
          <a:lstStyle/>
          <a:p>
            <a:pPr algn="ctr" indent="0" marL="0">
              <a:buNone/>
            </a:pPr>
            <a:r>
              <a:rPr lang="en-US" sz="1400" b="1" dirty="0">
                <a:solidFill>
                  <a:srgbClr val="F59E0B"/>
                </a:solidFill>
                <a:latin typeface="Cambria" pitchFamily="34" charset="0"/>
                <a:ea typeface="Cambria" pitchFamily="34" charset="-122"/>
                <a:cs typeface="Cambria" pitchFamily="34" charset="-120"/>
              </a:rPr>
              <a:t>ROI  186%</a:t>
            </a:r>
            <a:endParaRPr lang="en-US" sz="1400" dirty="0"/>
          </a:p>
        </p:txBody>
      </p:sp>
      <p:sp>
        <p:nvSpPr>
          <p:cNvPr id="14" name="Shape 12"/>
          <p:cNvSpPr/>
          <p:nvPr/>
        </p:nvSpPr>
        <p:spPr>
          <a:xfrm>
            <a:off x="3246120" y="1115568"/>
            <a:ext cx="2788920" cy="3749040"/>
          </a:xfrm>
          <a:prstGeom prst="roundRect">
            <a:avLst>
              <a:gd name="adj" fmla="val 3279"/>
            </a:avLst>
          </a:prstGeom>
          <a:solidFill>
            <a:srgbClr val="028090"/>
          </a:solidFill>
          <a:ln/>
          <a:effectLst>
            <a:outerShdw sx="100000" sy="100000" kx="0" ky="0" algn="bl" rotWithShape="0" blurRad="101600" dist="38100" dir="2700000">
              <a:srgbClr val="000000">
                <a:alpha val="12000"/>
              </a:srgbClr>
            </a:outerShdw>
          </a:effectLst>
        </p:spPr>
      </p:sp>
      <p:sp>
        <p:nvSpPr>
          <p:cNvPr id="15" name="Text 13"/>
          <p:cNvSpPr/>
          <p:nvPr/>
        </p:nvSpPr>
        <p:spPr>
          <a:xfrm>
            <a:off x="3355848" y="1188720"/>
            <a:ext cx="2569464"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Base Case</a:t>
            </a:r>
            <a:endParaRPr lang="en-US" sz="1400" dirty="0"/>
          </a:p>
        </p:txBody>
      </p:sp>
      <p:sp>
        <p:nvSpPr>
          <p:cNvPr id="16" name="Shape 14"/>
          <p:cNvSpPr/>
          <p:nvPr/>
        </p:nvSpPr>
        <p:spPr>
          <a:xfrm>
            <a:off x="3520440" y="1536192"/>
            <a:ext cx="2240280" cy="256032"/>
          </a:xfrm>
          <a:prstGeom prst="roundRect">
            <a:avLst>
              <a:gd name="adj" fmla="val 17857"/>
            </a:avLst>
          </a:prstGeom>
          <a:solidFill>
            <a:srgbClr val="F59E0B"/>
          </a:solidFill>
          <a:ln/>
        </p:spPr>
      </p:sp>
      <p:sp>
        <p:nvSpPr>
          <p:cNvPr id="17" name="Text 15"/>
          <p:cNvSpPr/>
          <p:nvPr/>
        </p:nvSpPr>
        <p:spPr>
          <a:xfrm>
            <a:off x="3520440" y="1536192"/>
            <a:ext cx="2240280" cy="256032"/>
          </a:xfrm>
          <a:prstGeom prst="rect">
            <a:avLst/>
          </a:prstGeom>
          <a:noFill/>
          <a:ln/>
        </p:spPr>
        <p:txBody>
          <a:bodyPr wrap="square" lIns="0" tIns="0" rIns="0" bIns="0" rtlCol="0" anchor="ctr"/>
          <a:lstStyle/>
          <a:p>
            <a:pPr algn="ctr" indent="0" marL="0">
              <a:buNone/>
            </a:pPr>
            <a:r>
              <a:rPr lang="en-US" sz="900" b="1" dirty="0">
                <a:solidFill>
                  <a:srgbClr val="0A2342"/>
                </a:solidFill>
                <a:latin typeface="Calibri" pitchFamily="34" charset="0"/>
                <a:ea typeface="Calibri" pitchFamily="34" charset="-122"/>
                <a:cs typeface="Calibri" pitchFamily="34" charset="-120"/>
              </a:rPr>
              <a:t>★ RECOMMENDED</a:t>
            </a:r>
            <a:endParaRPr lang="en-US" sz="900" dirty="0"/>
          </a:p>
        </p:txBody>
      </p:sp>
      <p:sp>
        <p:nvSpPr>
          <p:cNvPr id="18" name="Text 16"/>
          <p:cNvSpPr/>
          <p:nvPr/>
        </p:nvSpPr>
        <p:spPr>
          <a:xfrm>
            <a:off x="3355848" y="1901952"/>
            <a:ext cx="2569464" cy="34747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5,000 customers</a:t>
            </a:r>
            <a:endParaRPr lang="en-US" sz="1050" dirty="0"/>
          </a:p>
        </p:txBody>
      </p:sp>
      <p:sp>
        <p:nvSpPr>
          <p:cNvPr id="19" name="Text 17"/>
          <p:cNvSpPr/>
          <p:nvPr/>
        </p:nvSpPr>
        <p:spPr>
          <a:xfrm>
            <a:off x="3355848" y="2313432"/>
            <a:ext cx="2569464" cy="34747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~55% true churners</a:t>
            </a:r>
            <a:endParaRPr lang="en-US" sz="1050" dirty="0"/>
          </a:p>
        </p:txBody>
      </p:sp>
      <p:sp>
        <p:nvSpPr>
          <p:cNvPr id="20" name="Text 18"/>
          <p:cNvSpPr/>
          <p:nvPr/>
        </p:nvSpPr>
        <p:spPr>
          <a:xfrm>
            <a:off x="3355848" y="2724912"/>
            <a:ext cx="2569464" cy="347472"/>
          </a:xfrm>
          <a:prstGeom prst="rect">
            <a:avLst/>
          </a:prstGeom>
          <a:noFill/>
          <a:ln/>
        </p:spPr>
        <p:txBody>
          <a:bodyPr wrap="square" lIns="0" tIns="0" rIns="0" bIns="0" rtlCol="0" anchor="ctr"/>
          <a:lstStyle/>
          <a:p>
            <a:pPr algn="ctr" indent="0" marL="0">
              <a:buNone/>
            </a:pPr>
            <a:r>
              <a:rPr lang="en-US" sz="1050" dirty="0">
                <a:solidFill>
                  <a:srgbClr val="22D3EE"/>
                </a:solidFill>
                <a:latin typeface="Calibri" pitchFamily="34" charset="0"/>
                <a:ea typeface="Calibri" pitchFamily="34" charset="-122"/>
                <a:cs typeface="Calibri" pitchFamily="34" charset="-120"/>
              </a:rPr>
              <a:t>825 customers retained</a:t>
            </a:r>
            <a:endParaRPr lang="en-US" sz="1050" dirty="0"/>
          </a:p>
        </p:txBody>
      </p:sp>
      <p:sp>
        <p:nvSpPr>
          <p:cNvPr id="21" name="Text 19"/>
          <p:cNvSpPr/>
          <p:nvPr/>
        </p:nvSpPr>
        <p:spPr>
          <a:xfrm>
            <a:off x="3355848" y="3136392"/>
            <a:ext cx="2569464" cy="347472"/>
          </a:xfrm>
          <a:prstGeom prst="rect">
            <a:avLst/>
          </a:prstGeom>
          <a:noFill/>
          <a:ln/>
        </p:spPr>
        <p:txBody>
          <a:bodyPr wrap="square" lIns="0" tIns="0" rIns="0" bIns="0" rtlCol="0" anchor="ctr"/>
          <a:lstStyle/>
          <a:p>
            <a:pPr algn="ctr" indent="0" marL="0">
              <a:buNone/>
            </a:pPr>
            <a:r>
              <a:rPr lang="en-US" sz="1050" b="1" dirty="0">
                <a:solidFill>
                  <a:srgbClr val="10B981"/>
                </a:solidFill>
                <a:latin typeface="Calibri" pitchFamily="34" charset="0"/>
                <a:ea typeface="Calibri" pitchFamily="34" charset="-122"/>
                <a:cs typeface="Calibri" pitchFamily="34" charset="-120"/>
              </a:rPr>
              <a:t>$965,250 preserved</a:t>
            </a:r>
            <a:endParaRPr lang="en-US" sz="1050" dirty="0"/>
          </a:p>
        </p:txBody>
      </p:sp>
      <p:sp>
        <p:nvSpPr>
          <p:cNvPr id="22" name="Text 20"/>
          <p:cNvSpPr/>
          <p:nvPr/>
        </p:nvSpPr>
        <p:spPr>
          <a:xfrm>
            <a:off x="3355848" y="3547872"/>
            <a:ext cx="2569464" cy="347472"/>
          </a:xfrm>
          <a:prstGeom prst="rect">
            <a:avLst/>
          </a:prstGeom>
          <a:noFill/>
          <a:ln/>
        </p:spPr>
        <p:txBody>
          <a:bodyPr wrap="square" lIns="0" tIns="0" rIns="0" bIns="0" rtlCol="0" anchor="ctr"/>
          <a:lstStyle/>
          <a:p>
            <a:pPr algn="ctr" indent="0" marL="0">
              <a:buNone/>
            </a:pPr>
            <a:r>
              <a:rPr lang="en-US" sz="1050" b="1" dirty="0">
                <a:solidFill>
                  <a:srgbClr val="EF4444"/>
                </a:solidFill>
                <a:latin typeface="Calibri" pitchFamily="34" charset="0"/>
                <a:ea typeface="Calibri" pitchFamily="34" charset="-122"/>
                <a:cs typeface="Calibri" pitchFamily="34" charset="-120"/>
              </a:rPr>
              <a:t>$375,000 campaign cost</a:t>
            </a:r>
            <a:endParaRPr lang="en-US" sz="1050" dirty="0"/>
          </a:p>
        </p:txBody>
      </p:sp>
      <p:sp>
        <p:nvSpPr>
          <p:cNvPr id="23" name="Text 21"/>
          <p:cNvSpPr/>
          <p:nvPr/>
        </p:nvSpPr>
        <p:spPr>
          <a:xfrm>
            <a:off x="3355848" y="3959352"/>
            <a:ext cx="2569464" cy="347472"/>
          </a:xfrm>
          <a:prstGeom prst="rect">
            <a:avLst/>
          </a:prstGeom>
          <a:noFill/>
          <a:ln/>
        </p:spPr>
        <p:txBody>
          <a:bodyPr wrap="square" lIns="0" tIns="0" rIns="0" bIns="0" rtlCol="0" anchor="ctr"/>
          <a:lstStyle/>
          <a:p>
            <a:pPr algn="ctr" indent="0" marL="0">
              <a:buNone/>
            </a:pPr>
            <a:r>
              <a:rPr lang="en-US" sz="1050" b="1" dirty="0">
                <a:solidFill>
                  <a:srgbClr val="22D3EE"/>
                </a:solidFill>
                <a:latin typeface="Calibri" pitchFamily="34" charset="0"/>
                <a:ea typeface="Calibri" pitchFamily="34" charset="-122"/>
                <a:cs typeface="Calibri" pitchFamily="34" charset="-120"/>
              </a:rPr>
              <a:t>$590,250 net benefit</a:t>
            </a:r>
            <a:endParaRPr lang="en-US" sz="1050" dirty="0"/>
          </a:p>
        </p:txBody>
      </p:sp>
      <p:sp>
        <p:nvSpPr>
          <p:cNvPr id="24" name="Shape 22"/>
          <p:cNvSpPr/>
          <p:nvPr/>
        </p:nvSpPr>
        <p:spPr>
          <a:xfrm>
            <a:off x="3520440" y="4389120"/>
            <a:ext cx="2240280" cy="384048"/>
          </a:xfrm>
          <a:prstGeom prst="roundRect">
            <a:avLst>
              <a:gd name="adj" fmla="val 14286"/>
            </a:avLst>
          </a:prstGeom>
          <a:solidFill>
            <a:srgbClr val="132D4B"/>
          </a:solidFill>
          <a:ln/>
        </p:spPr>
      </p:sp>
      <p:sp>
        <p:nvSpPr>
          <p:cNvPr id="25" name="Text 23"/>
          <p:cNvSpPr/>
          <p:nvPr/>
        </p:nvSpPr>
        <p:spPr>
          <a:xfrm>
            <a:off x="3520440" y="4389120"/>
            <a:ext cx="2240280" cy="384048"/>
          </a:xfrm>
          <a:prstGeom prst="rect">
            <a:avLst/>
          </a:prstGeom>
          <a:noFill/>
          <a:ln/>
        </p:spPr>
        <p:txBody>
          <a:bodyPr wrap="square" lIns="0" tIns="0" rIns="0" bIns="0" rtlCol="0" anchor="ctr"/>
          <a:lstStyle/>
          <a:p>
            <a:pPr algn="ctr" indent="0" marL="0">
              <a:buNone/>
            </a:pPr>
            <a:r>
              <a:rPr lang="en-US" sz="1400" b="1" dirty="0">
                <a:solidFill>
                  <a:srgbClr val="F59E0B"/>
                </a:solidFill>
                <a:latin typeface="Cambria" pitchFamily="34" charset="0"/>
                <a:ea typeface="Cambria" pitchFamily="34" charset="-122"/>
                <a:cs typeface="Cambria" pitchFamily="34" charset="-120"/>
              </a:rPr>
              <a:t>ROI  157%</a:t>
            </a:r>
            <a:endParaRPr lang="en-US" sz="1400" dirty="0"/>
          </a:p>
        </p:txBody>
      </p:sp>
      <p:sp>
        <p:nvSpPr>
          <p:cNvPr id="26" name="Shape 24"/>
          <p:cNvSpPr/>
          <p:nvPr/>
        </p:nvSpPr>
        <p:spPr>
          <a:xfrm>
            <a:off x="6217920" y="1115568"/>
            <a:ext cx="2788920" cy="3749040"/>
          </a:xfrm>
          <a:prstGeom prst="roundRect">
            <a:avLst>
              <a:gd name="adj" fmla="val 3279"/>
            </a:avLst>
          </a:prstGeom>
          <a:solidFill>
            <a:srgbClr val="065A82"/>
          </a:solidFill>
          <a:ln/>
          <a:effectLst>
            <a:outerShdw sx="100000" sy="100000" kx="0" ky="0" algn="bl" rotWithShape="0" blurRad="101600" dist="38100" dir="2700000">
              <a:srgbClr val="000000">
                <a:alpha val="12000"/>
              </a:srgbClr>
            </a:outerShdw>
          </a:effectLst>
        </p:spPr>
      </p:sp>
      <p:sp>
        <p:nvSpPr>
          <p:cNvPr id="27" name="Text 25"/>
          <p:cNvSpPr/>
          <p:nvPr/>
        </p:nvSpPr>
        <p:spPr>
          <a:xfrm>
            <a:off x="6327648" y="1188720"/>
            <a:ext cx="2569464"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Aggressive</a:t>
            </a:r>
            <a:endParaRPr lang="en-US" sz="1400" dirty="0"/>
          </a:p>
        </p:txBody>
      </p:sp>
      <p:sp>
        <p:nvSpPr>
          <p:cNvPr id="28" name="Text 26"/>
          <p:cNvSpPr/>
          <p:nvPr/>
        </p:nvSpPr>
        <p:spPr>
          <a:xfrm>
            <a:off x="6327648" y="1627632"/>
            <a:ext cx="2569464" cy="34747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10,000 customers</a:t>
            </a:r>
            <a:endParaRPr lang="en-US" sz="1050" dirty="0"/>
          </a:p>
        </p:txBody>
      </p:sp>
      <p:sp>
        <p:nvSpPr>
          <p:cNvPr id="29" name="Text 27"/>
          <p:cNvSpPr/>
          <p:nvPr/>
        </p:nvSpPr>
        <p:spPr>
          <a:xfrm>
            <a:off x="6327648" y="2039112"/>
            <a:ext cx="2569464" cy="347472"/>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~45% true churners</a:t>
            </a:r>
            <a:endParaRPr lang="en-US" sz="1050" dirty="0"/>
          </a:p>
        </p:txBody>
      </p:sp>
      <p:sp>
        <p:nvSpPr>
          <p:cNvPr id="30" name="Text 28"/>
          <p:cNvSpPr/>
          <p:nvPr/>
        </p:nvSpPr>
        <p:spPr>
          <a:xfrm>
            <a:off x="6327648" y="2450592"/>
            <a:ext cx="2569464" cy="347472"/>
          </a:xfrm>
          <a:prstGeom prst="rect">
            <a:avLst/>
          </a:prstGeom>
          <a:noFill/>
          <a:ln/>
        </p:spPr>
        <p:txBody>
          <a:bodyPr wrap="square" lIns="0" tIns="0" rIns="0" bIns="0" rtlCol="0" anchor="ctr"/>
          <a:lstStyle/>
          <a:p>
            <a:pPr algn="ctr" indent="0" marL="0">
              <a:buNone/>
            </a:pPr>
            <a:r>
              <a:rPr lang="en-US" sz="1050" dirty="0">
                <a:solidFill>
                  <a:srgbClr val="22D3EE"/>
                </a:solidFill>
                <a:latin typeface="Calibri" pitchFamily="34" charset="0"/>
                <a:ea typeface="Calibri" pitchFamily="34" charset="-122"/>
                <a:cs typeface="Calibri" pitchFamily="34" charset="-120"/>
              </a:rPr>
              <a:t>1,350 customers retained</a:t>
            </a:r>
            <a:endParaRPr lang="en-US" sz="1050" dirty="0"/>
          </a:p>
        </p:txBody>
      </p:sp>
      <p:sp>
        <p:nvSpPr>
          <p:cNvPr id="31" name="Text 29"/>
          <p:cNvSpPr/>
          <p:nvPr/>
        </p:nvSpPr>
        <p:spPr>
          <a:xfrm>
            <a:off x="6327648" y="2862072"/>
            <a:ext cx="2569464" cy="347472"/>
          </a:xfrm>
          <a:prstGeom prst="rect">
            <a:avLst/>
          </a:prstGeom>
          <a:noFill/>
          <a:ln/>
        </p:spPr>
        <p:txBody>
          <a:bodyPr wrap="square" lIns="0" tIns="0" rIns="0" bIns="0" rtlCol="0" anchor="ctr"/>
          <a:lstStyle/>
          <a:p>
            <a:pPr algn="ctr" indent="0" marL="0">
              <a:buNone/>
            </a:pPr>
            <a:r>
              <a:rPr lang="en-US" sz="1050" b="1" dirty="0">
                <a:solidFill>
                  <a:srgbClr val="10B981"/>
                </a:solidFill>
                <a:latin typeface="Calibri" pitchFamily="34" charset="0"/>
                <a:ea typeface="Calibri" pitchFamily="34" charset="-122"/>
                <a:cs typeface="Calibri" pitchFamily="34" charset="-120"/>
              </a:rPr>
              <a:t>$1,579,500 preserved</a:t>
            </a:r>
            <a:endParaRPr lang="en-US" sz="1050" dirty="0"/>
          </a:p>
        </p:txBody>
      </p:sp>
      <p:sp>
        <p:nvSpPr>
          <p:cNvPr id="32" name="Text 30"/>
          <p:cNvSpPr/>
          <p:nvPr/>
        </p:nvSpPr>
        <p:spPr>
          <a:xfrm>
            <a:off x="6327648" y="3273552"/>
            <a:ext cx="2569464" cy="347472"/>
          </a:xfrm>
          <a:prstGeom prst="rect">
            <a:avLst/>
          </a:prstGeom>
          <a:noFill/>
          <a:ln/>
        </p:spPr>
        <p:txBody>
          <a:bodyPr wrap="square" lIns="0" tIns="0" rIns="0" bIns="0" rtlCol="0" anchor="ctr"/>
          <a:lstStyle/>
          <a:p>
            <a:pPr algn="ctr" indent="0" marL="0">
              <a:buNone/>
            </a:pPr>
            <a:r>
              <a:rPr lang="en-US" sz="1050" b="1" dirty="0">
                <a:solidFill>
                  <a:srgbClr val="EF4444"/>
                </a:solidFill>
                <a:latin typeface="Calibri" pitchFamily="34" charset="0"/>
                <a:ea typeface="Calibri" pitchFamily="34" charset="-122"/>
                <a:cs typeface="Calibri" pitchFamily="34" charset="-120"/>
              </a:rPr>
              <a:t>$750,000 campaign cost</a:t>
            </a:r>
            <a:endParaRPr lang="en-US" sz="1050" dirty="0"/>
          </a:p>
        </p:txBody>
      </p:sp>
      <p:sp>
        <p:nvSpPr>
          <p:cNvPr id="33" name="Text 31"/>
          <p:cNvSpPr/>
          <p:nvPr/>
        </p:nvSpPr>
        <p:spPr>
          <a:xfrm>
            <a:off x="6327648" y="3685032"/>
            <a:ext cx="2569464" cy="347472"/>
          </a:xfrm>
          <a:prstGeom prst="rect">
            <a:avLst/>
          </a:prstGeom>
          <a:noFill/>
          <a:ln/>
        </p:spPr>
        <p:txBody>
          <a:bodyPr wrap="square" lIns="0" tIns="0" rIns="0" bIns="0" rtlCol="0" anchor="ctr"/>
          <a:lstStyle/>
          <a:p>
            <a:pPr algn="ctr" indent="0" marL="0">
              <a:buNone/>
            </a:pPr>
            <a:r>
              <a:rPr lang="en-US" sz="1050" b="1" dirty="0">
                <a:solidFill>
                  <a:srgbClr val="22D3EE"/>
                </a:solidFill>
                <a:latin typeface="Calibri" pitchFamily="34" charset="0"/>
                <a:ea typeface="Calibri" pitchFamily="34" charset="-122"/>
                <a:cs typeface="Calibri" pitchFamily="34" charset="-120"/>
              </a:rPr>
              <a:t>$829,500 net benefit</a:t>
            </a:r>
            <a:endParaRPr lang="en-US" sz="1050" dirty="0"/>
          </a:p>
        </p:txBody>
      </p:sp>
      <p:sp>
        <p:nvSpPr>
          <p:cNvPr id="34" name="Shape 32"/>
          <p:cNvSpPr/>
          <p:nvPr/>
        </p:nvSpPr>
        <p:spPr>
          <a:xfrm>
            <a:off x="6492240" y="4389120"/>
            <a:ext cx="2240280" cy="384048"/>
          </a:xfrm>
          <a:prstGeom prst="roundRect">
            <a:avLst>
              <a:gd name="adj" fmla="val 14286"/>
            </a:avLst>
          </a:prstGeom>
          <a:solidFill>
            <a:srgbClr val="132D4B"/>
          </a:solidFill>
          <a:ln/>
        </p:spPr>
      </p:sp>
      <p:sp>
        <p:nvSpPr>
          <p:cNvPr id="35" name="Text 33"/>
          <p:cNvSpPr/>
          <p:nvPr/>
        </p:nvSpPr>
        <p:spPr>
          <a:xfrm>
            <a:off x="6492240" y="4389120"/>
            <a:ext cx="2240280" cy="384048"/>
          </a:xfrm>
          <a:prstGeom prst="rect">
            <a:avLst/>
          </a:prstGeom>
          <a:noFill/>
          <a:ln/>
        </p:spPr>
        <p:txBody>
          <a:bodyPr wrap="square" lIns="0" tIns="0" rIns="0" bIns="0" rtlCol="0" anchor="ctr"/>
          <a:lstStyle/>
          <a:p>
            <a:pPr algn="ctr" indent="0" marL="0">
              <a:buNone/>
            </a:pPr>
            <a:r>
              <a:rPr lang="en-US" sz="1400" b="1" dirty="0">
                <a:solidFill>
                  <a:srgbClr val="F59E0B"/>
                </a:solidFill>
                <a:latin typeface="Cambria" pitchFamily="34" charset="0"/>
                <a:ea typeface="Cambria" pitchFamily="34" charset="-122"/>
                <a:cs typeface="Cambria" pitchFamily="34" charset="-120"/>
              </a:rPr>
              <a:t>ROI  111%</a:t>
            </a:r>
            <a:endParaRPr lang="en-US" sz="1400" dirty="0"/>
          </a:p>
        </p:txBody>
      </p:sp>
      <p:sp>
        <p:nvSpPr>
          <p:cNvPr id="36" name="Text 3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Assumptions: ARPU $65/mo · 18-month contract renewal · $200 device subsidy · $15 contact cost · 30% acceptance rate · Model precision 55% at top-decile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0A2342"/>
                </a:solidFill>
                <a:latin typeface="Cambria" pitchFamily="34" charset="0"/>
                <a:ea typeface="Cambria" pitchFamily="34" charset="-122"/>
                <a:cs typeface="Cambria" pitchFamily="34" charset="-120"/>
              </a:rPr>
              <a:t>Risks &amp; Mitigation: What Could Go Wrong — and How We Address It</a:t>
            </a:r>
            <a:endParaRPr lang="en-US" sz="2800" dirty="0"/>
          </a:p>
        </p:txBody>
      </p:sp>
      <p:sp>
        <p:nvSpPr>
          <p:cNvPr id="3" name="Text 1"/>
          <p:cNvSpPr/>
          <p:nvPr/>
        </p:nvSpPr>
        <p:spPr>
          <a:xfrm>
            <a:off x="411480" y="749808"/>
            <a:ext cx="8321040" cy="274320"/>
          </a:xfrm>
          <a:prstGeom prst="rect">
            <a:avLst/>
          </a:prstGeom>
          <a:noFill/>
          <a:ln/>
        </p:spPr>
        <p:txBody>
          <a:bodyPr wrap="square" lIns="0" tIns="0" rIns="0" bIns="0" rtlCol="0" anchor="ctr"/>
          <a:lstStyle/>
          <a:p>
            <a:pPr algn="l" indent="0" marL="0">
              <a:buNone/>
            </a:pPr>
            <a:r>
              <a:rPr lang="en-US" sz="1300" dirty="0">
                <a:solidFill>
                  <a:srgbClr val="0891B2"/>
                </a:solidFill>
                <a:latin typeface="Calibri" pitchFamily="34" charset="0"/>
                <a:ea typeface="Calibri" pitchFamily="34" charset="-122"/>
                <a:cs typeface="Calibri" pitchFamily="34" charset="-120"/>
              </a:rPr>
              <a:t>Four key risks identified, quantified, and mitigated by design</a:t>
            </a:r>
            <a:endParaRPr lang="en-US" sz="1300" dirty="0"/>
          </a:p>
        </p:txBody>
      </p:sp>
      <p:sp>
        <p:nvSpPr>
          <p:cNvPr id="4" name="Shape 2"/>
          <p:cNvSpPr/>
          <p:nvPr/>
        </p:nvSpPr>
        <p:spPr>
          <a:xfrm>
            <a:off x="274320" y="1115568"/>
            <a:ext cx="425196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384048" y="1207008"/>
            <a:ext cx="384048" cy="384048"/>
          </a:xfrm>
          <a:prstGeom prst="ellipse">
            <a:avLst/>
          </a:prstGeom>
          <a:solidFill>
            <a:srgbClr val="0D3B6B"/>
          </a:solidFill>
          <a:ln/>
        </p:spPr>
      </p:sp>
      <p:sp>
        <p:nvSpPr>
          <p:cNvPr id="6" name="Text 4"/>
          <p:cNvSpPr/>
          <p:nvPr/>
        </p:nvSpPr>
        <p:spPr>
          <a:xfrm>
            <a:off x="384048" y="120700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R1</a:t>
            </a:r>
            <a:endParaRPr lang="en-US" sz="950" dirty="0"/>
          </a:p>
        </p:txBody>
      </p:sp>
      <p:sp>
        <p:nvSpPr>
          <p:cNvPr id="7" name="Text 5"/>
          <p:cNvSpPr/>
          <p:nvPr/>
        </p:nvSpPr>
        <p:spPr>
          <a:xfrm>
            <a:off x="877824" y="1225296"/>
            <a:ext cx="3520440" cy="256032"/>
          </a:xfrm>
          <a:prstGeom prst="rect">
            <a:avLst/>
          </a:prstGeom>
          <a:noFill/>
          <a:ln/>
        </p:spPr>
        <p:txBody>
          <a:bodyPr wrap="square" lIns="0" tIns="0" rIns="0" bIns="0" rtlCol="0" anchor="ctr"/>
          <a:lstStyle/>
          <a:p>
            <a:pPr algn="l" indent="0" marL="0">
              <a:buNone/>
            </a:pPr>
            <a:r>
              <a:rPr lang="en-US" sz="1100" b="1" dirty="0">
                <a:solidFill>
                  <a:srgbClr val="0D3B6B"/>
                </a:solidFill>
                <a:latin typeface="Cambria" pitchFamily="34" charset="0"/>
                <a:ea typeface="Cambria" pitchFamily="34" charset="-122"/>
                <a:cs typeface="Cambria" pitchFamily="34" charset="-120"/>
              </a:rPr>
              <a:t>False Positive Cost (Subsidy Waste)</a:t>
            </a:r>
            <a:endParaRPr lang="en-US" sz="1100" dirty="0"/>
          </a:p>
        </p:txBody>
      </p:sp>
      <p:sp>
        <p:nvSpPr>
          <p:cNvPr id="8" name="Shape 6"/>
          <p:cNvSpPr/>
          <p:nvPr/>
        </p:nvSpPr>
        <p:spPr>
          <a:xfrm>
            <a:off x="877824" y="1517904"/>
            <a:ext cx="960120" cy="201168"/>
          </a:xfrm>
          <a:prstGeom prst="roundRect">
            <a:avLst>
              <a:gd name="adj" fmla="val 18182"/>
            </a:avLst>
          </a:prstGeom>
          <a:solidFill>
            <a:srgbClr val="F59E0B"/>
          </a:solidFill>
          <a:ln/>
        </p:spPr>
      </p:sp>
      <p:sp>
        <p:nvSpPr>
          <p:cNvPr id="9" name="Text 7"/>
          <p:cNvSpPr/>
          <p:nvPr/>
        </p:nvSpPr>
        <p:spPr>
          <a:xfrm>
            <a:off x="877824" y="1517904"/>
            <a:ext cx="9601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Severity: MEDIUM</a:t>
            </a:r>
            <a:endParaRPr lang="en-US" sz="800" dirty="0"/>
          </a:p>
        </p:txBody>
      </p:sp>
      <p:sp>
        <p:nvSpPr>
          <p:cNvPr id="10" name="Shape 8"/>
          <p:cNvSpPr/>
          <p:nvPr/>
        </p:nvSpPr>
        <p:spPr>
          <a:xfrm>
            <a:off x="1920240" y="1517904"/>
            <a:ext cx="1005840" cy="201168"/>
          </a:xfrm>
          <a:prstGeom prst="roundRect">
            <a:avLst>
              <a:gd name="adj" fmla="val 18182"/>
            </a:avLst>
          </a:prstGeom>
          <a:solidFill>
            <a:srgbClr val="EF4444"/>
          </a:solidFill>
          <a:ln/>
        </p:spPr>
      </p:sp>
      <p:sp>
        <p:nvSpPr>
          <p:cNvPr id="11" name="Text 9"/>
          <p:cNvSpPr/>
          <p:nvPr/>
        </p:nvSpPr>
        <p:spPr>
          <a:xfrm>
            <a:off x="1920240" y="1517904"/>
            <a:ext cx="100584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Likelihood: HIGH</a:t>
            </a:r>
            <a:endParaRPr lang="en-US" sz="800" dirty="0"/>
          </a:p>
        </p:txBody>
      </p:sp>
      <p:sp>
        <p:nvSpPr>
          <p:cNvPr id="12" name="Text 10"/>
          <p:cNvSpPr/>
          <p:nvPr/>
        </p:nvSpPr>
        <p:spPr>
          <a:xfrm>
            <a:off x="384048" y="1792224"/>
            <a:ext cx="4023360" cy="402336"/>
          </a:xfrm>
          <a:prstGeom prst="rect">
            <a:avLst/>
          </a:prstGeom>
          <a:noFill/>
          <a:ln/>
        </p:spPr>
        <p:txBody>
          <a:bodyPr wrap="square" lIns="0" tIns="0" rIns="0" bIns="0" rtlCol="0" anchor="t"/>
          <a:lstStyle/>
          <a:p>
            <a:pPr algn="l" indent="0" marL="0">
              <a:buNone/>
            </a:pPr>
            <a:r>
              <a:rPr lang="en-US" sz="950" dirty="0">
                <a:solidFill>
                  <a:srgbClr val="334155"/>
                </a:solidFill>
                <a:latin typeface="Calibri" pitchFamily="34" charset="0"/>
                <a:ea typeface="Calibri" pitchFamily="34" charset="-122"/>
                <a:cs typeface="Calibri" pitchFamily="34" charset="-120"/>
              </a:rPr>
              <a:t>⚠ Risk: 45% of customers we target (false positives) would not have churned. We may offer upgrades to loyal customers unnecessarily.</a:t>
            </a:r>
            <a:endParaRPr lang="en-US" sz="950" dirty="0"/>
          </a:p>
        </p:txBody>
      </p:sp>
      <p:sp>
        <p:nvSpPr>
          <p:cNvPr id="13" name="Text 11"/>
          <p:cNvSpPr/>
          <p:nvPr/>
        </p:nvSpPr>
        <p:spPr>
          <a:xfrm>
            <a:off x="384048" y="2212848"/>
            <a:ext cx="4023360" cy="548640"/>
          </a:xfrm>
          <a:prstGeom prst="rect">
            <a:avLst/>
          </a:prstGeom>
          <a:noFill/>
          <a:ln/>
        </p:spPr>
        <p:txBody>
          <a:bodyPr wrap="square" lIns="0" tIns="0" rIns="0" bIns="0" rtlCol="0" anchor="t"/>
          <a:lstStyle/>
          <a:p>
            <a:pPr algn="l" indent="0" marL="0">
              <a:buNone/>
            </a:pPr>
            <a:r>
              <a:rPr lang="en-US" sz="950" dirty="0">
                <a:solidFill>
                  <a:srgbClr val="10B981"/>
                </a:solidFill>
                <a:latin typeface="Calibri" pitchFamily="34" charset="0"/>
                <a:ea typeface="Calibri" pitchFamily="34" charset="-122"/>
                <a:cs typeface="Calibri" pitchFamily="34" charset="-120"/>
              </a:rPr>
              <a:t>✓ Mitigation: CLV tiering limits premium subsidies to Tier 1 (high-value, high-risk) customers only. False positives in Tier 1 renew at 18 months anyway — a positive outcome.</a:t>
            </a:r>
            <a:endParaRPr lang="en-US" sz="950" dirty="0"/>
          </a:p>
        </p:txBody>
      </p:sp>
      <p:sp>
        <p:nvSpPr>
          <p:cNvPr id="14" name="Shape 12"/>
          <p:cNvSpPr/>
          <p:nvPr/>
        </p:nvSpPr>
        <p:spPr>
          <a:xfrm>
            <a:off x="4709160" y="1115568"/>
            <a:ext cx="425196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15" name="Shape 13"/>
          <p:cNvSpPr/>
          <p:nvPr/>
        </p:nvSpPr>
        <p:spPr>
          <a:xfrm>
            <a:off x="4818888" y="1207008"/>
            <a:ext cx="384048" cy="384048"/>
          </a:xfrm>
          <a:prstGeom prst="ellipse">
            <a:avLst/>
          </a:prstGeom>
          <a:solidFill>
            <a:srgbClr val="0D3B6B"/>
          </a:solidFill>
          <a:ln/>
        </p:spPr>
      </p:sp>
      <p:sp>
        <p:nvSpPr>
          <p:cNvPr id="16" name="Text 14"/>
          <p:cNvSpPr/>
          <p:nvPr/>
        </p:nvSpPr>
        <p:spPr>
          <a:xfrm>
            <a:off x="4818888" y="120700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R2</a:t>
            </a:r>
            <a:endParaRPr lang="en-US" sz="950" dirty="0"/>
          </a:p>
        </p:txBody>
      </p:sp>
      <p:sp>
        <p:nvSpPr>
          <p:cNvPr id="17" name="Text 15"/>
          <p:cNvSpPr/>
          <p:nvPr/>
        </p:nvSpPr>
        <p:spPr>
          <a:xfrm>
            <a:off x="5312664" y="1225296"/>
            <a:ext cx="3520440" cy="256032"/>
          </a:xfrm>
          <a:prstGeom prst="rect">
            <a:avLst/>
          </a:prstGeom>
          <a:noFill/>
          <a:ln/>
        </p:spPr>
        <p:txBody>
          <a:bodyPr wrap="square" lIns="0" tIns="0" rIns="0" bIns="0" rtlCol="0" anchor="ctr"/>
          <a:lstStyle/>
          <a:p>
            <a:pPr algn="l" indent="0" marL="0">
              <a:buNone/>
            </a:pPr>
            <a:r>
              <a:rPr lang="en-US" sz="1100" b="1" dirty="0">
                <a:solidFill>
                  <a:srgbClr val="0D3B6B"/>
                </a:solidFill>
                <a:latin typeface="Cambria" pitchFamily="34" charset="0"/>
                <a:ea typeface="Cambria" pitchFamily="34" charset="-122"/>
                <a:cs typeface="Cambria" pitchFamily="34" charset="-120"/>
              </a:rPr>
              <a:t>Cannibalization of Full-Price Upgrades</a:t>
            </a:r>
            <a:endParaRPr lang="en-US" sz="1100" dirty="0"/>
          </a:p>
        </p:txBody>
      </p:sp>
      <p:sp>
        <p:nvSpPr>
          <p:cNvPr id="18" name="Shape 16"/>
          <p:cNvSpPr/>
          <p:nvPr/>
        </p:nvSpPr>
        <p:spPr>
          <a:xfrm>
            <a:off x="5312664" y="1517904"/>
            <a:ext cx="960120" cy="201168"/>
          </a:xfrm>
          <a:prstGeom prst="roundRect">
            <a:avLst>
              <a:gd name="adj" fmla="val 18182"/>
            </a:avLst>
          </a:prstGeom>
          <a:solidFill>
            <a:srgbClr val="F59E0B"/>
          </a:solidFill>
          <a:ln/>
        </p:spPr>
      </p:sp>
      <p:sp>
        <p:nvSpPr>
          <p:cNvPr id="19" name="Text 17"/>
          <p:cNvSpPr/>
          <p:nvPr/>
        </p:nvSpPr>
        <p:spPr>
          <a:xfrm>
            <a:off x="5312664" y="1517904"/>
            <a:ext cx="9601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Severity: MEDIUM</a:t>
            </a:r>
            <a:endParaRPr lang="en-US" sz="800" dirty="0"/>
          </a:p>
        </p:txBody>
      </p:sp>
      <p:sp>
        <p:nvSpPr>
          <p:cNvPr id="20" name="Shape 18"/>
          <p:cNvSpPr/>
          <p:nvPr/>
        </p:nvSpPr>
        <p:spPr>
          <a:xfrm>
            <a:off x="6355080" y="1517904"/>
            <a:ext cx="1005840" cy="201168"/>
          </a:xfrm>
          <a:prstGeom prst="roundRect">
            <a:avLst>
              <a:gd name="adj" fmla="val 18182"/>
            </a:avLst>
          </a:prstGeom>
          <a:solidFill>
            <a:srgbClr val="F59E0B"/>
          </a:solidFill>
          <a:ln/>
        </p:spPr>
      </p:sp>
      <p:sp>
        <p:nvSpPr>
          <p:cNvPr id="21" name="Text 19"/>
          <p:cNvSpPr/>
          <p:nvPr/>
        </p:nvSpPr>
        <p:spPr>
          <a:xfrm>
            <a:off x="6355080" y="1517904"/>
            <a:ext cx="100584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Likelihood: MEDIUM</a:t>
            </a:r>
            <a:endParaRPr lang="en-US" sz="800" dirty="0"/>
          </a:p>
        </p:txBody>
      </p:sp>
      <p:sp>
        <p:nvSpPr>
          <p:cNvPr id="22" name="Text 20"/>
          <p:cNvSpPr/>
          <p:nvPr/>
        </p:nvSpPr>
        <p:spPr>
          <a:xfrm>
            <a:off x="4818888" y="1792224"/>
            <a:ext cx="4023360" cy="402336"/>
          </a:xfrm>
          <a:prstGeom prst="rect">
            <a:avLst/>
          </a:prstGeom>
          <a:noFill/>
          <a:ln/>
        </p:spPr>
        <p:txBody>
          <a:bodyPr wrap="square" lIns="0" tIns="0" rIns="0" bIns="0" rtlCol="0" anchor="t"/>
          <a:lstStyle/>
          <a:p>
            <a:pPr algn="l" indent="0" marL="0">
              <a:buNone/>
            </a:pPr>
            <a:r>
              <a:rPr lang="en-US" sz="950" dirty="0">
                <a:solidFill>
                  <a:srgbClr val="334155"/>
                </a:solidFill>
                <a:latin typeface="Calibri" pitchFamily="34" charset="0"/>
                <a:ea typeface="Calibri" pitchFamily="34" charset="-122"/>
                <a:cs typeface="Calibri" pitchFamily="34" charset="-120"/>
              </a:rPr>
              <a:t>⚠ Risk: Subsidised offers may displace customers who would have paid full price for a device, reducing hardware margin.</a:t>
            </a:r>
            <a:endParaRPr lang="en-US" sz="950" dirty="0"/>
          </a:p>
        </p:txBody>
      </p:sp>
      <p:sp>
        <p:nvSpPr>
          <p:cNvPr id="23" name="Text 21"/>
          <p:cNvSpPr/>
          <p:nvPr/>
        </p:nvSpPr>
        <p:spPr>
          <a:xfrm>
            <a:off x="4818888" y="2212848"/>
            <a:ext cx="4023360" cy="548640"/>
          </a:xfrm>
          <a:prstGeom prst="rect">
            <a:avLst/>
          </a:prstGeom>
          <a:noFill/>
          <a:ln/>
        </p:spPr>
        <p:txBody>
          <a:bodyPr wrap="square" lIns="0" tIns="0" rIns="0" bIns="0" rtlCol="0" anchor="t"/>
          <a:lstStyle/>
          <a:p>
            <a:pPr algn="l" indent="0" marL="0">
              <a:buNone/>
            </a:pPr>
            <a:r>
              <a:rPr lang="en-US" sz="950" dirty="0">
                <a:solidFill>
                  <a:srgbClr val="10B981"/>
                </a:solidFill>
                <a:latin typeface="Calibri" pitchFamily="34" charset="0"/>
                <a:ea typeface="Calibri" pitchFamily="34" charset="-122"/>
                <a:cs typeface="Calibri" pitchFamily="34" charset="-120"/>
              </a:rPr>
              <a:t>✓ Mitigation: Offer engineering controls: subsidy triggers only for customers with eqpdays &gt; 335 and P(churn) &gt; 0.341. Full-price intent is not observable below these thresholds.</a:t>
            </a:r>
            <a:endParaRPr lang="en-US" sz="950" dirty="0"/>
          </a:p>
        </p:txBody>
      </p:sp>
      <p:sp>
        <p:nvSpPr>
          <p:cNvPr id="24" name="Shape 22"/>
          <p:cNvSpPr/>
          <p:nvPr/>
        </p:nvSpPr>
        <p:spPr>
          <a:xfrm>
            <a:off x="274320" y="2999232"/>
            <a:ext cx="425196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25" name="Shape 23"/>
          <p:cNvSpPr/>
          <p:nvPr/>
        </p:nvSpPr>
        <p:spPr>
          <a:xfrm>
            <a:off x="384048" y="3090672"/>
            <a:ext cx="384048" cy="384048"/>
          </a:xfrm>
          <a:prstGeom prst="ellipse">
            <a:avLst/>
          </a:prstGeom>
          <a:solidFill>
            <a:srgbClr val="0D3B6B"/>
          </a:solidFill>
          <a:ln/>
        </p:spPr>
      </p:sp>
      <p:sp>
        <p:nvSpPr>
          <p:cNvPr id="26" name="Text 24"/>
          <p:cNvSpPr/>
          <p:nvPr/>
        </p:nvSpPr>
        <p:spPr>
          <a:xfrm>
            <a:off x="384048" y="3090672"/>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R3</a:t>
            </a:r>
            <a:endParaRPr lang="en-US" sz="950" dirty="0"/>
          </a:p>
        </p:txBody>
      </p:sp>
      <p:sp>
        <p:nvSpPr>
          <p:cNvPr id="27" name="Text 25"/>
          <p:cNvSpPr/>
          <p:nvPr/>
        </p:nvSpPr>
        <p:spPr>
          <a:xfrm>
            <a:off x="877824" y="3108960"/>
            <a:ext cx="3520440" cy="256032"/>
          </a:xfrm>
          <a:prstGeom prst="rect">
            <a:avLst/>
          </a:prstGeom>
          <a:noFill/>
          <a:ln/>
        </p:spPr>
        <p:txBody>
          <a:bodyPr wrap="square" lIns="0" tIns="0" rIns="0" bIns="0" rtlCol="0" anchor="ctr"/>
          <a:lstStyle/>
          <a:p>
            <a:pPr algn="l" indent="0" marL="0">
              <a:buNone/>
            </a:pPr>
            <a:r>
              <a:rPr lang="en-US" sz="1100" b="1" dirty="0">
                <a:solidFill>
                  <a:srgbClr val="0D3B6B"/>
                </a:solidFill>
                <a:latin typeface="Cambria" pitchFamily="34" charset="0"/>
                <a:ea typeface="Cambria" pitchFamily="34" charset="-122"/>
                <a:cs typeface="Cambria" pitchFamily="34" charset="-120"/>
              </a:rPr>
              <a:t>Model Drift Over Time</a:t>
            </a:r>
            <a:endParaRPr lang="en-US" sz="1100" dirty="0"/>
          </a:p>
        </p:txBody>
      </p:sp>
      <p:sp>
        <p:nvSpPr>
          <p:cNvPr id="28" name="Shape 26"/>
          <p:cNvSpPr/>
          <p:nvPr/>
        </p:nvSpPr>
        <p:spPr>
          <a:xfrm>
            <a:off x="877824" y="3401568"/>
            <a:ext cx="960120" cy="201168"/>
          </a:xfrm>
          <a:prstGeom prst="roundRect">
            <a:avLst>
              <a:gd name="adj" fmla="val 18182"/>
            </a:avLst>
          </a:prstGeom>
          <a:solidFill>
            <a:srgbClr val="10B981"/>
          </a:solidFill>
          <a:ln/>
        </p:spPr>
      </p:sp>
      <p:sp>
        <p:nvSpPr>
          <p:cNvPr id="29" name="Text 27"/>
          <p:cNvSpPr/>
          <p:nvPr/>
        </p:nvSpPr>
        <p:spPr>
          <a:xfrm>
            <a:off x="877824" y="3401568"/>
            <a:ext cx="9601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Severity: LOW</a:t>
            </a:r>
            <a:endParaRPr lang="en-US" sz="800" dirty="0"/>
          </a:p>
        </p:txBody>
      </p:sp>
      <p:sp>
        <p:nvSpPr>
          <p:cNvPr id="30" name="Shape 28"/>
          <p:cNvSpPr/>
          <p:nvPr/>
        </p:nvSpPr>
        <p:spPr>
          <a:xfrm>
            <a:off x="1920240" y="3401568"/>
            <a:ext cx="1005840" cy="201168"/>
          </a:xfrm>
          <a:prstGeom prst="roundRect">
            <a:avLst>
              <a:gd name="adj" fmla="val 18182"/>
            </a:avLst>
          </a:prstGeom>
          <a:solidFill>
            <a:srgbClr val="EF4444"/>
          </a:solidFill>
          <a:ln/>
        </p:spPr>
      </p:sp>
      <p:sp>
        <p:nvSpPr>
          <p:cNvPr id="31" name="Text 29"/>
          <p:cNvSpPr/>
          <p:nvPr/>
        </p:nvSpPr>
        <p:spPr>
          <a:xfrm>
            <a:off x="1920240" y="3401568"/>
            <a:ext cx="100584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Likelihood: HIGH</a:t>
            </a:r>
            <a:endParaRPr lang="en-US" sz="800" dirty="0"/>
          </a:p>
        </p:txBody>
      </p:sp>
      <p:sp>
        <p:nvSpPr>
          <p:cNvPr id="32" name="Text 30"/>
          <p:cNvSpPr/>
          <p:nvPr/>
        </p:nvSpPr>
        <p:spPr>
          <a:xfrm>
            <a:off x="384048" y="3675888"/>
            <a:ext cx="4023360" cy="402336"/>
          </a:xfrm>
          <a:prstGeom prst="rect">
            <a:avLst/>
          </a:prstGeom>
          <a:noFill/>
          <a:ln/>
        </p:spPr>
        <p:txBody>
          <a:bodyPr wrap="square" lIns="0" tIns="0" rIns="0" bIns="0" rtlCol="0" anchor="t"/>
          <a:lstStyle/>
          <a:p>
            <a:pPr algn="l" indent="0" marL="0">
              <a:buNone/>
            </a:pPr>
            <a:r>
              <a:rPr lang="en-US" sz="950" dirty="0">
                <a:solidFill>
                  <a:srgbClr val="334155"/>
                </a:solidFill>
                <a:latin typeface="Calibri" pitchFamily="34" charset="0"/>
                <a:ea typeface="Calibri" pitchFamily="34" charset="-122"/>
                <a:cs typeface="Calibri" pitchFamily="34" charset="-120"/>
              </a:rPr>
              <a:t>⚠ Risk: Churn patterns shift as 5G availability, competitor offers, and handset cycles evolve. The model may degrade in accuracy.</a:t>
            </a:r>
            <a:endParaRPr lang="en-US" sz="950" dirty="0"/>
          </a:p>
        </p:txBody>
      </p:sp>
      <p:sp>
        <p:nvSpPr>
          <p:cNvPr id="33" name="Text 31"/>
          <p:cNvSpPr/>
          <p:nvPr/>
        </p:nvSpPr>
        <p:spPr>
          <a:xfrm>
            <a:off x="384048" y="4096512"/>
            <a:ext cx="4023360" cy="548640"/>
          </a:xfrm>
          <a:prstGeom prst="rect">
            <a:avLst/>
          </a:prstGeom>
          <a:noFill/>
          <a:ln/>
        </p:spPr>
        <p:txBody>
          <a:bodyPr wrap="square" lIns="0" tIns="0" rIns="0" bIns="0" rtlCol="0" anchor="t"/>
          <a:lstStyle/>
          <a:p>
            <a:pPr algn="l" indent="0" marL="0">
              <a:buNone/>
            </a:pPr>
            <a:r>
              <a:rPr lang="en-US" sz="950" dirty="0">
                <a:solidFill>
                  <a:srgbClr val="10B981"/>
                </a:solidFill>
                <a:latin typeface="Calibri" pitchFamily="34" charset="0"/>
                <a:ea typeface="Calibri" pitchFamily="34" charset="-122"/>
                <a:cs typeface="Calibri" pitchFamily="34" charset="-120"/>
              </a:rPr>
              <a:t>✓ Mitigation: Monthly retraining cycle using rolling 6-month data window. Acceptance data feeds continuous learning. PR-AUC monitored weekly — automated alert if it falls below 0.660.</a:t>
            </a:r>
            <a:endParaRPr lang="en-US" sz="950" dirty="0"/>
          </a:p>
        </p:txBody>
      </p:sp>
      <p:sp>
        <p:nvSpPr>
          <p:cNvPr id="34" name="Shape 32"/>
          <p:cNvSpPr/>
          <p:nvPr/>
        </p:nvSpPr>
        <p:spPr>
          <a:xfrm>
            <a:off x="4709160" y="2999232"/>
            <a:ext cx="425196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35" name="Shape 33"/>
          <p:cNvSpPr/>
          <p:nvPr/>
        </p:nvSpPr>
        <p:spPr>
          <a:xfrm>
            <a:off x="4818888" y="3090672"/>
            <a:ext cx="384048" cy="384048"/>
          </a:xfrm>
          <a:prstGeom prst="ellipse">
            <a:avLst/>
          </a:prstGeom>
          <a:solidFill>
            <a:srgbClr val="0D3B6B"/>
          </a:solidFill>
          <a:ln/>
        </p:spPr>
      </p:sp>
      <p:sp>
        <p:nvSpPr>
          <p:cNvPr id="36" name="Text 34"/>
          <p:cNvSpPr/>
          <p:nvPr/>
        </p:nvSpPr>
        <p:spPr>
          <a:xfrm>
            <a:off x="4818888" y="3090672"/>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R4</a:t>
            </a:r>
            <a:endParaRPr lang="en-US" sz="950" dirty="0"/>
          </a:p>
        </p:txBody>
      </p:sp>
      <p:sp>
        <p:nvSpPr>
          <p:cNvPr id="37" name="Text 35"/>
          <p:cNvSpPr/>
          <p:nvPr/>
        </p:nvSpPr>
        <p:spPr>
          <a:xfrm>
            <a:off x="5312664" y="3108960"/>
            <a:ext cx="3520440" cy="256032"/>
          </a:xfrm>
          <a:prstGeom prst="rect">
            <a:avLst/>
          </a:prstGeom>
          <a:noFill/>
          <a:ln/>
        </p:spPr>
        <p:txBody>
          <a:bodyPr wrap="square" lIns="0" tIns="0" rIns="0" bIns="0" rtlCol="0" anchor="ctr"/>
          <a:lstStyle/>
          <a:p>
            <a:pPr algn="l" indent="0" marL="0">
              <a:buNone/>
            </a:pPr>
            <a:r>
              <a:rPr lang="en-US" sz="1100" b="1" dirty="0">
                <a:solidFill>
                  <a:srgbClr val="0D3B6B"/>
                </a:solidFill>
                <a:latin typeface="Cambria" pitchFamily="34" charset="0"/>
                <a:ea typeface="Cambria" pitchFamily="34" charset="-122"/>
                <a:cs typeface="Cambria" pitchFamily="34" charset="-120"/>
              </a:rPr>
              <a:t>Execution Risk (CRM Integration)</a:t>
            </a:r>
            <a:endParaRPr lang="en-US" sz="1100" dirty="0"/>
          </a:p>
        </p:txBody>
      </p:sp>
      <p:sp>
        <p:nvSpPr>
          <p:cNvPr id="38" name="Shape 36"/>
          <p:cNvSpPr/>
          <p:nvPr/>
        </p:nvSpPr>
        <p:spPr>
          <a:xfrm>
            <a:off x="5312664" y="3401568"/>
            <a:ext cx="960120" cy="201168"/>
          </a:xfrm>
          <a:prstGeom prst="roundRect">
            <a:avLst>
              <a:gd name="adj" fmla="val 18182"/>
            </a:avLst>
          </a:prstGeom>
          <a:solidFill>
            <a:srgbClr val="10B981"/>
          </a:solidFill>
          <a:ln/>
        </p:spPr>
      </p:sp>
      <p:sp>
        <p:nvSpPr>
          <p:cNvPr id="39" name="Text 37"/>
          <p:cNvSpPr/>
          <p:nvPr/>
        </p:nvSpPr>
        <p:spPr>
          <a:xfrm>
            <a:off x="5312664" y="3401568"/>
            <a:ext cx="9601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Severity: LOW</a:t>
            </a:r>
            <a:endParaRPr lang="en-US" sz="800" dirty="0"/>
          </a:p>
        </p:txBody>
      </p:sp>
      <p:sp>
        <p:nvSpPr>
          <p:cNvPr id="40" name="Shape 38"/>
          <p:cNvSpPr/>
          <p:nvPr/>
        </p:nvSpPr>
        <p:spPr>
          <a:xfrm>
            <a:off x="6355080" y="3401568"/>
            <a:ext cx="1005840" cy="201168"/>
          </a:xfrm>
          <a:prstGeom prst="roundRect">
            <a:avLst>
              <a:gd name="adj" fmla="val 18182"/>
            </a:avLst>
          </a:prstGeom>
          <a:solidFill>
            <a:srgbClr val="F59E0B"/>
          </a:solidFill>
          <a:ln/>
        </p:spPr>
      </p:sp>
      <p:sp>
        <p:nvSpPr>
          <p:cNvPr id="41" name="Text 39"/>
          <p:cNvSpPr/>
          <p:nvPr/>
        </p:nvSpPr>
        <p:spPr>
          <a:xfrm>
            <a:off x="6355080" y="3401568"/>
            <a:ext cx="100584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Likelihood: MEDIUM</a:t>
            </a:r>
            <a:endParaRPr lang="en-US" sz="800" dirty="0"/>
          </a:p>
        </p:txBody>
      </p:sp>
      <p:sp>
        <p:nvSpPr>
          <p:cNvPr id="42" name="Text 40"/>
          <p:cNvSpPr/>
          <p:nvPr/>
        </p:nvSpPr>
        <p:spPr>
          <a:xfrm>
            <a:off x="4818888" y="3675888"/>
            <a:ext cx="4023360" cy="402336"/>
          </a:xfrm>
          <a:prstGeom prst="rect">
            <a:avLst/>
          </a:prstGeom>
          <a:noFill/>
          <a:ln/>
        </p:spPr>
        <p:txBody>
          <a:bodyPr wrap="square" lIns="0" tIns="0" rIns="0" bIns="0" rtlCol="0" anchor="t"/>
          <a:lstStyle/>
          <a:p>
            <a:pPr algn="l" indent="0" marL="0">
              <a:buNone/>
            </a:pPr>
            <a:r>
              <a:rPr lang="en-US" sz="950" dirty="0">
                <a:solidFill>
                  <a:srgbClr val="334155"/>
                </a:solidFill>
                <a:latin typeface="Calibri" pitchFamily="34" charset="0"/>
                <a:ea typeface="Calibri" pitchFamily="34" charset="-122"/>
                <a:cs typeface="Calibri" pitchFamily="34" charset="-120"/>
              </a:rPr>
              <a:t>⚠ Risk: Automated offer delivery requires CRM integration. Delays in technical deployment reduce campaign effectiveness.</a:t>
            </a:r>
            <a:endParaRPr lang="en-US" sz="950" dirty="0"/>
          </a:p>
        </p:txBody>
      </p:sp>
      <p:sp>
        <p:nvSpPr>
          <p:cNvPr id="43" name="Text 41"/>
          <p:cNvSpPr/>
          <p:nvPr/>
        </p:nvSpPr>
        <p:spPr>
          <a:xfrm>
            <a:off x="4818888" y="4096512"/>
            <a:ext cx="4023360" cy="548640"/>
          </a:xfrm>
          <a:prstGeom prst="rect">
            <a:avLst/>
          </a:prstGeom>
          <a:noFill/>
          <a:ln/>
        </p:spPr>
        <p:txBody>
          <a:bodyPr wrap="square" lIns="0" tIns="0" rIns="0" bIns="0" rtlCol="0" anchor="t"/>
          <a:lstStyle/>
          <a:p>
            <a:pPr algn="l" indent="0" marL="0">
              <a:buNone/>
            </a:pPr>
            <a:r>
              <a:rPr lang="en-US" sz="950" dirty="0">
                <a:solidFill>
                  <a:srgbClr val="10B981"/>
                </a:solidFill>
                <a:latin typeface="Calibri" pitchFamily="34" charset="0"/>
                <a:ea typeface="Calibri" pitchFamily="34" charset="-122"/>
                <a:cs typeface="Calibri" pitchFamily="34" charset="-120"/>
              </a:rPr>
              <a:t>✓ Mitigation: Phased rollout: manual pilot (Week 1-3) for Tier 1 customers only, automated pipeline (Week 4-6). Fallback: manual CSV export to call centre.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7132320" y="2926080"/>
            <a:ext cx="3840480" cy="3840480"/>
          </a:xfrm>
          <a:prstGeom prst="ellipse">
            <a:avLst/>
          </a:prstGeom>
          <a:solidFill>
            <a:srgbClr val="0D5F82">
              <a:alpha val="45000"/>
            </a:srgbClr>
          </a:solidFill>
          <a:ln w="12700">
            <a:solidFill>
              <a:srgbClr val="0D5F82"/>
            </a:solidFill>
            <a:prstDash val="solid"/>
          </a:ln>
        </p:spPr>
      </p:sp>
      <p:sp>
        <p:nvSpPr>
          <p:cNvPr id="3" name="Shape 1"/>
          <p:cNvSpPr/>
          <p:nvPr/>
        </p:nvSpPr>
        <p:spPr>
          <a:xfrm>
            <a:off x="7772400" y="3474720"/>
            <a:ext cx="2286000" cy="2286000"/>
          </a:xfrm>
          <a:prstGeom prst="ellipse">
            <a:avLst/>
          </a:prstGeom>
          <a:solidFill>
            <a:srgbClr val="0891B2">
              <a:alpha val="35000"/>
            </a:srgbClr>
          </a:solidFill>
          <a:ln w="12700">
            <a:solidFill>
              <a:srgbClr val="0891B2"/>
            </a:solidFill>
            <a:prstDash val="solid"/>
          </a:ln>
        </p:spPr>
      </p:sp>
      <p:sp>
        <p:nvSpPr>
          <p:cNvPr id="4" name="Text 2"/>
          <p:cNvSpPr/>
          <p:nvPr/>
        </p:nvSpPr>
        <p:spPr>
          <a:xfrm>
            <a:off x="411480" y="164592"/>
            <a:ext cx="832104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Next Steps &amp; References</a:t>
            </a:r>
            <a:endParaRPr lang="en-US" sz="2800" dirty="0"/>
          </a:p>
        </p:txBody>
      </p:sp>
      <p:sp>
        <p:nvSpPr>
          <p:cNvPr id="5" name="Shape 3"/>
          <p:cNvSpPr/>
          <p:nvPr/>
        </p:nvSpPr>
        <p:spPr>
          <a:xfrm>
            <a:off x="274320" y="1115568"/>
            <a:ext cx="4754880" cy="3493008"/>
          </a:xfrm>
          <a:prstGeom prst="roundRect">
            <a:avLst>
              <a:gd name="adj" fmla="val 2618"/>
            </a:avLst>
          </a:prstGeom>
          <a:solidFill>
            <a:srgbClr val="0D3B6B"/>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225296"/>
            <a:ext cx="4389120" cy="274320"/>
          </a:xfrm>
          <a:prstGeom prst="rect">
            <a:avLst/>
          </a:prstGeom>
          <a:noFill/>
          <a:ln/>
        </p:spPr>
        <p:txBody>
          <a:bodyPr wrap="square" lIns="0" tIns="0" rIns="0" bIns="0" rtlCol="0" anchor="ctr"/>
          <a:lstStyle/>
          <a:p>
            <a:pPr algn="l" indent="0" marL="0">
              <a:buNone/>
            </a:pPr>
            <a:r>
              <a:rPr lang="en-US" sz="1300" b="1" dirty="0">
                <a:solidFill>
                  <a:srgbClr val="22D3EE"/>
                </a:solidFill>
                <a:latin typeface="Cambria" pitchFamily="34" charset="0"/>
                <a:ea typeface="Cambria" pitchFamily="34" charset="-122"/>
                <a:cs typeface="Cambria" pitchFamily="34" charset="-120"/>
              </a:rPr>
              <a:t>Recommended Next Steps</a:t>
            </a:r>
            <a:endParaRPr lang="en-US" sz="1300" dirty="0"/>
          </a:p>
        </p:txBody>
      </p:sp>
      <p:sp>
        <p:nvSpPr>
          <p:cNvPr id="7" name="Text 5"/>
          <p:cNvSpPr/>
          <p:nvPr/>
        </p:nvSpPr>
        <p:spPr>
          <a:xfrm>
            <a:off x="457200" y="1627632"/>
            <a:ext cx="1051560" cy="402336"/>
          </a:xfrm>
          <a:prstGeom prst="rect">
            <a:avLst/>
          </a:prstGeom>
          <a:noFill/>
          <a:ln/>
        </p:spPr>
        <p:txBody>
          <a:bodyPr wrap="square" lIns="0" tIns="0" rIns="0" bIns="0" rtlCol="0" anchor="ctr"/>
          <a:lstStyle/>
          <a:p>
            <a:pPr algn="l" indent="0" marL="0">
              <a:buNone/>
            </a:pPr>
            <a:r>
              <a:rPr lang="en-US" sz="1050" b="1" dirty="0">
                <a:solidFill>
                  <a:srgbClr val="F59E0B"/>
                </a:solidFill>
                <a:latin typeface="Cambria" pitchFamily="34" charset="0"/>
                <a:ea typeface="Cambria" pitchFamily="34" charset="-122"/>
                <a:cs typeface="Cambria" pitchFamily="34" charset="-120"/>
              </a:rPr>
              <a:t>Week 1–2:</a:t>
            </a:r>
            <a:endParaRPr lang="en-US" sz="1050" dirty="0"/>
          </a:p>
        </p:txBody>
      </p:sp>
      <p:sp>
        <p:nvSpPr>
          <p:cNvPr id="8" name="Text 6"/>
          <p:cNvSpPr/>
          <p:nvPr/>
        </p:nvSpPr>
        <p:spPr>
          <a:xfrm>
            <a:off x="1554480" y="1627632"/>
            <a:ext cx="3291840" cy="402336"/>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Board approval and budget sign-off for Base Case campaign ($375K)</a:t>
            </a:r>
            <a:endParaRPr lang="en-US" sz="1050" dirty="0"/>
          </a:p>
        </p:txBody>
      </p:sp>
      <p:sp>
        <p:nvSpPr>
          <p:cNvPr id="9" name="Text 7"/>
          <p:cNvSpPr/>
          <p:nvPr/>
        </p:nvSpPr>
        <p:spPr>
          <a:xfrm>
            <a:off x="457200" y="2121408"/>
            <a:ext cx="1051560" cy="402336"/>
          </a:xfrm>
          <a:prstGeom prst="rect">
            <a:avLst/>
          </a:prstGeom>
          <a:noFill/>
          <a:ln/>
        </p:spPr>
        <p:txBody>
          <a:bodyPr wrap="square" lIns="0" tIns="0" rIns="0" bIns="0" rtlCol="0" anchor="ctr"/>
          <a:lstStyle/>
          <a:p>
            <a:pPr algn="l" indent="0" marL="0">
              <a:buNone/>
            </a:pPr>
            <a:r>
              <a:rPr lang="en-US" sz="1050" b="1" dirty="0">
                <a:solidFill>
                  <a:srgbClr val="F59E0B"/>
                </a:solidFill>
                <a:latin typeface="Cambria" pitchFamily="34" charset="0"/>
                <a:ea typeface="Cambria" pitchFamily="34" charset="-122"/>
                <a:cs typeface="Cambria" pitchFamily="34" charset="-120"/>
              </a:rPr>
              <a:t>Week 3:</a:t>
            </a:r>
            <a:endParaRPr lang="en-US" sz="1050" dirty="0"/>
          </a:p>
        </p:txBody>
      </p:sp>
      <p:sp>
        <p:nvSpPr>
          <p:cNvPr id="10" name="Text 8"/>
          <p:cNvSpPr/>
          <p:nvPr/>
        </p:nvSpPr>
        <p:spPr>
          <a:xfrm>
            <a:off x="1554480" y="2121408"/>
            <a:ext cx="3291840" cy="402336"/>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CRM integration scoping with technology team</a:t>
            </a:r>
            <a:endParaRPr lang="en-US" sz="1050" dirty="0"/>
          </a:p>
        </p:txBody>
      </p:sp>
      <p:sp>
        <p:nvSpPr>
          <p:cNvPr id="11" name="Text 9"/>
          <p:cNvSpPr/>
          <p:nvPr/>
        </p:nvSpPr>
        <p:spPr>
          <a:xfrm>
            <a:off x="457200" y="2615184"/>
            <a:ext cx="1051560" cy="402336"/>
          </a:xfrm>
          <a:prstGeom prst="rect">
            <a:avLst/>
          </a:prstGeom>
          <a:noFill/>
          <a:ln/>
        </p:spPr>
        <p:txBody>
          <a:bodyPr wrap="square" lIns="0" tIns="0" rIns="0" bIns="0" rtlCol="0" anchor="ctr"/>
          <a:lstStyle/>
          <a:p>
            <a:pPr algn="l" indent="0" marL="0">
              <a:buNone/>
            </a:pPr>
            <a:r>
              <a:rPr lang="en-US" sz="1050" b="1" dirty="0">
                <a:solidFill>
                  <a:srgbClr val="F59E0B"/>
                </a:solidFill>
                <a:latin typeface="Cambria" pitchFamily="34" charset="0"/>
                <a:ea typeface="Cambria" pitchFamily="34" charset="-122"/>
                <a:cs typeface="Cambria" pitchFamily="34" charset="-120"/>
              </a:rPr>
              <a:t>Week 4–5:</a:t>
            </a:r>
            <a:endParaRPr lang="en-US" sz="1050" dirty="0"/>
          </a:p>
        </p:txBody>
      </p:sp>
      <p:sp>
        <p:nvSpPr>
          <p:cNvPr id="12" name="Text 10"/>
          <p:cNvSpPr/>
          <p:nvPr/>
        </p:nvSpPr>
        <p:spPr>
          <a:xfrm>
            <a:off x="1554480" y="2615184"/>
            <a:ext cx="3291840" cy="402336"/>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Manual pilot: Tier 1 customers only (500 contacts, outbound call)</a:t>
            </a:r>
            <a:endParaRPr lang="en-US" sz="1050" dirty="0"/>
          </a:p>
        </p:txBody>
      </p:sp>
      <p:sp>
        <p:nvSpPr>
          <p:cNvPr id="13" name="Text 11"/>
          <p:cNvSpPr/>
          <p:nvPr/>
        </p:nvSpPr>
        <p:spPr>
          <a:xfrm>
            <a:off x="457200" y="3108960"/>
            <a:ext cx="1051560" cy="402336"/>
          </a:xfrm>
          <a:prstGeom prst="rect">
            <a:avLst/>
          </a:prstGeom>
          <a:noFill/>
          <a:ln/>
        </p:spPr>
        <p:txBody>
          <a:bodyPr wrap="square" lIns="0" tIns="0" rIns="0" bIns="0" rtlCol="0" anchor="ctr"/>
          <a:lstStyle/>
          <a:p>
            <a:pPr algn="l" indent="0" marL="0">
              <a:buNone/>
            </a:pPr>
            <a:r>
              <a:rPr lang="en-US" sz="1050" b="1" dirty="0">
                <a:solidFill>
                  <a:srgbClr val="F59E0B"/>
                </a:solidFill>
                <a:latin typeface="Cambria" pitchFamily="34" charset="0"/>
                <a:ea typeface="Cambria" pitchFamily="34" charset="-122"/>
                <a:cs typeface="Cambria" pitchFamily="34" charset="-120"/>
              </a:rPr>
              <a:t>Week 6:</a:t>
            </a:r>
            <a:endParaRPr lang="en-US" sz="1050" dirty="0"/>
          </a:p>
        </p:txBody>
      </p:sp>
      <p:sp>
        <p:nvSpPr>
          <p:cNvPr id="14" name="Text 12"/>
          <p:cNvSpPr/>
          <p:nvPr/>
        </p:nvSpPr>
        <p:spPr>
          <a:xfrm>
            <a:off x="1554480" y="3108960"/>
            <a:ext cx="3291840" cy="402336"/>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Automated pipeline go-live; model monitoring dashboard active</a:t>
            </a:r>
            <a:endParaRPr lang="en-US" sz="1050" dirty="0"/>
          </a:p>
        </p:txBody>
      </p:sp>
      <p:sp>
        <p:nvSpPr>
          <p:cNvPr id="15" name="Text 13"/>
          <p:cNvSpPr/>
          <p:nvPr/>
        </p:nvSpPr>
        <p:spPr>
          <a:xfrm>
            <a:off x="457200" y="3602736"/>
            <a:ext cx="1051560" cy="402336"/>
          </a:xfrm>
          <a:prstGeom prst="rect">
            <a:avLst/>
          </a:prstGeom>
          <a:noFill/>
          <a:ln/>
        </p:spPr>
        <p:txBody>
          <a:bodyPr wrap="square" lIns="0" tIns="0" rIns="0" bIns="0" rtlCol="0" anchor="ctr"/>
          <a:lstStyle/>
          <a:p>
            <a:pPr algn="l" indent="0" marL="0">
              <a:buNone/>
            </a:pPr>
            <a:r>
              <a:rPr lang="en-US" sz="1050" b="1" dirty="0">
                <a:solidFill>
                  <a:srgbClr val="F59E0B"/>
                </a:solidFill>
                <a:latin typeface="Cambria" pitchFamily="34" charset="0"/>
                <a:ea typeface="Cambria" pitchFamily="34" charset="-122"/>
                <a:cs typeface="Cambria" pitchFamily="34" charset="-120"/>
              </a:rPr>
              <a:t>Month 3:</a:t>
            </a:r>
            <a:endParaRPr lang="en-US" sz="1050" dirty="0"/>
          </a:p>
        </p:txBody>
      </p:sp>
      <p:sp>
        <p:nvSpPr>
          <p:cNvPr id="16" name="Text 14"/>
          <p:cNvSpPr/>
          <p:nvPr/>
        </p:nvSpPr>
        <p:spPr>
          <a:xfrm>
            <a:off x="1554480" y="3602736"/>
            <a:ext cx="3291840" cy="402336"/>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First performance review — acceptance rate, revenue preserved, ROI vs. projection</a:t>
            </a:r>
            <a:endParaRPr lang="en-US" sz="1050" dirty="0"/>
          </a:p>
        </p:txBody>
      </p:sp>
      <p:sp>
        <p:nvSpPr>
          <p:cNvPr id="17" name="Text 15"/>
          <p:cNvSpPr/>
          <p:nvPr/>
        </p:nvSpPr>
        <p:spPr>
          <a:xfrm>
            <a:off x="457200" y="4096512"/>
            <a:ext cx="1051560" cy="402336"/>
          </a:xfrm>
          <a:prstGeom prst="rect">
            <a:avLst/>
          </a:prstGeom>
          <a:noFill/>
          <a:ln/>
        </p:spPr>
        <p:txBody>
          <a:bodyPr wrap="square" lIns="0" tIns="0" rIns="0" bIns="0" rtlCol="0" anchor="ctr"/>
          <a:lstStyle/>
          <a:p>
            <a:pPr algn="l" indent="0" marL="0">
              <a:buNone/>
            </a:pPr>
            <a:r>
              <a:rPr lang="en-US" sz="1050" b="1" dirty="0">
                <a:solidFill>
                  <a:srgbClr val="F59E0B"/>
                </a:solidFill>
                <a:latin typeface="Cambria" pitchFamily="34" charset="0"/>
                <a:ea typeface="Cambria" pitchFamily="34" charset="-122"/>
                <a:cs typeface="Cambria" pitchFamily="34" charset="-120"/>
              </a:rPr>
              <a:t>Month 6:</a:t>
            </a:r>
            <a:endParaRPr lang="en-US" sz="1050" dirty="0"/>
          </a:p>
        </p:txBody>
      </p:sp>
      <p:sp>
        <p:nvSpPr>
          <p:cNvPr id="18" name="Text 16"/>
          <p:cNvSpPr/>
          <p:nvPr/>
        </p:nvSpPr>
        <p:spPr>
          <a:xfrm>
            <a:off x="1554480" y="4096512"/>
            <a:ext cx="3291840" cy="402336"/>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Model retraining with acceptance feedback; Phase 2 scope (bill shock module)</a:t>
            </a:r>
            <a:endParaRPr lang="en-US" sz="1050" dirty="0"/>
          </a:p>
        </p:txBody>
      </p:sp>
      <p:sp>
        <p:nvSpPr>
          <p:cNvPr id="19" name="Shape 17"/>
          <p:cNvSpPr/>
          <p:nvPr/>
        </p:nvSpPr>
        <p:spPr>
          <a:xfrm>
            <a:off x="5212080" y="1115568"/>
            <a:ext cx="3611880" cy="3493008"/>
          </a:xfrm>
          <a:prstGeom prst="roundRect">
            <a:avLst>
              <a:gd name="adj" fmla="val 2618"/>
            </a:avLst>
          </a:prstGeom>
          <a:solidFill>
            <a:srgbClr val="0A2342"/>
          </a:solidFill>
          <a:ln/>
          <a:effectLst>
            <a:outerShdw sx="100000" sy="100000" kx="0" ky="0" algn="bl" rotWithShape="0" blurRad="101600" dist="38100" dir="2700000">
              <a:srgbClr val="000000">
                <a:alpha val="12000"/>
              </a:srgbClr>
            </a:outerShdw>
          </a:effectLst>
        </p:spPr>
      </p:sp>
      <p:sp>
        <p:nvSpPr>
          <p:cNvPr id="20" name="Text 18"/>
          <p:cNvSpPr/>
          <p:nvPr/>
        </p:nvSpPr>
        <p:spPr>
          <a:xfrm>
            <a:off x="5376672" y="1225296"/>
            <a:ext cx="3282696" cy="274320"/>
          </a:xfrm>
          <a:prstGeom prst="rect">
            <a:avLst/>
          </a:prstGeom>
          <a:noFill/>
          <a:ln/>
        </p:spPr>
        <p:txBody>
          <a:bodyPr wrap="square" lIns="0" tIns="0" rIns="0" bIns="0" rtlCol="0" anchor="ctr"/>
          <a:lstStyle/>
          <a:p>
            <a:pPr algn="l" indent="0" marL="0">
              <a:buNone/>
            </a:pPr>
            <a:r>
              <a:rPr lang="en-US" sz="1200" b="1" dirty="0">
                <a:solidFill>
                  <a:srgbClr val="22D3EE"/>
                </a:solidFill>
                <a:latin typeface="Cambria" pitchFamily="34" charset="0"/>
                <a:ea typeface="Cambria" pitchFamily="34" charset="-122"/>
                <a:cs typeface="Cambria" pitchFamily="34" charset="-120"/>
              </a:rPr>
              <a:t>References &amp; Data Sources</a:t>
            </a:r>
            <a:endParaRPr lang="en-US" sz="1200" dirty="0"/>
          </a:p>
        </p:txBody>
      </p:sp>
      <p:sp>
        <p:nvSpPr>
          <p:cNvPr id="21" name="Text 19"/>
          <p:cNvSpPr/>
          <p:nvPr/>
        </p:nvSpPr>
        <p:spPr>
          <a:xfrm>
            <a:off x="5376672" y="1627632"/>
            <a:ext cx="960120" cy="310896"/>
          </a:xfrm>
          <a:prstGeom prst="rect">
            <a:avLst/>
          </a:prstGeom>
          <a:noFill/>
          <a:ln/>
        </p:spPr>
        <p:txBody>
          <a:bodyPr wrap="square" lIns="0" tIns="0" rIns="0" bIns="0" rtlCol="0" anchor="ctr"/>
          <a:lstStyle/>
          <a:p>
            <a:pPr algn="l" indent="0" marL="0">
              <a:buNone/>
            </a:pPr>
            <a:r>
              <a:rPr lang="en-US" sz="950" b="1" dirty="0">
                <a:solidFill>
                  <a:srgbClr val="0891B2"/>
                </a:solidFill>
                <a:latin typeface="Cambria" pitchFamily="34" charset="0"/>
                <a:ea typeface="Cambria" pitchFamily="34" charset="-122"/>
                <a:cs typeface="Cambria" pitchFamily="34" charset="-120"/>
              </a:rPr>
              <a:t>Dataset:</a:t>
            </a:r>
            <a:endParaRPr lang="en-US" sz="950" dirty="0"/>
          </a:p>
        </p:txBody>
      </p:sp>
      <p:sp>
        <p:nvSpPr>
          <p:cNvPr id="22" name="Text 20"/>
          <p:cNvSpPr/>
          <p:nvPr/>
        </p:nvSpPr>
        <p:spPr>
          <a:xfrm>
            <a:off x="6400800" y="1627632"/>
            <a:ext cx="2304288" cy="310896"/>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Client.csv + Record.csv (51,000 customers, telecom behavioural data)</a:t>
            </a:r>
            <a:endParaRPr lang="en-US" sz="900" dirty="0"/>
          </a:p>
        </p:txBody>
      </p:sp>
      <p:sp>
        <p:nvSpPr>
          <p:cNvPr id="23" name="Text 21"/>
          <p:cNvSpPr/>
          <p:nvPr/>
        </p:nvSpPr>
        <p:spPr>
          <a:xfrm>
            <a:off x="5376672" y="2011680"/>
            <a:ext cx="960120" cy="310896"/>
          </a:xfrm>
          <a:prstGeom prst="rect">
            <a:avLst/>
          </a:prstGeom>
          <a:noFill/>
          <a:ln/>
        </p:spPr>
        <p:txBody>
          <a:bodyPr wrap="square" lIns="0" tIns="0" rIns="0" bIns="0" rtlCol="0" anchor="ctr"/>
          <a:lstStyle/>
          <a:p>
            <a:pPr algn="l" indent="0" marL="0">
              <a:buNone/>
            </a:pPr>
            <a:r>
              <a:rPr lang="en-US" sz="950" b="1" dirty="0">
                <a:solidFill>
                  <a:srgbClr val="0891B2"/>
                </a:solidFill>
                <a:latin typeface="Cambria" pitchFamily="34" charset="0"/>
                <a:ea typeface="Cambria" pitchFamily="34" charset="-122"/>
                <a:cs typeface="Cambria" pitchFamily="34" charset="-120"/>
              </a:rPr>
              <a:t>Model:</a:t>
            </a:r>
            <a:endParaRPr lang="en-US" sz="950" dirty="0"/>
          </a:p>
        </p:txBody>
      </p:sp>
      <p:sp>
        <p:nvSpPr>
          <p:cNvPr id="24" name="Text 22"/>
          <p:cNvSpPr/>
          <p:nvPr/>
        </p:nvSpPr>
        <p:spPr>
          <a:xfrm>
            <a:off x="6400800" y="2011680"/>
            <a:ext cx="2304288" cy="310896"/>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ValidationWeightedEnsemble: OptunaLGBM 80% + LightGBM 15% + CatBoost 5%</a:t>
            </a:r>
            <a:endParaRPr lang="en-US" sz="900" dirty="0"/>
          </a:p>
        </p:txBody>
      </p:sp>
      <p:sp>
        <p:nvSpPr>
          <p:cNvPr id="25" name="Text 23"/>
          <p:cNvSpPr/>
          <p:nvPr/>
        </p:nvSpPr>
        <p:spPr>
          <a:xfrm>
            <a:off x="5376672" y="2395728"/>
            <a:ext cx="960120" cy="310896"/>
          </a:xfrm>
          <a:prstGeom prst="rect">
            <a:avLst/>
          </a:prstGeom>
          <a:noFill/>
          <a:ln/>
        </p:spPr>
        <p:txBody>
          <a:bodyPr wrap="square" lIns="0" tIns="0" rIns="0" bIns="0" rtlCol="0" anchor="ctr"/>
          <a:lstStyle/>
          <a:p>
            <a:pPr algn="l" indent="0" marL="0">
              <a:buNone/>
            </a:pPr>
            <a:r>
              <a:rPr lang="en-US" sz="950" b="1" dirty="0">
                <a:solidFill>
                  <a:srgbClr val="0891B2"/>
                </a:solidFill>
                <a:latin typeface="Cambria" pitchFamily="34" charset="0"/>
                <a:ea typeface="Cambria" pitchFamily="34" charset="-122"/>
                <a:cs typeface="Cambria" pitchFamily="34" charset="-120"/>
              </a:rPr>
              <a:t>Optuna:</a:t>
            </a:r>
            <a:endParaRPr lang="en-US" sz="950" dirty="0"/>
          </a:p>
        </p:txBody>
      </p:sp>
      <p:sp>
        <p:nvSpPr>
          <p:cNvPr id="26" name="Text 24"/>
          <p:cNvSpPr/>
          <p:nvPr/>
        </p:nvSpPr>
        <p:spPr>
          <a:xfrm>
            <a:off x="6400800" y="2395728"/>
            <a:ext cx="2304288" cy="310896"/>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Optuna TPE hyperparameter optimisation (50 trials, validation PR-AUC objective)</a:t>
            </a:r>
            <a:endParaRPr lang="en-US" sz="900" dirty="0"/>
          </a:p>
        </p:txBody>
      </p:sp>
      <p:sp>
        <p:nvSpPr>
          <p:cNvPr id="27" name="Text 25"/>
          <p:cNvSpPr/>
          <p:nvPr/>
        </p:nvSpPr>
        <p:spPr>
          <a:xfrm>
            <a:off x="5376672" y="2779776"/>
            <a:ext cx="960120" cy="310896"/>
          </a:xfrm>
          <a:prstGeom prst="rect">
            <a:avLst/>
          </a:prstGeom>
          <a:noFill/>
          <a:ln/>
        </p:spPr>
        <p:txBody>
          <a:bodyPr wrap="square" lIns="0" tIns="0" rIns="0" bIns="0" rtlCol="0" anchor="ctr"/>
          <a:lstStyle/>
          <a:p>
            <a:pPr algn="l" indent="0" marL="0">
              <a:buNone/>
            </a:pPr>
            <a:r>
              <a:rPr lang="en-US" sz="950" b="1" dirty="0">
                <a:solidFill>
                  <a:srgbClr val="0891B2"/>
                </a:solidFill>
                <a:latin typeface="Cambria" pitchFamily="34" charset="0"/>
                <a:ea typeface="Cambria" pitchFamily="34" charset="-122"/>
                <a:cs typeface="Cambria" pitchFamily="34" charset="-120"/>
              </a:rPr>
              <a:t>ML Stack:</a:t>
            </a:r>
            <a:endParaRPr lang="en-US" sz="950" dirty="0"/>
          </a:p>
        </p:txBody>
      </p:sp>
      <p:sp>
        <p:nvSpPr>
          <p:cNvPr id="28" name="Text 26"/>
          <p:cNvSpPr/>
          <p:nvPr/>
        </p:nvSpPr>
        <p:spPr>
          <a:xfrm>
            <a:off x="6400800" y="2779776"/>
            <a:ext cx="2304288" cy="310896"/>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Python: scikit-learn, LightGBM, CatBoost, XGBoost, Optuna, pandas, numpy</a:t>
            </a:r>
            <a:endParaRPr lang="en-US" sz="900" dirty="0"/>
          </a:p>
        </p:txBody>
      </p:sp>
      <p:sp>
        <p:nvSpPr>
          <p:cNvPr id="29" name="Text 27"/>
          <p:cNvSpPr/>
          <p:nvPr/>
        </p:nvSpPr>
        <p:spPr>
          <a:xfrm>
            <a:off x="5376672" y="3163824"/>
            <a:ext cx="960120" cy="310896"/>
          </a:xfrm>
          <a:prstGeom prst="rect">
            <a:avLst/>
          </a:prstGeom>
          <a:noFill/>
          <a:ln/>
        </p:spPr>
        <p:txBody>
          <a:bodyPr wrap="square" lIns="0" tIns="0" rIns="0" bIns="0" rtlCol="0" anchor="ctr"/>
          <a:lstStyle/>
          <a:p>
            <a:pPr algn="l" indent="0" marL="0">
              <a:buNone/>
            </a:pPr>
            <a:r>
              <a:rPr lang="en-US" sz="950" b="1" dirty="0">
                <a:solidFill>
                  <a:srgbClr val="0891B2"/>
                </a:solidFill>
                <a:latin typeface="Cambria" pitchFamily="34" charset="0"/>
                <a:ea typeface="Cambria" pitchFamily="34" charset="-122"/>
                <a:cs typeface="Cambria" pitchFamily="34" charset="-120"/>
              </a:rPr>
              <a:t>Market Data:</a:t>
            </a:r>
            <a:endParaRPr lang="en-US" sz="950" dirty="0"/>
          </a:p>
        </p:txBody>
      </p:sp>
      <p:sp>
        <p:nvSpPr>
          <p:cNvPr id="30" name="Text 28"/>
          <p:cNvSpPr/>
          <p:nvPr/>
        </p:nvSpPr>
        <p:spPr>
          <a:xfrm>
            <a:off x="6400800" y="3163824"/>
            <a:ext cx="2304288" cy="310896"/>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2026 Telecom CAC benchmarks: industry analyst estimates ($300–$500 gross add)</a:t>
            </a:r>
            <a:endParaRPr lang="en-US" sz="900" dirty="0"/>
          </a:p>
        </p:txBody>
      </p:sp>
      <p:sp>
        <p:nvSpPr>
          <p:cNvPr id="31" name="Text 29"/>
          <p:cNvSpPr/>
          <p:nvPr/>
        </p:nvSpPr>
        <p:spPr>
          <a:xfrm>
            <a:off x="5376672" y="3547872"/>
            <a:ext cx="960120" cy="310896"/>
          </a:xfrm>
          <a:prstGeom prst="rect">
            <a:avLst/>
          </a:prstGeom>
          <a:noFill/>
          <a:ln/>
        </p:spPr>
        <p:txBody>
          <a:bodyPr wrap="square" lIns="0" tIns="0" rIns="0" bIns="0" rtlCol="0" anchor="ctr"/>
          <a:lstStyle/>
          <a:p>
            <a:pPr algn="l" indent="0" marL="0">
              <a:buNone/>
            </a:pPr>
            <a:r>
              <a:rPr lang="en-US" sz="950" b="1" dirty="0">
                <a:solidFill>
                  <a:srgbClr val="0891B2"/>
                </a:solidFill>
                <a:latin typeface="Cambria" pitchFamily="34" charset="0"/>
                <a:ea typeface="Cambria" pitchFamily="34" charset="-122"/>
                <a:cs typeface="Cambria" pitchFamily="34" charset="-120"/>
              </a:rPr>
              <a:t>Framework:</a:t>
            </a:r>
            <a:endParaRPr lang="en-US" sz="950" dirty="0"/>
          </a:p>
        </p:txBody>
      </p:sp>
      <p:sp>
        <p:nvSpPr>
          <p:cNvPr id="32" name="Text 30"/>
          <p:cNvSpPr/>
          <p:nvPr/>
        </p:nvSpPr>
        <p:spPr>
          <a:xfrm>
            <a:off x="6400800" y="3547872"/>
            <a:ext cx="2304288" cy="310896"/>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Minto Pyramid Principle — executive proposal structure</a:t>
            </a:r>
            <a:endParaRPr lang="en-US" sz="900" dirty="0"/>
          </a:p>
        </p:txBody>
      </p:sp>
      <p:sp>
        <p:nvSpPr>
          <p:cNvPr id="33" name="Text 31"/>
          <p:cNvSpPr/>
          <p:nvPr/>
        </p:nvSpPr>
        <p:spPr>
          <a:xfrm>
            <a:off x="5376672" y="3931920"/>
            <a:ext cx="960120" cy="310896"/>
          </a:xfrm>
          <a:prstGeom prst="rect">
            <a:avLst/>
          </a:prstGeom>
          <a:noFill/>
          <a:ln/>
        </p:spPr>
        <p:txBody>
          <a:bodyPr wrap="square" lIns="0" tIns="0" rIns="0" bIns="0" rtlCol="0" anchor="ctr"/>
          <a:lstStyle/>
          <a:p>
            <a:pPr algn="l" indent="0" marL="0">
              <a:buNone/>
            </a:pPr>
            <a:r>
              <a:rPr lang="en-US" sz="950" b="1" dirty="0">
                <a:solidFill>
                  <a:srgbClr val="0891B2"/>
                </a:solidFill>
                <a:latin typeface="Cambria" pitchFamily="34" charset="0"/>
                <a:ea typeface="Cambria" pitchFamily="34" charset="-122"/>
                <a:cs typeface="Cambria" pitchFamily="34" charset="-120"/>
              </a:rPr>
              <a:t>Metric:</a:t>
            </a:r>
            <a:endParaRPr lang="en-US" sz="950" dirty="0"/>
          </a:p>
        </p:txBody>
      </p:sp>
      <p:sp>
        <p:nvSpPr>
          <p:cNvPr id="34" name="Text 32"/>
          <p:cNvSpPr/>
          <p:nvPr/>
        </p:nvSpPr>
        <p:spPr>
          <a:xfrm>
            <a:off x="6400800" y="3931920"/>
            <a:ext cx="2304288" cy="310896"/>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PR-AUC primary metric (Saito &amp; Rehmsmeier, 2015 — imbalanced classification)</a:t>
            </a:r>
            <a:endParaRPr lang="en-US" sz="900" dirty="0"/>
          </a:p>
        </p:txBody>
      </p:sp>
      <p:sp>
        <p:nvSpPr>
          <p:cNvPr id="35" name="Text 33"/>
          <p:cNvSpPr/>
          <p:nvPr/>
        </p:nvSpPr>
        <p:spPr>
          <a:xfrm>
            <a:off x="5376672" y="4315968"/>
            <a:ext cx="960120" cy="310896"/>
          </a:xfrm>
          <a:prstGeom prst="rect">
            <a:avLst/>
          </a:prstGeom>
          <a:noFill/>
          <a:ln/>
        </p:spPr>
        <p:txBody>
          <a:bodyPr wrap="square" lIns="0" tIns="0" rIns="0" bIns="0" rtlCol="0" anchor="ctr"/>
          <a:lstStyle/>
          <a:p>
            <a:pPr algn="l" indent="0" marL="0">
              <a:buNone/>
            </a:pPr>
            <a:r>
              <a:rPr lang="en-US" sz="950" b="1" dirty="0">
                <a:solidFill>
                  <a:srgbClr val="0891B2"/>
                </a:solidFill>
                <a:latin typeface="Cambria" pitchFamily="34" charset="0"/>
                <a:ea typeface="Cambria" pitchFamily="34" charset="-122"/>
                <a:cs typeface="Cambria" pitchFamily="34" charset="-120"/>
              </a:rPr>
              <a:t>Competition:</a:t>
            </a:r>
            <a:endParaRPr lang="en-US" sz="950" dirty="0"/>
          </a:p>
        </p:txBody>
      </p:sp>
      <p:sp>
        <p:nvSpPr>
          <p:cNvPr id="36" name="Text 34"/>
          <p:cNvSpPr/>
          <p:nvPr/>
        </p:nvSpPr>
        <p:spPr>
          <a:xfrm>
            <a:off x="6400800" y="4315968"/>
            <a:ext cx="2304288" cy="310896"/>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GCI World 2026 — Phase 4B Champion Model Submission</a:t>
            </a:r>
            <a:endParaRPr lang="en-US" sz="900" dirty="0"/>
          </a:p>
        </p:txBody>
      </p:sp>
      <p:sp>
        <p:nvSpPr>
          <p:cNvPr id="37" name="Text 35"/>
          <p:cNvSpPr/>
          <p:nvPr/>
        </p:nvSpPr>
        <p:spPr>
          <a:xfrm>
            <a:off x="274320" y="4709160"/>
            <a:ext cx="8595360" cy="347472"/>
          </a:xfrm>
          <a:prstGeom prst="rect">
            <a:avLst/>
          </a:prstGeom>
          <a:noFill/>
          <a:ln/>
        </p:spPr>
        <p:txBody>
          <a:bodyPr wrap="square" lIns="0" tIns="0" rIns="0" bIns="0" rtlCol="0" anchor="ctr"/>
          <a:lstStyle/>
          <a:p>
            <a:pPr algn="ctr" indent="0" marL="0">
              <a:buNone/>
            </a:pPr>
            <a:r>
              <a:rPr lang="en-US" sz="1150" i="1" dirty="0">
                <a:solidFill>
                  <a:srgbClr val="22D3EE"/>
                </a:solidFill>
                <a:latin typeface="Cambria" pitchFamily="34" charset="0"/>
                <a:ea typeface="Cambria" pitchFamily="34" charset="-122"/>
                <a:cs typeface="Cambria" pitchFamily="34" charset="-120"/>
              </a:rPr>
              <a:t>The window to retain today's highest-value customers opens at device day 335. Project Horizon ensures we are already there.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Device Lifecycle Intelligence System</dc:title>
  <dc:subject>Transforming Churn Risk into Contract Renewal</dc:subject>
  <dc:creator>Senior Partner &amp; Chief Data Scientist</dc:creator>
  <cp:lastModifiedBy>Senior Partner &amp; Chief Data Scientist</cp:lastModifiedBy>
  <cp:revision>1</cp:revision>
  <dcterms:created xsi:type="dcterms:W3CDTF">2026-06-15T02:09:38Z</dcterms:created>
  <dcterms:modified xsi:type="dcterms:W3CDTF">2026-06-15T02:09:38Z</dcterms:modified>
</cp:coreProperties>
</file>